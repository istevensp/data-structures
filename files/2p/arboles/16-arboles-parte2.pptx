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32"/>
  </p:notesMasterIdLst>
  <p:sldIdLst>
    <p:sldId id="296" r:id="rId3"/>
    <p:sldId id="654" r:id="rId4"/>
    <p:sldId id="267" r:id="rId5"/>
    <p:sldId id="268" r:id="rId6"/>
    <p:sldId id="277" r:id="rId7"/>
    <p:sldId id="278" r:id="rId8"/>
    <p:sldId id="651" r:id="rId9"/>
    <p:sldId id="264" r:id="rId10"/>
    <p:sldId id="265" r:id="rId11"/>
    <p:sldId id="266" r:id="rId12"/>
    <p:sldId id="652" r:id="rId13"/>
    <p:sldId id="279" r:id="rId14"/>
    <p:sldId id="280" r:id="rId15"/>
    <p:sldId id="281" r:id="rId16"/>
    <p:sldId id="282" r:id="rId17"/>
    <p:sldId id="283" r:id="rId18"/>
    <p:sldId id="284" r:id="rId19"/>
    <p:sldId id="653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</p:sldIdLst>
  <p:sldSz cx="9144000" cy="6858000" type="screen4x3"/>
  <p:notesSz cx="6858000" cy="9144000"/>
  <p:defaultTextStyle>
    <a:lvl1pPr>
      <a:defRPr>
        <a:latin typeface="Arial Narrow"/>
        <a:ea typeface="Arial Narrow"/>
        <a:cs typeface="Arial Narrow"/>
        <a:sym typeface="Arial Narrow"/>
      </a:defRPr>
    </a:lvl1pPr>
    <a:lvl2pPr indent="457200">
      <a:defRPr>
        <a:latin typeface="Arial Narrow"/>
        <a:ea typeface="Arial Narrow"/>
        <a:cs typeface="Arial Narrow"/>
        <a:sym typeface="Arial Narrow"/>
      </a:defRPr>
    </a:lvl2pPr>
    <a:lvl3pPr indent="914400">
      <a:defRPr>
        <a:latin typeface="Arial Narrow"/>
        <a:ea typeface="Arial Narrow"/>
        <a:cs typeface="Arial Narrow"/>
        <a:sym typeface="Arial Narrow"/>
      </a:defRPr>
    </a:lvl3pPr>
    <a:lvl4pPr indent="1371600">
      <a:defRPr>
        <a:latin typeface="Arial Narrow"/>
        <a:ea typeface="Arial Narrow"/>
        <a:cs typeface="Arial Narrow"/>
        <a:sym typeface="Arial Narrow"/>
      </a:defRPr>
    </a:lvl4pPr>
    <a:lvl5pPr indent="1828800">
      <a:defRPr>
        <a:latin typeface="Arial Narrow"/>
        <a:ea typeface="Arial Narrow"/>
        <a:cs typeface="Arial Narrow"/>
        <a:sym typeface="Arial Narrow"/>
      </a:defRPr>
    </a:lvl5pPr>
    <a:lvl6pPr>
      <a:defRPr>
        <a:latin typeface="Arial Narrow"/>
        <a:ea typeface="Arial Narrow"/>
        <a:cs typeface="Arial Narrow"/>
        <a:sym typeface="Arial Narrow"/>
      </a:defRPr>
    </a:lvl6pPr>
    <a:lvl7pPr>
      <a:defRPr>
        <a:latin typeface="Arial Narrow"/>
        <a:ea typeface="Arial Narrow"/>
        <a:cs typeface="Arial Narrow"/>
        <a:sym typeface="Arial Narrow"/>
      </a:defRPr>
    </a:lvl7pPr>
    <a:lvl8pPr>
      <a:defRPr>
        <a:latin typeface="Arial Narrow"/>
        <a:ea typeface="Arial Narrow"/>
        <a:cs typeface="Arial Narrow"/>
        <a:sym typeface="Arial Narrow"/>
      </a:defRPr>
    </a:lvl8pPr>
    <a:lvl9pPr>
      <a:defRPr>
        <a:latin typeface="Arial Narrow"/>
        <a:ea typeface="Arial Narrow"/>
        <a:cs typeface="Arial Narrow"/>
        <a:sym typeface="Arial Narrow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B20FE-E534-4766-9492-7F323C509F20}" v="3" dt="2024-12-10T14:35:21.52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DECFF"/>
          </a:solidFill>
        </a:fill>
      </a:tcStyle>
    </a:wholeTbl>
    <a:band2H>
      <a:tcTxStyle/>
      <a:tcStyle>
        <a:tcBdr/>
        <a:fill>
          <a:solidFill>
            <a:srgbClr val="EFF6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9CC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9CC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9CCFF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6E6F6"/>
          </a:solidFill>
        </a:fill>
      </a:tcStyle>
    </a:wholeTbl>
    <a:band2H>
      <a:tcTxStyle/>
      <a:tcStyle>
        <a:tcBdr/>
        <a:fill>
          <a:solidFill>
            <a:srgbClr val="F3F3FA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B9E7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B9E7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B9E7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9CC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9CCFF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29"/>
    <p:restoredTop sz="94643"/>
  </p:normalViewPr>
  <p:slideViewPr>
    <p:cSldViewPr snapToGrid="0" snapToObjects="1">
      <p:cViewPr varScale="1">
        <p:scale>
          <a:sx n="78" d="100"/>
          <a:sy n="78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Alejandro Tibau Benitez" userId="e5597553-c464-45d3-aa13-a911048b5c46" providerId="ADAL" clId="{558F3E8A-A3D6-9443-8331-4B9CDBE9B4A2}"/>
    <pc:docChg chg="undo custSel modSld">
      <pc:chgData name="Javier Alejandro Tibau Benitez" userId="e5597553-c464-45d3-aa13-a911048b5c46" providerId="ADAL" clId="{558F3E8A-A3D6-9443-8331-4B9CDBE9B4A2}" dt="2022-12-08T17:53:56.156" v="111" actId="20577"/>
      <pc:docMkLst>
        <pc:docMk/>
      </pc:docMkLst>
      <pc:sldChg chg="addSp delSp modSp mod">
        <pc:chgData name="Javier Alejandro Tibau Benitez" userId="e5597553-c464-45d3-aa13-a911048b5c46" providerId="ADAL" clId="{558F3E8A-A3D6-9443-8331-4B9CDBE9B4A2}" dt="2022-12-08T17:44:54.941" v="103" actId="1076"/>
        <pc:sldMkLst>
          <pc:docMk/>
          <pc:sldMk cId="0" sldId="265"/>
        </pc:sldMkLst>
      </pc:sldChg>
      <pc:sldChg chg="addSp modSp mod modAnim">
        <pc:chgData name="Javier Alejandro Tibau Benitez" userId="e5597553-c464-45d3-aa13-a911048b5c46" providerId="ADAL" clId="{558F3E8A-A3D6-9443-8331-4B9CDBE9B4A2}" dt="2022-12-08T17:39:38.906" v="92" actId="1076"/>
        <pc:sldMkLst>
          <pc:docMk/>
          <pc:sldMk cId="0" sldId="278"/>
        </pc:sldMkLst>
      </pc:sldChg>
      <pc:sldChg chg="modSp mod">
        <pc:chgData name="Javier Alejandro Tibau Benitez" userId="e5597553-c464-45d3-aa13-a911048b5c46" providerId="ADAL" clId="{558F3E8A-A3D6-9443-8331-4B9CDBE9B4A2}" dt="2022-12-08T17:51:15.967" v="105" actId="1076"/>
        <pc:sldMkLst>
          <pc:docMk/>
          <pc:sldMk cId="0" sldId="285"/>
        </pc:sldMkLst>
      </pc:sldChg>
      <pc:sldChg chg="modSp mod">
        <pc:chgData name="Javier Alejandro Tibau Benitez" userId="e5597553-c464-45d3-aa13-a911048b5c46" providerId="ADAL" clId="{558F3E8A-A3D6-9443-8331-4B9CDBE9B4A2}" dt="2022-12-08T17:53:56.156" v="111" actId="20577"/>
        <pc:sldMkLst>
          <pc:docMk/>
          <pc:sldMk cId="0" sldId="288"/>
        </pc:sldMkLst>
      </pc:sldChg>
      <pc:sldChg chg="modSp mod">
        <pc:chgData name="Javier Alejandro Tibau Benitez" userId="e5597553-c464-45d3-aa13-a911048b5c46" providerId="ADAL" clId="{558F3E8A-A3D6-9443-8331-4B9CDBE9B4A2}" dt="2022-12-01T15:44:16.100" v="14" actId="20577"/>
        <pc:sldMkLst>
          <pc:docMk/>
          <pc:sldMk cId="3255616706" sldId="296"/>
        </pc:sldMkLst>
      </pc:sldChg>
    </pc:docChg>
  </pc:docChgLst>
  <pc:docChgLst>
    <pc:chgData name="Steven Isaac Santillan Padilla" userId="9b70fe88-7305-470b-86a5-d214191a12dc" providerId="ADAL" clId="{6AAB20FE-E534-4766-9492-7F323C509F20}"/>
    <pc:docChg chg="modSld">
      <pc:chgData name="Steven Isaac Santillan Padilla" userId="9b70fe88-7305-470b-86a5-d214191a12dc" providerId="ADAL" clId="{6AAB20FE-E534-4766-9492-7F323C509F20}" dt="2024-12-10T14:35:21.529" v="3" actId="478"/>
      <pc:docMkLst>
        <pc:docMk/>
      </pc:docMkLst>
      <pc:sldChg chg="delSp modSp mod">
        <pc:chgData name="Steven Isaac Santillan Padilla" userId="9b70fe88-7305-470b-86a5-d214191a12dc" providerId="ADAL" clId="{6AAB20FE-E534-4766-9492-7F323C509F20}" dt="2024-12-10T14:35:21.529" v="3" actId="478"/>
        <pc:sldMkLst>
          <pc:docMk/>
          <pc:sldMk cId="3255616706" sldId="296"/>
        </pc:sldMkLst>
        <pc:spChg chg="del mod">
          <ac:chgData name="Steven Isaac Santillan Padilla" userId="9b70fe88-7305-470b-86a5-d214191a12dc" providerId="ADAL" clId="{6AAB20FE-E534-4766-9492-7F323C509F20}" dt="2024-12-10T14:35:18.321" v="1" actId="478"/>
          <ac:spMkLst>
            <pc:docMk/>
            <pc:sldMk cId="3255616706" sldId="296"/>
            <ac:spMk id="4104" creationId="{66FF4A6F-8386-1240-9DAB-FCFE83D2F371}"/>
          </ac:spMkLst>
        </pc:spChg>
        <pc:picChg chg="del">
          <ac:chgData name="Steven Isaac Santillan Padilla" userId="9b70fe88-7305-470b-86a5-d214191a12dc" providerId="ADAL" clId="{6AAB20FE-E534-4766-9492-7F323C509F20}" dt="2024-12-10T14:35:21.529" v="3" actId="478"/>
          <ac:picMkLst>
            <pc:docMk/>
            <pc:sldMk cId="3255616706" sldId="296"/>
            <ac:picMk id="4099" creationId="{28F8EDB5-BDA7-ED4B-A4FB-1EBA4787B971}"/>
          </ac:picMkLst>
        </pc:picChg>
        <pc:picChg chg="del">
          <ac:chgData name="Steven Isaac Santillan Padilla" userId="9b70fe88-7305-470b-86a5-d214191a12dc" providerId="ADAL" clId="{6AAB20FE-E534-4766-9492-7F323C509F20}" dt="2024-12-10T14:35:19.668" v="2" actId="478"/>
          <ac:picMkLst>
            <pc:docMk/>
            <pc:sldMk cId="3255616706" sldId="296"/>
            <ac:picMk id="4100" creationId="{0146EEA3-48FE-124B-928D-F1D2749433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" name="Shape 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53153634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E4E5B6-92CE-F948-AD48-829B5A71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0D656-84A3-364E-84DB-5D0A1F4523F2}" type="datetimeFigureOut">
              <a:rPr lang="es-EC"/>
              <a:pPr>
                <a:defRPr/>
              </a:pPr>
              <a:t>10/12/2024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F7041F-E72B-7749-BB87-CB96C4C4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F43D07-2956-2D48-97C0-9BFB9521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1F4E6-8930-3C4C-B5F5-D9725A5C3E7A}" type="slidenum">
              <a:rPr lang="es-EC"/>
              <a:pPr>
                <a:defRPr/>
              </a:pPr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9394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7F13-080D-DB49-BFF0-619B1F21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F3BE-CA7A-DE49-A81E-929C8062D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841F-2F19-054D-9995-431E713B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E72AE-B51D-D347-BCB5-8B8F2BAD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E1B06-8AB7-9749-9962-0343E39E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F978-D975-DC4B-9464-A52C18654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A9E85-31DC-6D48-8F7E-7941EEBE3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8DA65-275B-994E-B4A5-41B1349E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F6D3F-B924-C442-B152-B54F74AB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40AA8-92D2-194C-8900-4E42A275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7F13-080D-DB49-BFF0-619B1F21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F3BE-CA7A-DE49-A81E-929C8062D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841F-2F19-054D-9995-431E713B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E72AE-B51D-D347-BCB5-8B8F2BAD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E1B06-8AB7-9749-9962-0343E39E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4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C949-D63B-004E-A805-F08AA10AB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FC768-B53E-4548-8321-B60BE806A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474C8-B0FD-5D4B-906B-63B0A34E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3353-0064-4940-ABD5-E7BDDF7A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C8FCD-7F0D-6746-9A00-8165B63C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6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C6A5-3C68-554E-A920-E9775B55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C367-C340-1F4E-BC46-F67E84FAE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AD1A0-6F54-1A49-9DFE-30B790F60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E52C9-5FF8-2249-B65A-C3016CAC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9BC41-2A92-A542-ABFB-33956215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4A93E-FA5F-CE4F-88BB-D02FD583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4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D5A8-190C-5F4F-A648-9A5ED281B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3AACE-B739-5F4B-9B9D-6B5CCEC82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84EDC-DD77-944E-9F64-0CEA2A160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F2BF7-45C4-4B43-85B1-9D2E627D0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4B22C-FE1E-DD48-A6B0-D75E874DE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6102C-E77D-5A44-B3C1-4ACB7F7C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D4538-7C5E-AE4B-B366-F9A3DEE2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3BADD-6B65-D749-A766-3858590E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5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D835-C76B-3448-B1CE-F4F59624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D0646-26CD-224B-82D3-5854A1AE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C4689-C546-984C-AE4D-1BDDC41B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84EFF-5D56-C849-83D0-3603170C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6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6E8BA-C4B7-064B-AFE3-804FD5FA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F6AF9-E7B1-AA48-85FA-037855EF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86B9B-25C7-3D4F-85F9-B053CB14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8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7292-13BF-6549-A870-199B2D812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093E9-599E-3249-935B-B4A73485D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DD23C-22A1-C745-B1DE-B0B913C2F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47007-8AD1-074C-A85B-EF51B801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81CE5-7887-2F47-9051-FA549204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5543E-1B21-854E-A0A6-748BADE6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84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BC08-C78D-1A43-B259-EF945402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429B8-2204-6942-B237-6CDA68AD3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EA941-CDEB-B74F-BF11-114E7D22D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B3637-74B2-7B4A-9D15-AC706168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42E1C-6714-7041-830F-2A18AFD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6F7C8-99E3-F045-AC63-2D4205A2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64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B60E-15E0-B347-8B6A-FAE6D4AD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FD632-127A-614E-96F3-E7CDBF7AB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C0507-0F28-4C4B-88D8-0A78C2B8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C7BE0-AF9D-494B-A2E9-189A1769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1A607-2EC8-DC4E-B95F-54669443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28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B8133-B729-E343-A779-74B1E38116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437CB-B51B-1A4C-AF79-DA7848575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5B2A0-DE72-7A49-905B-6BB82C7C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F2B65-8DAD-C04C-866D-B0F5160B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F475B-8158-FE46-A8E5-2EAEA651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31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</p:sldLayoutIdLst>
  <p:transition spd="med"/>
  <p:txStyles>
    <p:titleStyle>
      <a:lvl1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1pPr>
      <a:lvl2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2pPr>
      <a:lvl3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3pPr>
      <a:lvl4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4pPr>
      <a:lvl5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5pPr>
      <a:lvl6pPr indent="457200"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6pPr>
      <a:lvl7pPr indent="914400"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7pPr>
      <a:lvl8pPr indent="1371600"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8pPr>
      <a:lvl9pPr indent="1828800"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9pPr>
    </p:titleStyle>
    <p:bodyStyle>
      <a:lvl1pPr marL="342900" indent="-342900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1pPr>
      <a:lvl2pPr marL="783771" indent="-326571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2pPr>
      <a:lvl3pPr marL="1219200" indent="-304800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3pPr>
      <a:lvl4pPr marL="1737360" indent="-365760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4pPr>
      <a:lvl5pPr marL="2235200" indent="-406400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5pPr>
      <a:lvl6pPr marL="2692400" indent="-406400">
        <a:spcBef>
          <a:spcPts val="700"/>
        </a:spcBef>
        <a:buClr>
          <a:srgbClr val="008080"/>
        </a:buClr>
        <a:buSzPct val="80000"/>
        <a:buFont typeface="Wingdings"/>
        <a:buChar char="•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6pPr>
      <a:lvl7pPr marL="3149600" indent="-406400">
        <a:spcBef>
          <a:spcPts val="700"/>
        </a:spcBef>
        <a:buClr>
          <a:srgbClr val="008080"/>
        </a:buClr>
        <a:buSzPct val="80000"/>
        <a:buFont typeface="Wingdings"/>
        <a:buChar char="•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7pPr>
      <a:lvl8pPr marL="3606800" indent="-406400">
        <a:spcBef>
          <a:spcPts val="700"/>
        </a:spcBef>
        <a:buClr>
          <a:srgbClr val="008080"/>
        </a:buClr>
        <a:buSzPct val="80000"/>
        <a:buFont typeface="Wingdings"/>
        <a:buChar char="•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8pPr>
      <a:lvl9pPr marL="4064000" indent="-406400">
        <a:spcBef>
          <a:spcPts val="700"/>
        </a:spcBef>
        <a:buClr>
          <a:srgbClr val="008080"/>
        </a:buClr>
        <a:buSzPct val="80000"/>
        <a:buFont typeface="Wingdings"/>
        <a:buChar char="•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9pPr>
    </p:bodyStyle>
    <p:otherStyle>
      <a:lvl1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9F4B51-AEE0-9148-B05D-04C2A1C67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3F65D-97B8-AF48-84B6-D2CA7940E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0324C-B0D2-8148-8333-E4BBCA322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2D3D3-9E58-7446-B859-C1143F1E3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9D89E-2CDD-104D-BD59-5B6B1262E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9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3">
            <a:extLst>
              <a:ext uri="{FF2B5EF4-FFF2-40B4-BE49-F238E27FC236}">
                <a16:creationId xmlns:a16="http://schemas.microsoft.com/office/drawing/2014/main" id="{91A6ED28-45F5-0240-A981-B652E56BC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141663"/>
            <a:ext cx="6858000" cy="403225"/>
          </a:xfrm>
        </p:spPr>
        <p:txBody>
          <a:bodyPr/>
          <a:lstStyle/>
          <a:p>
            <a:pPr eaLnBrk="1" hangingPunct="1"/>
            <a:r>
              <a:rPr lang="es-ES_tradnl" altLang="es-EC" sz="3600"/>
              <a:t>ESTRUCTURAS DE DATOS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713916-6D0D-7248-8172-1AAA4E1D515B}"/>
              </a:ext>
            </a:extLst>
          </p:cNvPr>
          <p:cNvSpPr/>
          <p:nvPr/>
        </p:nvSpPr>
        <p:spPr>
          <a:xfrm>
            <a:off x="0" y="2278063"/>
            <a:ext cx="9144000" cy="2016125"/>
          </a:xfrm>
          <a:prstGeom prst="rect">
            <a:avLst/>
          </a:prstGeom>
          <a:gradFill flip="none" rotWithShape="1">
            <a:gsLst>
              <a:gs pos="100000">
                <a:srgbClr val="005199"/>
              </a:gs>
              <a:gs pos="0">
                <a:srgbClr val="00529B"/>
              </a:gs>
              <a:gs pos="50000">
                <a:srgbClr val="003A7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102" name="Rectangle 2">
            <a:extLst>
              <a:ext uri="{FF2B5EF4-FFF2-40B4-BE49-F238E27FC236}">
                <a16:creationId xmlns:a16="http://schemas.microsoft.com/office/drawing/2014/main" id="{C40653DD-9ACA-AA49-994A-D307CB823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2679700"/>
            <a:ext cx="681355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5400" b="1" dirty="0" err="1">
                <a:solidFill>
                  <a:schemeClr val="bg1"/>
                </a:solidFill>
                <a:latin typeface="Gill Sans MT" panose="020B0502020104020203" pitchFamily="34" charset="77"/>
              </a:rPr>
              <a:t>Estructuras</a:t>
            </a:r>
            <a:r>
              <a:rPr lang="en-US" altLang="en-US" sz="5400" b="1" dirty="0">
                <a:solidFill>
                  <a:schemeClr val="bg1"/>
                </a:solidFill>
                <a:latin typeface="Gill Sans MT" panose="020B0502020104020203" pitchFamily="34" charset="77"/>
              </a:rPr>
              <a:t> de </a:t>
            </a:r>
            <a:r>
              <a:rPr lang="en-US" altLang="en-US" sz="5400" b="1" dirty="0" err="1">
                <a:solidFill>
                  <a:schemeClr val="bg1"/>
                </a:solidFill>
                <a:latin typeface="Gill Sans MT" panose="020B0502020104020203" pitchFamily="34" charset="77"/>
              </a:rPr>
              <a:t>Datos</a:t>
            </a:r>
            <a:endParaRPr lang="en-US" altLang="en-US" sz="5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4103" name="Rectangle 2">
            <a:extLst>
              <a:ext uri="{FF2B5EF4-FFF2-40B4-BE49-F238E27FC236}">
                <a16:creationId xmlns:a16="http://schemas.microsoft.com/office/drawing/2014/main" id="{FDA35373-DB89-6E4D-804D-80BA01D8F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6177" y="3500377"/>
            <a:ext cx="3231655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Árboles</a:t>
            </a:r>
            <a:r>
              <a:rPr lang="en-US" altLang="en-US" sz="3600" dirty="0">
                <a:solidFill>
                  <a:schemeClr val="bg1"/>
                </a:solidFill>
                <a:latin typeface="Gill Sans MT" panose="020B0502020104020203" pitchFamily="34" charset="77"/>
              </a:rPr>
              <a:t> - </a:t>
            </a:r>
            <a:r>
              <a:rPr lang="en-US" altLang="en-US" sz="36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Parte</a:t>
            </a:r>
            <a:r>
              <a:rPr lang="en-US" altLang="en-US" sz="3600">
                <a:solidFill>
                  <a:schemeClr val="bg1"/>
                </a:solidFill>
                <a:latin typeface="Gill Sans MT" panose="020B0502020104020203" pitchFamily="34" charset="77"/>
              </a:rPr>
              <a:t> II</a:t>
            </a:r>
            <a:endParaRPr lang="en-US" altLang="en-US" sz="36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5561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AD938-AD10-134D-BAB3-CB50ECDBC01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100000">
                <a:srgbClr val="005199"/>
              </a:gs>
              <a:gs pos="0">
                <a:srgbClr val="00529B"/>
              </a:gs>
              <a:gs pos="50000">
                <a:srgbClr val="003A7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GB" sz="1350" kern="12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B579-24DF-C54F-86FD-2222CDE2D99B}"/>
              </a:ext>
            </a:extLst>
          </p:cNvPr>
          <p:cNvSpPr txBox="1">
            <a:spLocks noChangeArrowheads="1"/>
          </p:cNvSpPr>
          <p:nvPr/>
        </p:nvSpPr>
        <p:spPr>
          <a:xfrm>
            <a:off x="1630864" y="3124302"/>
            <a:ext cx="5882315" cy="6093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/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Recorridos</a:t>
            </a:r>
            <a:r>
              <a:rPr lang="en-US" altLang="en-US" b="1" dirty="0">
                <a:solidFill>
                  <a:prstClr val="white"/>
                </a:solidFill>
                <a:latin typeface="Gill Sans MT" panose="020B0502020104020203" pitchFamily="34" charset="0"/>
              </a:rPr>
              <a:t> de </a:t>
            </a:r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Árboles</a:t>
            </a:r>
            <a:endParaRPr lang="en-US" altLang="en-US" dirty="0">
              <a:solidFill>
                <a:prstClr val="white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316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RECORRIDOS DE UN A.B.</a:t>
            </a:r>
          </a:p>
        </p:txBody>
      </p:sp>
      <p:sp>
        <p:nvSpPr>
          <p:cNvPr id="259" name="Shape 259"/>
          <p:cNvSpPr>
            <a:spLocks noGrp="1"/>
          </p:cNvSpPr>
          <p:nvPr>
            <p:ph type="body" idx="4294967295"/>
          </p:nvPr>
        </p:nvSpPr>
        <p:spPr>
          <a:xfrm>
            <a:off x="457200" y="1798637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Recorrer es</a:t>
            </a:r>
          </a:p>
          <a:p>
            <a:pPr marL="702128" lvl="1" indent="-244928"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Visitar todos los elementos de una estructura</a:t>
            </a:r>
          </a:p>
          <a:p>
            <a:pPr marL="300037" lvl="0" indent="-300037"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Como recorrer un árbol</a:t>
            </a:r>
          </a:p>
          <a:p>
            <a:pPr marL="702128" lvl="1" indent="-244928"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Hay tantos caminos, cual escoger?</a:t>
            </a:r>
          </a:p>
          <a:p>
            <a:pPr marL="702128" lvl="1" indent="-244928"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Existe tres recorridos típicos</a:t>
            </a:r>
          </a:p>
          <a:p>
            <a:pPr marL="1104900" lvl="2" indent="-19050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Nombrados de acuerdo a la posición de la raíz</a:t>
            </a:r>
          </a:p>
          <a:p>
            <a:pPr marL="1104900" lvl="2" indent="-19050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Preorden: raíz - subarbol izq. - subarbol der.</a:t>
            </a:r>
          </a:p>
          <a:p>
            <a:pPr marL="1104900" lvl="2" indent="-19050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Enorden : subarbol izq. - raíz - subarbol der.</a:t>
            </a:r>
          </a:p>
          <a:p>
            <a:pPr marL="1104900" lvl="2" indent="-19050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Postorden : subarbol izq. - subarbol der. -raíz</a:t>
            </a:r>
          </a:p>
        </p:txBody>
      </p:sp>
    </p:spTree>
    <p:extLst>
      <p:ext uri="{BB962C8B-B14F-4D97-AF65-F5344CB8AC3E}">
        <p14:creationId xmlns:p14="http://schemas.microsoft.com/office/powerpoint/2010/main" val="133576025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build="p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EJEMPLO PREORDEN</a:t>
            </a:r>
          </a:p>
        </p:txBody>
      </p:sp>
      <p:sp>
        <p:nvSpPr>
          <p:cNvPr id="262" name="Shape 262"/>
          <p:cNvSpPr/>
          <p:nvPr/>
        </p:nvSpPr>
        <p:spPr>
          <a:xfrm>
            <a:off x="4170836" y="2394405"/>
            <a:ext cx="3604005" cy="3157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64" h="20976" extrusionOk="0">
                <a:moveTo>
                  <a:pt x="10806" y="292"/>
                </a:moveTo>
                <a:cubicBezTo>
                  <a:pt x="11920" y="39"/>
                  <a:pt x="13553" y="-214"/>
                  <a:pt x="14369" y="292"/>
                </a:cubicBezTo>
                <a:cubicBezTo>
                  <a:pt x="15186" y="799"/>
                  <a:pt x="14889" y="2570"/>
                  <a:pt x="15705" y="3330"/>
                </a:cubicBezTo>
                <a:cubicBezTo>
                  <a:pt x="16522" y="4089"/>
                  <a:pt x="18377" y="3920"/>
                  <a:pt x="19268" y="4849"/>
                </a:cubicBezTo>
                <a:cubicBezTo>
                  <a:pt x="20159" y="5777"/>
                  <a:pt x="21198" y="7549"/>
                  <a:pt x="21050" y="8899"/>
                </a:cubicBezTo>
                <a:cubicBezTo>
                  <a:pt x="20901" y="10249"/>
                  <a:pt x="19342" y="11767"/>
                  <a:pt x="18377" y="12948"/>
                </a:cubicBezTo>
                <a:cubicBezTo>
                  <a:pt x="17412" y="14130"/>
                  <a:pt x="16670" y="15648"/>
                  <a:pt x="15260" y="15986"/>
                </a:cubicBezTo>
                <a:cubicBezTo>
                  <a:pt x="13850" y="16323"/>
                  <a:pt x="11697" y="14214"/>
                  <a:pt x="9916" y="14973"/>
                </a:cubicBezTo>
                <a:cubicBezTo>
                  <a:pt x="8134" y="15733"/>
                  <a:pt x="6204" y="19698"/>
                  <a:pt x="4571" y="20542"/>
                </a:cubicBezTo>
                <a:cubicBezTo>
                  <a:pt x="2938" y="21386"/>
                  <a:pt x="637" y="20880"/>
                  <a:pt x="118" y="20036"/>
                </a:cubicBezTo>
                <a:cubicBezTo>
                  <a:pt x="-402" y="19192"/>
                  <a:pt x="934" y="16408"/>
                  <a:pt x="1454" y="15480"/>
                </a:cubicBezTo>
                <a:cubicBezTo>
                  <a:pt x="1973" y="14552"/>
                  <a:pt x="2716" y="15395"/>
                  <a:pt x="3235" y="14467"/>
                </a:cubicBezTo>
                <a:cubicBezTo>
                  <a:pt x="3755" y="13539"/>
                  <a:pt x="3829" y="12020"/>
                  <a:pt x="4571" y="9911"/>
                </a:cubicBezTo>
                <a:cubicBezTo>
                  <a:pt x="5313" y="7802"/>
                  <a:pt x="6650" y="3414"/>
                  <a:pt x="7689" y="1811"/>
                </a:cubicBezTo>
                <a:cubicBezTo>
                  <a:pt x="8728" y="208"/>
                  <a:pt x="9693" y="545"/>
                  <a:pt x="10806" y="292"/>
                </a:cubicBezTo>
                <a:close/>
              </a:path>
            </a:pathLst>
          </a:custGeom>
          <a:solidFill>
            <a:srgbClr val="FEF800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3" name="Shape 263"/>
          <p:cNvSpPr/>
          <p:nvPr/>
        </p:nvSpPr>
        <p:spPr>
          <a:xfrm>
            <a:off x="4329371" y="3118816"/>
            <a:ext cx="1870345" cy="2303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91" h="20843" extrusionOk="0">
                <a:moveTo>
                  <a:pt x="6799" y="7632"/>
                </a:moveTo>
                <a:cubicBezTo>
                  <a:pt x="5830" y="9125"/>
                  <a:pt x="6245" y="8780"/>
                  <a:pt x="5968" y="9700"/>
                </a:cubicBezTo>
                <a:cubicBezTo>
                  <a:pt x="5691" y="10619"/>
                  <a:pt x="5830" y="12342"/>
                  <a:pt x="5137" y="13146"/>
                </a:cubicBezTo>
                <a:cubicBezTo>
                  <a:pt x="4445" y="13951"/>
                  <a:pt x="2507" y="14066"/>
                  <a:pt x="1814" y="14525"/>
                </a:cubicBezTo>
                <a:cubicBezTo>
                  <a:pt x="1122" y="14985"/>
                  <a:pt x="1261" y="15100"/>
                  <a:pt x="984" y="15904"/>
                </a:cubicBezTo>
                <a:cubicBezTo>
                  <a:pt x="707" y="16708"/>
                  <a:pt x="-401" y="18546"/>
                  <a:pt x="153" y="19351"/>
                </a:cubicBezTo>
                <a:cubicBezTo>
                  <a:pt x="707" y="20155"/>
                  <a:pt x="2507" y="21189"/>
                  <a:pt x="4307" y="20729"/>
                </a:cubicBezTo>
                <a:cubicBezTo>
                  <a:pt x="6107" y="20270"/>
                  <a:pt x="8322" y="19121"/>
                  <a:pt x="10953" y="16593"/>
                </a:cubicBezTo>
                <a:cubicBezTo>
                  <a:pt x="13584" y="14066"/>
                  <a:pt x="18984" y="8206"/>
                  <a:pt x="20091" y="5563"/>
                </a:cubicBezTo>
                <a:cubicBezTo>
                  <a:pt x="21199" y="2921"/>
                  <a:pt x="18984" y="1542"/>
                  <a:pt x="17599" y="738"/>
                </a:cubicBezTo>
                <a:cubicBezTo>
                  <a:pt x="16214" y="-66"/>
                  <a:pt x="13584" y="-411"/>
                  <a:pt x="11784" y="738"/>
                </a:cubicBezTo>
                <a:cubicBezTo>
                  <a:pt x="9984" y="1887"/>
                  <a:pt x="7768" y="6138"/>
                  <a:pt x="6799" y="7632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4" name="Shape 264"/>
          <p:cNvSpPr/>
          <p:nvPr/>
        </p:nvSpPr>
        <p:spPr>
          <a:xfrm>
            <a:off x="4427916" y="3886200"/>
            <a:ext cx="1134684" cy="14541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3" h="21321" extrusionOk="0">
                <a:moveTo>
                  <a:pt x="10050" y="3352"/>
                </a:moveTo>
                <a:cubicBezTo>
                  <a:pt x="10524" y="1862"/>
                  <a:pt x="10524" y="1676"/>
                  <a:pt x="11474" y="1117"/>
                </a:cubicBezTo>
                <a:cubicBezTo>
                  <a:pt x="12423" y="559"/>
                  <a:pt x="14322" y="0"/>
                  <a:pt x="15746" y="0"/>
                </a:cubicBezTo>
                <a:cubicBezTo>
                  <a:pt x="17170" y="0"/>
                  <a:pt x="19069" y="372"/>
                  <a:pt x="20019" y="1117"/>
                </a:cubicBezTo>
                <a:cubicBezTo>
                  <a:pt x="20968" y="1862"/>
                  <a:pt x="21443" y="3352"/>
                  <a:pt x="21443" y="4469"/>
                </a:cubicBezTo>
                <a:cubicBezTo>
                  <a:pt x="21443" y="5586"/>
                  <a:pt x="21206" y="6890"/>
                  <a:pt x="20019" y="7821"/>
                </a:cubicBezTo>
                <a:cubicBezTo>
                  <a:pt x="18832" y="8752"/>
                  <a:pt x="15984" y="8193"/>
                  <a:pt x="14322" y="10055"/>
                </a:cubicBezTo>
                <a:cubicBezTo>
                  <a:pt x="12661" y="11917"/>
                  <a:pt x="11948" y="17131"/>
                  <a:pt x="10050" y="18993"/>
                </a:cubicBezTo>
                <a:cubicBezTo>
                  <a:pt x="8151" y="20855"/>
                  <a:pt x="4590" y="21600"/>
                  <a:pt x="2929" y="21228"/>
                </a:cubicBezTo>
                <a:cubicBezTo>
                  <a:pt x="1267" y="20855"/>
                  <a:pt x="318" y="18062"/>
                  <a:pt x="80" y="16759"/>
                </a:cubicBezTo>
                <a:cubicBezTo>
                  <a:pt x="-157" y="15455"/>
                  <a:pt x="80" y="14524"/>
                  <a:pt x="1505" y="13407"/>
                </a:cubicBezTo>
                <a:cubicBezTo>
                  <a:pt x="2929" y="12290"/>
                  <a:pt x="7201" y="11731"/>
                  <a:pt x="8625" y="10055"/>
                </a:cubicBezTo>
                <a:cubicBezTo>
                  <a:pt x="10050" y="8379"/>
                  <a:pt x="9575" y="4841"/>
                  <a:pt x="10050" y="3352"/>
                </a:cubicBezTo>
                <a:close/>
              </a:path>
            </a:pathLst>
          </a:custGeom>
          <a:solidFill>
            <a:srgbClr val="D5FFD5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5" name="Shape 265"/>
          <p:cNvSpPr/>
          <p:nvPr/>
        </p:nvSpPr>
        <p:spPr>
          <a:xfrm>
            <a:off x="6047644" y="3124199"/>
            <a:ext cx="1410431" cy="1545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29" h="20703" extrusionOk="0">
                <a:moveTo>
                  <a:pt x="7287" y="2041"/>
                </a:moveTo>
                <a:cubicBezTo>
                  <a:pt x="8935" y="170"/>
                  <a:pt x="9667" y="0"/>
                  <a:pt x="11681" y="0"/>
                </a:cubicBezTo>
                <a:cubicBezTo>
                  <a:pt x="13694" y="0"/>
                  <a:pt x="18087" y="340"/>
                  <a:pt x="19369" y="2041"/>
                </a:cubicBezTo>
                <a:cubicBezTo>
                  <a:pt x="20650" y="3742"/>
                  <a:pt x="20650" y="7143"/>
                  <a:pt x="19369" y="10205"/>
                </a:cubicBezTo>
                <a:cubicBezTo>
                  <a:pt x="18087" y="13266"/>
                  <a:pt x="14792" y="19219"/>
                  <a:pt x="11681" y="20409"/>
                </a:cubicBezTo>
                <a:cubicBezTo>
                  <a:pt x="8569" y="21600"/>
                  <a:pt x="2345" y="18879"/>
                  <a:pt x="697" y="17348"/>
                </a:cubicBezTo>
                <a:cubicBezTo>
                  <a:pt x="-950" y="15817"/>
                  <a:pt x="697" y="13776"/>
                  <a:pt x="1796" y="11225"/>
                </a:cubicBezTo>
                <a:cubicBezTo>
                  <a:pt x="2894" y="8674"/>
                  <a:pt x="5640" y="3912"/>
                  <a:pt x="7287" y="2041"/>
                </a:cubicBezTo>
                <a:close/>
              </a:path>
            </a:pathLst>
          </a:custGeom>
          <a:solidFill>
            <a:srgbClr val="FFFF95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6" name="Shape 266"/>
          <p:cNvSpPr/>
          <p:nvPr/>
        </p:nvSpPr>
        <p:spPr>
          <a:xfrm>
            <a:off x="4445255" y="4715042"/>
            <a:ext cx="538710" cy="5478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4" h="19826" extrusionOk="0">
                <a:moveTo>
                  <a:pt x="252" y="5854"/>
                </a:moveTo>
                <a:cubicBezTo>
                  <a:pt x="821" y="4475"/>
                  <a:pt x="1389" y="4015"/>
                  <a:pt x="3663" y="3096"/>
                </a:cubicBezTo>
                <a:cubicBezTo>
                  <a:pt x="5937" y="2177"/>
                  <a:pt x="11052" y="-1040"/>
                  <a:pt x="13895" y="339"/>
                </a:cubicBezTo>
                <a:cubicBezTo>
                  <a:pt x="16737" y="1717"/>
                  <a:pt x="21284" y="8151"/>
                  <a:pt x="20716" y="11369"/>
                </a:cubicBezTo>
                <a:cubicBezTo>
                  <a:pt x="20147" y="14586"/>
                  <a:pt x="13326" y="18722"/>
                  <a:pt x="10484" y="19641"/>
                </a:cubicBezTo>
                <a:cubicBezTo>
                  <a:pt x="7642" y="20560"/>
                  <a:pt x="5368" y="17803"/>
                  <a:pt x="3663" y="16883"/>
                </a:cubicBezTo>
                <a:cubicBezTo>
                  <a:pt x="1958" y="15964"/>
                  <a:pt x="821" y="15045"/>
                  <a:pt x="252" y="14126"/>
                </a:cubicBezTo>
                <a:cubicBezTo>
                  <a:pt x="-316" y="13207"/>
                  <a:pt x="252" y="12747"/>
                  <a:pt x="252" y="11369"/>
                </a:cubicBezTo>
                <a:cubicBezTo>
                  <a:pt x="252" y="9990"/>
                  <a:pt x="-316" y="7232"/>
                  <a:pt x="252" y="5854"/>
                </a:cubicBezTo>
                <a:close/>
              </a:path>
            </a:pathLst>
          </a:custGeom>
          <a:solidFill>
            <a:srgbClr val="FBFFFB"/>
          </a:solidFill>
          <a:ln>
            <a:solidFill>
              <a:srgbClr val="0080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7" name="Shape 267"/>
          <p:cNvSpPr/>
          <p:nvPr/>
        </p:nvSpPr>
        <p:spPr>
          <a:xfrm>
            <a:off x="6170210" y="3942277"/>
            <a:ext cx="615881" cy="5870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50" h="20376" extrusionOk="0">
                <a:moveTo>
                  <a:pt x="7844" y="698"/>
                </a:moveTo>
                <a:cubicBezTo>
                  <a:pt x="5684" y="1139"/>
                  <a:pt x="3956" y="1580"/>
                  <a:pt x="2660" y="3343"/>
                </a:cubicBezTo>
                <a:cubicBezTo>
                  <a:pt x="1364" y="5107"/>
                  <a:pt x="-364" y="8633"/>
                  <a:pt x="68" y="11278"/>
                </a:cubicBezTo>
                <a:cubicBezTo>
                  <a:pt x="500" y="13923"/>
                  <a:pt x="2228" y="17890"/>
                  <a:pt x="5252" y="19213"/>
                </a:cubicBezTo>
                <a:cubicBezTo>
                  <a:pt x="8276" y="20535"/>
                  <a:pt x="15620" y="20976"/>
                  <a:pt x="18212" y="19213"/>
                </a:cubicBezTo>
                <a:cubicBezTo>
                  <a:pt x="20804" y="17449"/>
                  <a:pt x="21236" y="11719"/>
                  <a:pt x="20804" y="8633"/>
                </a:cubicBezTo>
                <a:cubicBezTo>
                  <a:pt x="20372" y="5547"/>
                  <a:pt x="17780" y="2021"/>
                  <a:pt x="15620" y="698"/>
                </a:cubicBezTo>
                <a:cubicBezTo>
                  <a:pt x="13460" y="-624"/>
                  <a:pt x="10004" y="258"/>
                  <a:pt x="7844" y="698"/>
                </a:cubicBezTo>
                <a:close/>
              </a:path>
            </a:pathLst>
          </a:custGeom>
          <a:solidFill>
            <a:srgbClr val="D5FFD5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270" name="Group 270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268" name="Shape 268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69" name="Shape 269"/>
            <p:cNvSpPr/>
            <p:nvPr/>
          </p:nvSpPr>
          <p:spPr>
            <a:xfrm>
              <a:off x="0" y="-1"/>
              <a:ext cx="307589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</a:t>
              </a:r>
            </a:p>
          </p:txBody>
        </p:sp>
      </p:grpSp>
      <p:grpSp>
        <p:nvGrpSpPr>
          <p:cNvPr id="273" name="Group 273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271" name="Shape 271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72" name="Shape 272"/>
            <p:cNvSpPr/>
            <p:nvPr/>
          </p:nvSpPr>
          <p:spPr>
            <a:xfrm>
              <a:off x="0" y="-1"/>
              <a:ext cx="625039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</a:t>
              </a:r>
            </a:p>
          </p:txBody>
        </p:sp>
      </p:grpSp>
      <p:grpSp>
        <p:nvGrpSpPr>
          <p:cNvPr id="276" name="Group 276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274" name="Shape 274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75" name="Shape 275"/>
            <p:cNvSpPr/>
            <p:nvPr/>
          </p:nvSpPr>
          <p:spPr>
            <a:xfrm>
              <a:off x="0" y="-1"/>
              <a:ext cx="915403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</a:t>
              </a:r>
            </a:p>
          </p:txBody>
        </p:sp>
      </p:grpSp>
      <p:grpSp>
        <p:nvGrpSpPr>
          <p:cNvPr id="279" name="Group 279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277" name="Shape 277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78" name="Shape 278"/>
            <p:cNvSpPr/>
            <p:nvPr/>
          </p:nvSpPr>
          <p:spPr>
            <a:xfrm>
              <a:off x="0" y="-1"/>
              <a:ext cx="120338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</a:t>
              </a:r>
            </a:p>
          </p:txBody>
        </p:sp>
      </p:grpSp>
      <p:grpSp>
        <p:nvGrpSpPr>
          <p:cNvPr id="282" name="Group 282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280" name="Shape 280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81" name="Shape 281"/>
            <p:cNvSpPr/>
            <p:nvPr/>
          </p:nvSpPr>
          <p:spPr>
            <a:xfrm>
              <a:off x="0" y="-1"/>
              <a:ext cx="149017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</a:t>
              </a:r>
            </a:p>
          </p:txBody>
        </p:sp>
      </p:grpSp>
      <p:grpSp>
        <p:nvGrpSpPr>
          <p:cNvPr id="285" name="Group 285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283" name="Shape 283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84" name="Shape 284"/>
            <p:cNvSpPr/>
            <p:nvPr/>
          </p:nvSpPr>
          <p:spPr>
            <a:xfrm>
              <a:off x="0" y="-1"/>
              <a:ext cx="176491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</a:t>
              </a:r>
            </a:p>
          </p:txBody>
        </p:sp>
      </p:grpSp>
      <p:sp>
        <p:nvSpPr>
          <p:cNvPr id="286" name="Shape 286"/>
          <p:cNvSpPr/>
          <p:nvPr/>
        </p:nvSpPr>
        <p:spPr>
          <a:xfrm>
            <a:off x="1611565" y="2507877"/>
            <a:ext cx="3202363" cy="2237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3" h="20797" extrusionOk="0">
                <a:moveTo>
                  <a:pt x="9704" y="888"/>
                </a:moveTo>
                <a:cubicBezTo>
                  <a:pt x="11149" y="-646"/>
                  <a:pt x="10384" y="298"/>
                  <a:pt x="10724" y="180"/>
                </a:cubicBezTo>
                <a:cubicBezTo>
                  <a:pt x="11064" y="62"/>
                  <a:pt x="11319" y="62"/>
                  <a:pt x="11744" y="180"/>
                </a:cubicBezTo>
                <a:cubicBezTo>
                  <a:pt x="12170" y="298"/>
                  <a:pt x="12935" y="298"/>
                  <a:pt x="13275" y="888"/>
                </a:cubicBezTo>
                <a:cubicBezTo>
                  <a:pt x="13615" y="1479"/>
                  <a:pt x="13020" y="2895"/>
                  <a:pt x="13785" y="3721"/>
                </a:cubicBezTo>
                <a:cubicBezTo>
                  <a:pt x="14551" y="4547"/>
                  <a:pt x="16677" y="4902"/>
                  <a:pt x="17867" y="5846"/>
                </a:cubicBezTo>
                <a:cubicBezTo>
                  <a:pt x="19058" y="6790"/>
                  <a:pt x="20333" y="8206"/>
                  <a:pt x="20929" y="9387"/>
                </a:cubicBezTo>
                <a:cubicBezTo>
                  <a:pt x="21524" y="10567"/>
                  <a:pt x="21439" y="11629"/>
                  <a:pt x="21439" y="12928"/>
                </a:cubicBezTo>
                <a:cubicBezTo>
                  <a:pt x="21439" y="14226"/>
                  <a:pt x="21439" y="15997"/>
                  <a:pt x="20929" y="17177"/>
                </a:cubicBezTo>
                <a:cubicBezTo>
                  <a:pt x="20418" y="18357"/>
                  <a:pt x="19228" y="19538"/>
                  <a:pt x="18378" y="20010"/>
                </a:cubicBezTo>
                <a:cubicBezTo>
                  <a:pt x="17527" y="20482"/>
                  <a:pt x="16847" y="20128"/>
                  <a:pt x="15826" y="20010"/>
                </a:cubicBezTo>
                <a:cubicBezTo>
                  <a:pt x="14806" y="19892"/>
                  <a:pt x="13530" y="19184"/>
                  <a:pt x="12255" y="19302"/>
                </a:cubicBezTo>
                <a:cubicBezTo>
                  <a:pt x="10979" y="19420"/>
                  <a:pt x="9789" y="20600"/>
                  <a:pt x="8173" y="20718"/>
                </a:cubicBezTo>
                <a:cubicBezTo>
                  <a:pt x="6557" y="20836"/>
                  <a:pt x="3921" y="20954"/>
                  <a:pt x="2560" y="20010"/>
                </a:cubicBezTo>
                <a:cubicBezTo>
                  <a:pt x="1200" y="19065"/>
                  <a:pt x="94" y="16823"/>
                  <a:pt x="9" y="15052"/>
                </a:cubicBezTo>
                <a:cubicBezTo>
                  <a:pt x="-76" y="13282"/>
                  <a:pt x="434" y="11747"/>
                  <a:pt x="2050" y="9387"/>
                </a:cubicBezTo>
                <a:cubicBezTo>
                  <a:pt x="3666" y="7026"/>
                  <a:pt x="8258" y="2423"/>
                  <a:pt x="9704" y="888"/>
                </a:cubicBezTo>
                <a:close/>
              </a:path>
            </a:pathLst>
          </a:custGeom>
          <a:solidFill>
            <a:srgbClr val="61FF61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87" name="Shape 287"/>
          <p:cNvSpPr/>
          <p:nvPr/>
        </p:nvSpPr>
        <p:spPr>
          <a:xfrm>
            <a:off x="1847850" y="3160335"/>
            <a:ext cx="1595783" cy="1477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78" h="21291" extrusionOk="0">
                <a:moveTo>
                  <a:pt x="6729" y="2408"/>
                </a:moveTo>
                <a:cubicBezTo>
                  <a:pt x="8059" y="760"/>
                  <a:pt x="7893" y="577"/>
                  <a:pt x="8723" y="211"/>
                </a:cubicBezTo>
                <a:cubicBezTo>
                  <a:pt x="9554" y="-155"/>
                  <a:pt x="11049" y="28"/>
                  <a:pt x="11714" y="211"/>
                </a:cubicBezTo>
                <a:cubicBezTo>
                  <a:pt x="12379" y="394"/>
                  <a:pt x="12213" y="760"/>
                  <a:pt x="12711" y="1309"/>
                </a:cubicBezTo>
                <a:cubicBezTo>
                  <a:pt x="13209" y="1859"/>
                  <a:pt x="13376" y="1492"/>
                  <a:pt x="14705" y="3506"/>
                </a:cubicBezTo>
                <a:cubicBezTo>
                  <a:pt x="16034" y="5520"/>
                  <a:pt x="20022" y="10645"/>
                  <a:pt x="20686" y="13391"/>
                </a:cubicBezTo>
                <a:cubicBezTo>
                  <a:pt x="21351" y="16137"/>
                  <a:pt x="20188" y="18699"/>
                  <a:pt x="18693" y="19981"/>
                </a:cubicBezTo>
                <a:cubicBezTo>
                  <a:pt x="17197" y="21262"/>
                  <a:pt x="13708" y="20896"/>
                  <a:pt x="11714" y="21079"/>
                </a:cubicBezTo>
                <a:cubicBezTo>
                  <a:pt x="9720" y="21262"/>
                  <a:pt x="8557" y="21445"/>
                  <a:pt x="6729" y="21079"/>
                </a:cubicBezTo>
                <a:cubicBezTo>
                  <a:pt x="4902" y="20713"/>
                  <a:pt x="1745" y="20713"/>
                  <a:pt x="748" y="18882"/>
                </a:cubicBezTo>
                <a:cubicBezTo>
                  <a:pt x="-249" y="17052"/>
                  <a:pt x="-249" y="12842"/>
                  <a:pt x="748" y="10096"/>
                </a:cubicBezTo>
                <a:cubicBezTo>
                  <a:pt x="1745" y="7350"/>
                  <a:pt x="5400" y="4055"/>
                  <a:pt x="6729" y="2408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88" name="Shape 288"/>
          <p:cNvSpPr/>
          <p:nvPr/>
        </p:nvSpPr>
        <p:spPr>
          <a:xfrm>
            <a:off x="1933742" y="3914942"/>
            <a:ext cx="626915" cy="618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18" h="20641" extrusionOk="0">
                <a:moveTo>
                  <a:pt x="2746" y="5394"/>
                </a:moveTo>
                <a:cubicBezTo>
                  <a:pt x="3561" y="2853"/>
                  <a:pt x="3561" y="3700"/>
                  <a:pt x="5191" y="2853"/>
                </a:cubicBezTo>
                <a:cubicBezTo>
                  <a:pt x="6821" y="2006"/>
                  <a:pt x="10082" y="-959"/>
                  <a:pt x="12527" y="312"/>
                </a:cubicBezTo>
                <a:cubicBezTo>
                  <a:pt x="14972" y="1582"/>
                  <a:pt x="19048" y="7512"/>
                  <a:pt x="19863" y="10476"/>
                </a:cubicBezTo>
                <a:cubicBezTo>
                  <a:pt x="20678" y="13441"/>
                  <a:pt x="19455" y="16406"/>
                  <a:pt x="17418" y="18100"/>
                </a:cubicBezTo>
                <a:cubicBezTo>
                  <a:pt x="15380" y="19794"/>
                  <a:pt x="10489" y="20641"/>
                  <a:pt x="7636" y="20641"/>
                </a:cubicBezTo>
                <a:cubicBezTo>
                  <a:pt x="4784" y="20641"/>
                  <a:pt x="1523" y="20641"/>
                  <a:pt x="301" y="18100"/>
                </a:cubicBezTo>
                <a:cubicBezTo>
                  <a:pt x="-922" y="15559"/>
                  <a:pt x="1931" y="7935"/>
                  <a:pt x="2746" y="5394"/>
                </a:cubicBezTo>
                <a:close/>
              </a:path>
            </a:pathLst>
          </a:custGeom>
          <a:solidFill>
            <a:srgbClr val="D5FFD5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89" name="Shape 289"/>
          <p:cNvSpPr/>
          <p:nvPr/>
        </p:nvSpPr>
        <p:spPr>
          <a:xfrm>
            <a:off x="2731578" y="3959225"/>
            <a:ext cx="578528" cy="6139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81" h="20886" extrusionOk="0">
                <a:moveTo>
                  <a:pt x="3048" y="2700"/>
                </a:moveTo>
                <a:cubicBezTo>
                  <a:pt x="4812" y="540"/>
                  <a:pt x="8338" y="-324"/>
                  <a:pt x="10983" y="108"/>
                </a:cubicBezTo>
                <a:cubicBezTo>
                  <a:pt x="13628" y="540"/>
                  <a:pt x="17595" y="2700"/>
                  <a:pt x="18918" y="5292"/>
                </a:cubicBezTo>
                <a:cubicBezTo>
                  <a:pt x="20240" y="7884"/>
                  <a:pt x="20681" y="13068"/>
                  <a:pt x="18918" y="15660"/>
                </a:cubicBezTo>
                <a:cubicBezTo>
                  <a:pt x="17154" y="18252"/>
                  <a:pt x="11424" y="21276"/>
                  <a:pt x="8338" y="20844"/>
                </a:cubicBezTo>
                <a:cubicBezTo>
                  <a:pt x="5252" y="20412"/>
                  <a:pt x="1726" y="16092"/>
                  <a:pt x="403" y="13068"/>
                </a:cubicBezTo>
                <a:cubicBezTo>
                  <a:pt x="-919" y="10044"/>
                  <a:pt x="1285" y="4860"/>
                  <a:pt x="3048" y="2700"/>
                </a:cubicBezTo>
                <a:close/>
              </a:path>
            </a:pathLst>
          </a:custGeom>
          <a:solidFill>
            <a:srgbClr val="FFFFE9"/>
          </a:solidFill>
          <a:ln>
            <a:solidFill>
              <a:srgbClr val="9933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90" name="Shape 290"/>
          <p:cNvSpPr/>
          <p:nvPr/>
        </p:nvSpPr>
        <p:spPr>
          <a:xfrm>
            <a:off x="3414053" y="3118104"/>
            <a:ext cx="1338720" cy="1537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99" h="20919" extrusionOk="0">
                <a:moveTo>
                  <a:pt x="1409" y="1120"/>
                </a:moveTo>
                <a:cubicBezTo>
                  <a:pt x="2587" y="-435"/>
                  <a:pt x="5337" y="83"/>
                  <a:pt x="7300" y="83"/>
                </a:cubicBezTo>
                <a:cubicBezTo>
                  <a:pt x="9264" y="83"/>
                  <a:pt x="11031" y="-89"/>
                  <a:pt x="13191" y="1120"/>
                </a:cubicBezTo>
                <a:cubicBezTo>
                  <a:pt x="15351" y="2330"/>
                  <a:pt x="19278" y="4749"/>
                  <a:pt x="20260" y="7341"/>
                </a:cubicBezTo>
                <a:cubicBezTo>
                  <a:pt x="21242" y="9933"/>
                  <a:pt x="20457" y="14426"/>
                  <a:pt x="19082" y="16672"/>
                </a:cubicBezTo>
                <a:cubicBezTo>
                  <a:pt x="17707" y="18919"/>
                  <a:pt x="14369" y="20474"/>
                  <a:pt x="12013" y="20819"/>
                </a:cubicBezTo>
                <a:cubicBezTo>
                  <a:pt x="9657" y="21165"/>
                  <a:pt x="6907" y="20647"/>
                  <a:pt x="4944" y="18746"/>
                </a:cubicBezTo>
                <a:cubicBezTo>
                  <a:pt x="2980" y="16845"/>
                  <a:pt x="820" y="12352"/>
                  <a:pt x="231" y="9415"/>
                </a:cubicBezTo>
                <a:cubicBezTo>
                  <a:pt x="-358" y="6477"/>
                  <a:pt x="231" y="2675"/>
                  <a:pt x="1409" y="1120"/>
                </a:cubicBezTo>
                <a:close/>
              </a:path>
            </a:pathLst>
          </a:custGeom>
          <a:solidFill>
            <a:srgbClr val="FFFF95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91" name="Shape 291"/>
          <p:cNvSpPr/>
          <p:nvPr/>
        </p:nvSpPr>
        <p:spPr>
          <a:xfrm>
            <a:off x="3961890" y="3946525"/>
            <a:ext cx="578529" cy="6139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81" h="20886" extrusionOk="0">
                <a:moveTo>
                  <a:pt x="3048" y="2700"/>
                </a:moveTo>
                <a:cubicBezTo>
                  <a:pt x="4812" y="540"/>
                  <a:pt x="8338" y="-324"/>
                  <a:pt x="10983" y="108"/>
                </a:cubicBezTo>
                <a:cubicBezTo>
                  <a:pt x="13628" y="540"/>
                  <a:pt x="17595" y="2700"/>
                  <a:pt x="18918" y="5292"/>
                </a:cubicBezTo>
                <a:cubicBezTo>
                  <a:pt x="20240" y="7884"/>
                  <a:pt x="20681" y="13068"/>
                  <a:pt x="18918" y="15660"/>
                </a:cubicBezTo>
                <a:cubicBezTo>
                  <a:pt x="17154" y="18252"/>
                  <a:pt x="11424" y="21276"/>
                  <a:pt x="8338" y="20844"/>
                </a:cubicBezTo>
                <a:cubicBezTo>
                  <a:pt x="5252" y="20412"/>
                  <a:pt x="1726" y="16092"/>
                  <a:pt x="403" y="13068"/>
                </a:cubicBezTo>
                <a:cubicBezTo>
                  <a:pt x="-919" y="10044"/>
                  <a:pt x="1285" y="4860"/>
                  <a:pt x="3048" y="2700"/>
                </a:cubicBezTo>
                <a:close/>
              </a:path>
            </a:pathLst>
          </a:custGeom>
          <a:solidFill>
            <a:srgbClr val="FFFFE9"/>
          </a:solidFill>
          <a:ln>
            <a:solidFill>
              <a:srgbClr val="8000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343" name="Group 343"/>
          <p:cNvGrpSpPr/>
          <p:nvPr/>
        </p:nvGrpSpPr>
        <p:grpSpPr>
          <a:xfrm>
            <a:off x="2057400" y="1981200"/>
            <a:ext cx="5105400" cy="3200400"/>
            <a:chOff x="0" y="0"/>
            <a:chExt cx="5105400" cy="3200400"/>
          </a:xfrm>
        </p:grpSpPr>
        <p:grpSp>
          <p:nvGrpSpPr>
            <p:cNvPr id="294" name="Group 294"/>
            <p:cNvGrpSpPr/>
            <p:nvPr/>
          </p:nvGrpSpPr>
          <p:grpSpPr>
            <a:xfrm>
              <a:off x="2438400" y="0"/>
              <a:ext cx="381000" cy="381000"/>
              <a:chOff x="0" y="0"/>
              <a:chExt cx="381000" cy="381000"/>
            </a:xfrm>
          </p:grpSpPr>
          <p:sp>
            <p:nvSpPr>
              <p:cNvPr id="292" name="Shape 29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93" name="Shape 293"/>
              <p:cNvSpPr/>
              <p:nvPr/>
            </p:nvSpPr>
            <p:spPr>
              <a:xfrm>
                <a:off x="62136" y="5080"/>
                <a:ext cx="25672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G</a:t>
                </a:r>
              </a:p>
            </p:txBody>
          </p:sp>
        </p:grpSp>
        <p:grpSp>
          <p:nvGrpSpPr>
            <p:cNvPr id="297" name="Group 297"/>
            <p:cNvGrpSpPr/>
            <p:nvPr/>
          </p:nvGrpSpPr>
          <p:grpSpPr>
            <a:xfrm>
              <a:off x="990600" y="685800"/>
              <a:ext cx="381000" cy="381000"/>
              <a:chOff x="0" y="0"/>
              <a:chExt cx="381000" cy="381000"/>
            </a:xfrm>
          </p:grpSpPr>
          <p:sp>
            <p:nvSpPr>
              <p:cNvPr id="295" name="Shape 29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96" name="Shape 296"/>
              <p:cNvSpPr/>
              <p:nvPr/>
            </p:nvSpPr>
            <p:spPr>
              <a:xfrm>
                <a:off x="60909" y="5080"/>
                <a:ext cx="2591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D</a:t>
                </a:r>
              </a:p>
            </p:txBody>
          </p:sp>
        </p:grpSp>
        <p:grpSp>
          <p:nvGrpSpPr>
            <p:cNvPr id="300" name="Group 300"/>
            <p:cNvGrpSpPr/>
            <p:nvPr/>
          </p:nvGrpSpPr>
          <p:grpSpPr>
            <a:xfrm>
              <a:off x="4038600" y="685800"/>
              <a:ext cx="381000" cy="381000"/>
              <a:chOff x="0" y="0"/>
              <a:chExt cx="381000" cy="381000"/>
            </a:xfrm>
          </p:grpSpPr>
          <p:sp>
            <p:nvSpPr>
              <p:cNvPr id="298" name="Shape 29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99" name="Shape 299"/>
              <p:cNvSpPr/>
              <p:nvPr/>
            </p:nvSpPr>
            <p:spPr>
              <a:xfrm>
                <a:off x="71234" y="5080"/>
                <a:ext cx="23853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K</a:t>
                </a:r>
              </a:p>
            </p:txBody>
          </p:sp>
        </p:grpSp>
        <p:grpSp>
          <p:nvGrpSpPr>
            <p:cNvPr id="303" name="Group 303"/>
            <p:cNvGrpSpPr/>
            <p:nvPr/>
          </p:nvGrpSpPr>
          <p:grpSpPr>
            <a:xfrm>
              <a:off x="381000" y="1371600"/>
              <a:ext cx="381000" cy="381000"/>
              <a:chOff x="0" y="0"/>
              <a:chExt cx="381000" cy="381000"/>
            </a:xfrm>
          </p:grpSpPr>
          <p:sp>
            <p:nvSpPr>
              <p:cNvPr id="301" name="Shape 301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02" name="Shape 302"/>
              <p:cNvSpPr/>
              <p:nvPr/>
            </p:nvSpPr>
            <p:spPr>
              <a:xfrm>
                <a:off x="71066" y="5080"/>
                <a:ext cx="23886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B</a:t>
                </a:r>
              </a:p>
            </p:txBody>
          </p:sp>
        </p:grpSp>
        <p:grpSp>
          <p:nvGrpSpPr>
            <p:cNvPr id="306" name="Group 306"/>
            <p:cNvGrpSpPr/>
            <p:nvPr/>
          </p:nvGrpSpPr>
          <p:grpSpPr>
            <a:xfrm>
              <a:off x="1600200" y="1371600"/>
              <a:ext cx="381000" cy="381000"/>
              <a:chOff x="0" y="0"/>
              <a:chExt cx="381000" cy="381000"/>
            </a:xfrm>
          </p:grpSpPr>
          <p:sp>
            <p:nvSpPr>
              <p:cNvPr id="304" name="Shape 30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05" name="Shape 305"/>
              <p:cNvSpPr/>
              <p:nvPr/>
            </p:nvSpPr>
            <p:spPr>
              <a:xfrm>
                <a:off x="74303" y="5080"/>
                <a:ext cx="23239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E</a:t>
                </a:r>
              </a:p>
            </p:txBody>
          </p:sp>
        </p:grpSp>
        <p:grpSp>
          <p:nvGrpSpPr>
            <p:cNvPr id="309" name="Group 309"/>
            <p:cNvGrpSpPr/>
            <p:nvPr/>
          </p:nvGrpSpPr>
          <p:grpSpPr>
            <a:xfrm>
              <a:off x="3505200" y="1371600"/>
              <a:ext cx="381000" cy="381000"/>
              <a:chOff x="0" y="0"/>
              <a:chExt cx="381000" cy="381000"/>
            </a:xfrm>
          </p:grpSpPr>
          <p:sp>
            <p:nvSpPr>
              <p:cNvPr id="307" name="Shape 307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08" name="Shape 308"/>
              <p:cNvSpPr/>
              <p:nvPr/>
            </p:nvSpPr>
            <p:spPr>
              <a:xfrm>
                <a:off x="61244" y="5080"/>
                <a:ext cx="2585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H</a:t>
                </a:r>
              </a:p>
            </p:txBody>
          </p:sp>
        </p:grpSp>
        <p:grpSp>
          <p:nvGrpSpPr>
            <p:cNvPr id="312" name="Group 312"/>
            <p:cNvGrpSpPr/>
            <p:nvPr/>
          </p:nvGrpSpPr>
          <p:grpSpPr>
            <a:xfrm>
              <a:off x="4724400" y="1371600"/>
              <a:ext cx="381000" cy="381000"/>
              <a:chOff x="0" y="0"/>
              <a:chExt cx="381000" cy="381000"/>
            </a:xfrm>
          </p:grpSpPr>
          <p:sp>
            <p:nvSpPr>
              <p:cNvPr id="310" name="Shape 31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11" name="Shape 311"/>
              <p:cNvSpPr/>
              <p:nvPr/>
            </p:nvSpPr>
            <p:spPr>
              <a:xfrm>
                <a:off x="50360" y="5080"/>
                <a:ext cx="28028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M</a:t>
                </a:r>
              </a:p>
            </p:txBody>
          </p:sp>
        </p:grpSp>
        <p:grpSp>
          <p:nvGrpSpPr>
            <p:cNvPr id="315" name="Group 315"/>
            <p:cNvGrpSpPr/>
            <p:nvPr/>
          </p:nvGrpSpPr>
          <p:grpSpPr>
            <a:xfrm>
              <a:off x="0" y="2057400"/>
              <a:ext cx="381000" cy="381000"/>
              <a:chOff x="0" y="0"/>
              <a:chExt cx="381000" cy="381000"/>
            </a:xfrm>
          </p:grpSpPr>
          <p:sp>
            <p:nvSpPr>
              <p:cNvPr id="313" name="Shape 313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14" name="Shape 314"/>
              <p:cNvSpPr/>
              <p:nvPr/>
            </p:nvSpPr>
            <p:spPr>
              <a:xfrm>
                <a:off x="69894" y="5080"/>
                <a:ext cx="2412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A</a:t>
                </a:r>
              </a:p>
            </p:txBody>
          </p:sp>
        </p:grpSp>
        <p:grpSp>
          <p:nvGrpSpPr>
            <p:cNvPr id="318" name="Group 318"/>
            <p:cNvGrpSpPr/>
            <p:nvPr/>
          </p:nvGrpSpPr>
          <p:grpSpPr>
            <a:xfrm>
              <a:off x="762000" y="2057400"/>
              <a:ext cx="381000" cy="381000"/>
              <a:chOff x="0" y="0"/>
              <a:chExt cx="381000" cy="381000"/>
            </a:xfrm>
          </p:grpSpPr>
          <p:sp>
            <p:nvSpPr>
              <p:cNvPr id="316" name="Shape 31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17" name="Shape 317"/>
              <p:cNvSpPr/>
              <p:nvPr/>
            </p:nvSpPr>
            <p:spPr>
              <a:xfrm>
                <a:off x="69783" y="5080"/>
                <a:ext cx="2414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C</a:t>
                </a:r>
              </a:p>
            </p:txBody>
          </p:sp>
        </p:grpSp>
        <p:grpSp>
          <p:nvGrpSpPr>
            <p:cNvPr id="321" name="Group 321"/>
            <p:cNvGrpSpPr/>
            <p:nvPr/>
          </p:nvGrpSpPr>
          <p:grpSpPr>
            <a:xfrm>
              <a:off x="1981200" y="2057400"/>
              <a:ext cx="381000" cy="381000"/>
              <a:chOff x="0" y="0"/>
              <a:chExt cx="381000" cy="381000"/>
            </a:xfrm>
          </p:grpSpPr>
          <p:sp>
            <p:nvSpPr>
              <p:cNvPr id="319" name="Shape 319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20" name="Shape 320"/>
              <p:cNvSpPr/>
              <p:nvPr/>
            </p:nvSpPr>
            <p:spPr>
              <a:xfrm>
                <a:off x="78824" y="5080"/>
                <a:ext cx="22335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F</a:t>
                </a:r>
              </a:p>
            </p:txBody>
          </p:sp>
        </p:grpSp>
        <p:grpSp>
          <p:nvGrpSpPr>
            <p:cNvPr id="324" name="Group 324"/>
            <p:cNvGrpSpPr/>
            <p:nvPr/>
          </p:nvGrpSpPr>
          <p:grpSpPr>
            <a:xfrm>
              <a:off x="2971800" y="2057400"/>
              <a:ext cx="381000" cy="381000"/>
              <a:chOff x="0" y="0"/>
              <a:chExt cx="381000" cy="381000"/>
            </a:xfrm>
          </p:grpSpPr>
          <p:sp>
            <p:nvSpPr>
              <p:cNvPr id="322" name="Shape 32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23" name="Shape 323"/>
              <p:cNvSpPr/>
              <p:nvPr/>
            </p:nvSpPr>
            <p:spPr>
              <a:xfrm>
                <a:off x="90823" y="5080"/>
                <a:ext cx="19935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J</a:t>
                </a:r>
              </a:p>
            </p:txBody>
          </p:sp>
        </p:grpSp>
        <p:grpSp>
          <p:nvGrpSpPr>
            <p:cNvPr id="327" name="Group 327"/>
            <p:cNvGrpSpPr/>
            <p:nvPr/>
          </p:nvGrpSpPr>
          <p:grpSpPr>
            <a:xfrm>
              <a:off x="2438400" y="2819400"/>
              <a:ext cx="381000" cy="381000"/>
              <a:chOff x="0" y="0"/>
              <a:chExt cx="381000" cy="381000"/>
            </a:xfrm>
          </p:grpSpPr>
          <p:sp>
            <p:nvSpPr>
              <p:cNvPr id="325" name="Shape 32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26" name="Shape 326"/>
              <p:cNvSpPr/>
              <p:nvPr/>
            </p:nvSpPr>
            <p:spPr>
              <a:xfrm>
                <a:off x="95790" y="5080"/>
                <a:ext cx="18942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I</a:t>
                </a:r>
              </a:p>
            </p:txBody>
          </p:sp>
        </p:grpSp>
        <p:grpSp>
          <p:nvGrpSpPr>
            <p:cNvPr id="330" name="Group 330"/>
            <p:cNvGrpSpPr/>
            <p:nvPr/>
          </p:nvGrpSpPr>
          <p:grpSpPr>
            <a:xfrm>
              <a:off x="4191000" y="2057400"/>
              <a:ext cx="381000" cy="381000"/>
              <a:chOff x="0" y="0"/>
              <a:chExt cx="381000" cy="381000"/>
            </a:xfrm>
          </p:grpSpPr>
          <p:sp>
            <p:nvSpPr>
              <p:cNvPr id="328" name="Shape 32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29" name="Shape 329"/>
              <p:cNvSpPr/>
              <p:nvPr/>
            </p:nvSpPr>
            <p:spPr>
              <a:xfrm>
                <a:off x="81559" y="5080"/>
                <a:ext cx="2178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L</a:t>
                </a:r>
              </a:p>
            </p:txBody>
          </p:sp>
        </p:grpSp>
        <p:sp>
          <p:nvSpPr>
            <p:cNvPr id="331" name="Shape 331"/>
            <p:cNvSpPr/>
            <p:nvPr/>
          </p:nvSpPr>
          <p:spPr>
            <a:xfrm flipH="1">
              <a:off x="1181099" y="190500"/>
              <a:ext cx="1257301" cy="4953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2" name="Shape 332"/>
            <p:cNvSpPr/>
            <p:nvPr/>
          </p:nvSpPr>
          <p:spPr>
            <a:xfrm>
              <a:off x="2819400" y="190499"/>
              <a:ext cx="1409700" cy="4953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3" name="Shape 333"/>
            <p:cNvSpPr/>
            <p:nvPr/>
          </p:nvSpPr>
          <p:spPr>
            <a:xfrm flipH="1">
              <a:off x="706437" y="101123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4" name="Shape 334"/>
            <p:cNvSpPr/>
            <p:nvPr/>
          </p:nvSpPr>
          <p:spPr>
            <a:xfrm>
              <a:off x="1316037" y="101123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5" name="Shape 335"/>
            <p:cNvSpPr/>
            <p:nvPr/>
          </p:nvSpPr>
          <p:spPr>
            <a:xfrm flipH="1">
              <a:off x="3830637" y="101123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6" name="Shape 336"/>
            <p:cNvSpPr/>
            <p:nvPr/>
          </p:nvSpPr>
          <p:spPr>
            <a:xfrm>
              <a:off x="4364037" y="1011237"/>
              <a:ext cx="4159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7" name="Shape 337"/>
            <p:cNvSpPr/>
            <p:nvPr/>
          </p:nvSpPr>
          <p:spPr>
            <a:xfrm flipH="1">
              <a:off x="190499" y="1697037"/>
              <a:ext cx="246064" cy="360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8" name="Shape 338"/>
            <p:cNvSpPr/>
            <p:nvPr/>
          </p:nvSpPr>
          <p:spPr>
            <a:xfrm>
              <a:off x="706437" y="1697037"/>
              <a:ext cx="246064" cy="360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9" name="Shape 339"/>
            <p:cNvSpPr/>
            <p:nvPr/>
          </p:nvSpPr>
          <p:spPr>
            <a:xfrm>
              <a:off x="1925637" y="1697037"/>
              <a:ext cx="246064" cy="360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40" name="Shape 340"/>
            <p:cNvSpPr/>
            <p:nvPr/>
          </p:nvSpPr>
          <p:spPr>
            <a:xfrm flipH="1">
              <a:off x="3297237" y="169703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41" name="Shape 341"/>
            <p:cNvSpPr/>
            <p:nvPr/>
          </p:nvSpPr>
          <p:spPr>
            <a:xfrm flipH="1">
              <a:off x="2763837" y="2382837"/>
              <a:ext cx="263526" cy="4921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42" name="Shape 342"/>
            <p:cNvSpPr/>
            <p:nvPr/>
          </p:nvSpPr>
          <p:spPr>
            <a:xfrm flipH="1">
              <a:off x="4516437" y="169703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348" name="Group 348"/>
          <p:cNvGrpSpPr/>
          <p:nvPr/>
        </p:nvGrpSpPr>
        <p:grpSpPr>
          <a:xfrm>
            <a:off x="4495800" y="1981200"/>
            <a:ext cx="381000" cy="713741"/>
            <a:chOff x="0" y="0"/>
            <a:chExt cx="381000" cy="713740"/>
          </a:xfrm>
        </p:grpSpPr>
        <p:grpSp>
          <p:nvGrpSpPr>
            <p:cNvPr id="346" name="Group 34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44" name="Shape 34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190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45" name="Shape 345"/>
              <p:cNvSpPr/>
              <p:nvPr/>
            </p:nvSpPr>
            <p:spPr>
              <a:xfrm>
                <a:off x="62136" y="5080"/>
                <a:ext cx="25672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G</a:t>
                </a:r>
              </a:p>
            </p:txBody>
          </p:sp>
        </p:grpSp>
        <p:sp>
          <p:nvSpPr>
            <p:cNvPr id="347" name="Shape 347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</a:t>
              </a:r>
            </a:p>
          </p:txBody>
        </p:sp>
      </p:grpSp>
      <p:grpSp>
        <p:nvGrpSpPr>
          <p:cNvPr id="353" name="Group 353"/>
          <p:cNvGrpSpPr/>
          <p:nvPr/>
        </p:nvGrpSpPr>
        <p:grpSpPr>
          <a:xfrm>
            <a:off x="3048000" y="2667000"/>
            <a:ext cx="381000" cy="713741"/>
            <a:chOff x="0" y="0"/>
            <a:chExt cx="381000" cy="713740"/>
          </a:xfrm>
        </p:grpSpPr>
        <p:grpSp>
          <p:nvGrpSpPr>
            <p:cNvPr id="351" name="Group 351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49" name="Shape 349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50" name="Shape 350"/>
              <p:cNvSpPr/>
              <p:nvPr/>
            </p:nvSpPr>
            <p:spPr>
              <a:xfrm>
                <a:off x="60909" y="5080"/>
                <a:ext cx="2591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D</a:t>
                </a:r>
              </a:p>
            </p:txBody>
          </p:sp>
        </p:grpSp>
        <p:sp>
          <p:nvSpPr>
            <p:cNvPr id="352" name="Shape 352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2</a:t>
              </a:r>
            </a:p>
          </p:txBody>
        </p:sp>
      </p:grpSp>
      <p:grpSp>
        <p:nvGrpSpPr>
          <p:cNvPr id="358" name="Group 358"/>
          <p:cNvGrpSpPr/>
          <p:nvPr/>
        </p:nvGrpSpPr>
        <p:grpSpPr>
          <a:xfrm>
            <a:off x="2438400" y="3352800"/>
            <a:ext cx="381000" cy="713741"/>
            <a:chOff x="0" y="0"/>
            <a:chExt cx="381000" cy="713740"/>
          </a:xfrm>
        </p:grpSpPr>
        <p:grpSp>
          <p:nvGrpSpPr>
            <p:cNvPr id="356" name="Group 35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54" name="Shape 35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55" name="Shape 355"/>
              <p:cNvSpPr/>
              <p:nvPr/>
            </p:nvSpPr>
            <p:spPr>
              <a:xfrm>
                <a:off x="71066" y="5080"/>
                <a:ext cx="23886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B</a:t>
                </a:r>
              </a:p>
            </p:txBody>
          </p:sp>
        </p:grpSp>
        <p:sp>
          <p:nvSpPr>
            <p:cNvPr id="357" name="Shape 357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3</a:t>
              </a:r>
            </a:p>
          </p:txBody>
        </p:sp>
      </p:grpSp>
      <p:grpSp>
        <p:nvGrpSpPr>
          <p:cNvPr id="363" name="Group 363"/>
          <p:cNvGrpSpPr/>
          <p:nvPr/>
        </p:nvGrpSpPr>
        <p:grpSpPr>
          <a:xfrm>
            <a:off x="2057400" y="4038600"/>
            <a:ext cx="381000" cy="713741"/>
            <a:chOff x="0" y="0"/>
            <a:chExt cx="381000" cy="713740"/>
          </a:xfrm>
        </p:grpSpPr>
        <p:grpSp>
          <p:nvGrpSpPr>
            <p:cNvPr id="361" name="Group 361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59" name="Shape 359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60" name="Shape 360"/>
              <p:cNvSpPr/>
              <p:nvPr/>
            </p:nvSpPr>
            <p:spPr>
              <a:xfrm>
                <a:off x="69894" y="5080"/>
                <a:ext cx="2412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A</a:t>
                </a:r>
              </a:p>
            </p:txBody>
          </p:sp>
        </p:grpSp>
        <p:sp>
          <p:nvSpPr>
            <p:cNvPr id="362" name="Shape 362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4</a:t>
              </a:r>
            </a:p>
          </p:txBody>
        </p:sp>
      </p:grpSp>
      <p:grpSp>
        <p:nvGrpSpPr>
          <p:cNvPr id="368" name="Group 368"/>
          <p:cNvGrpSpPr/>
          <p:nvPr/>
        </p:nvGrpSpPr>
        <p:grpSpPr>
          <a:xfrm>
            <a:off x="2819400" y="4038600"/>
            <a:ext cx="381000" cy="713741"/>
            <a:chOff x="0" y="0"/>
            <a:chExt cx="381000" cy="713740"/>
          </a:xfrm>
        </p:grpSpPr>
        <p:grpSp>
          <p:nvGrpSpPr>
            <p:cNvPr id="366" name="Group 36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64" name="Shape 36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65" name="Shape 365"/>
              <p:cNvSpPr/>
              <p:nvPr/>
            </p:nvSpPr>
            <p:spPr>
              <a:xfrm>
                <a:off x="69783" y="5080"/>
                <a:ext cx="2414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C</a:t>
                </a:r>
              </a:p>
            </p:txBody>
          </p:sp>
        </p:grpSp>
        <p:sp>
          <p:nvSpPr>
            <p:cNvPr id="367" name="Shape 367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5</a:t>
              </a:r>
            </a:p>
          </p:txBody>
        </p:sp>
      </p:grpSp>
      <p:grpSp>
        <p:nvGrpSpPr>
          <p:cNvPr id="373" name="Group 373"/>
          <p:cNvGrpSpPr/>
          <p:nvPr/>
        </p:nvGrpSpPr>
        <p:grpSpPr>
          <a:xfrm>
            <a:off x="3657600" y="3352800"/>
            <a:ext cx="381000" cy="713741"/>
            <a:chOff x="0" y="0"/>
            <a:chExt cx="381000" cy="713740"/>
          </a:xfrm>
        </p:grpSpPr>
        <p:grpSp>
          <p:nvGrpSpPr>
            <p:cNvPr id="371" name="Group 371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69" name="Shape 369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70" name="Shape 370"/>
              <p:cNvSpPr/>
              <p:nvPr/>
            </p:nvSpPr>
            <p:spPr>
              <a:xfrm>
                <a:off x="74303" y="5080"/>
                <a:ext cx="23239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E</a:t>
                </a:r>
              </a:p>
            </p:txBody>
          </p:sp>
        </p:grpSp>
        <p:sp>
          <p:nvSpPr>
            <p:cNvPr id="372" name="Shape 372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6</a:t>
              </a:r>
            </a:p>
          </p:txBody>
        </p:sp>
      </p:grpSp>
      <p:grpSp>
        <p:nvGrpSpPr>
          <p:cNvPr id="378" name="Group 378"/>
          <p:cNvGrpSpPr/>
          <p:nvPr/>
        </p:nvGrpSpPr>
        <p:grpSpPr>
          <a:xfrm>
            <a:off x="4038600" y="4038600"/>
            <a:ext cx="381000" cy="713741"/>
            <a:chOff x="0" y="0"/>
            <a:chExt cx="381000" cy="713740"/>
          </a:xfrm>
        </p:grpSpPr>
        <p:grpSp>
          <p:nvGrpSpPr>
            <p:cNvPr id="376" name="Group 37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74" name="Shape 37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75" name="Shape 375"/>
              <p:cNvSpPr/>
              <p:nvPr/>
            </p:nvSpPr>
            <p:spPr>
              <a:xfrm>
                <a:off x="78824" y="5080"/>
                <a:ext cx="22335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F</a:t>
                </a:r>
              </a:p>
            </p:txBody>
          </p:sp>
        </p:grpSp>
        <p:sp>
          <p:nvSpPr>
            <p:cNvPr id="377" name="Shape 377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7</a:t>
              </a:r>
            </a:p>
          </p:txBody>
        </p:sp>
      </p:grpSp>
      <p:grpSp>
        <p:nvGrpSpPr>
          <p:cNvPr id="381" name="Group 381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379" name="Shape 379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80" name="Shape 380"/>
            <p:cNvSpPr/>
            <p:nvPr/>
          </p:nvSpPr>
          <p:spPr>
            <a:xfrm>
              <a:off x="0" y="-1"/>
              <a:ext cx="2034590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</a:t>
              </a:r>
            </a:p>
          </p:txBody>
        </p:sp>
      </p:grpSp>
      <p:grpSp>
        <p:nvGrpSpPr>
          <p:cNvPr id="386" name="Group 386"/>
          <p:cNvGrpSpPr/>
          <p:nvPr/>
        </p:nvGrpSpPr>
        <p:grpSpPr>
          <a:xfrm>
            <a:off x="6096000" y="2667000"/>
            <a:ext cx="381000" cy="713741"/>
            <a:chOff x="0" y="0"/>
            <a:chExt cx="381000" cy="713740"/>
          </a:xfrm>
        </p:grpSpPr>
        <p:grpSp>
          <p:nvGrpSpPr>
            <p:cNvPr id="384" name="Group 384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82" name="Shape 38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83" name="Shape 383"/>
              <p:cNvSpPr/>
              <p:nvPr/>
            </p:nvSpPr>
            <p:spPr>
              <a:xfrm>
                <a:off x="71234" y="5080"/>
                <a:ext cx="23853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K</a:t>
                </a:r>
              </a:p>
            </p:txBody>
          </p:sp>
        </p:grpSp>
        <p:sp>
          <p:nvSpPr>
            <p:cNvPr id="385" name="Shape 385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8</a:t>
              </a:r>
            </a:p>
          </p:txBody>
        </p:sp>
      </p:grpSp>
      <p:grpSp>
        <p:nvGrpSpPr>
          <p:cNvPr id="389" name="Group 389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387" name="Shape 387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88" name="Shape 388"/>
            <p:cNvSpPr/>
            <p:nvPr/>
          </p:nvSpPr>
          <p:spPr>
            <a:xfrm>
              <a:off x="0" y="-1"/>
              <a:ext cx="232450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</a:t>
              </a:r>
            </a:p>
          </p:txBody>
        </p:sp>
      </p:grpSp>
      <p:grpSp>
        <p:nvGrpSpPr>
          <p:cNvPr id="394" name="Group 394"/>
          <p:cNvGrpSpPr/>
          <p:nvPr/>
        </p:nvGrpSpPr>
        <p:grpSpPr>
          <a:xfrm>
            <a:off x="5562600" y="3352800"/>
            <a:ext cx="381000" cy="713741"/>
            <a:chOff x="0" y="0"/>
            <a:chExt cx="381000" cy="713740"/>
          </a:xfrm>
        </p:grpSpPr>
        <p:grpSp>
          <p:nvGrpSpPr>
            <p:cNvPr id="392" name="Group 392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90" name="Shape 39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91" name="Shape 391"/>
              <p:cNvSpPr/>
              <p:nvPr/>
            </p:nvSpPr>
            <p:spPr>
              <a:xfrm>
                <a:off x="90823" y="5080"/>
                <a:ext cx="19935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J</a:t>
                </a:r>
              </a:p>
            </p:txBody>
          </p:sp>
        </p:grpSp>
        <p:sp>
          <p:nvSpPr>
            <p:cNvPr id="393" name="Shape 393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9</a:t>
              </a:r>
            </a:p>
          </p:txBody>
        </p:sp>
      </p:grpSp>
      <p:grpSp>
        <p:nvGrpSpPr>
          <p:cNvPr id="397" name="Group 397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395" name="Shape 395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96" name="Shape 396"/>
            <p:cNvSpPr/>
            <p:nvPr/>
          </p:nvSpPr>
          <p:spPr>
            <a:xfrm>
              <a:off x="0" y="-1"/>
              <a:ext cx="262558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G-D-B-A-C-E-F-K-H</a:t>
              </a:r>
            </a:p>
          </p:txBody>
        </p:sp>
      </p:grpSp>
      <p:grpSp>
        <p:nvGrpSpPr>
          <p:cNvPr id="402" name="Group 402"/>
          <p:cNvGrpSpPr/>
          <p:nvPr/>
        </p:nvGrpSpPr>
        <p:grpSpPr>
          <a:xfrm>
            <a:off x="5029200" y="4038600"/>
            <a:ext cx="381000" cy="713741"/>
            <a:chOff x="0" y="0"/>
            <a:chExt cx="381000" cy="713740"/>
          </a:xfrm>
        </p:grpSpPr>
        <p:grpSp>
          <p:nvGrpSpPr>
            <p:cNvPr id="400" name="Group 400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98" name="Shape 39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99" name="Shape 399"/>
              <p:cNvSpPr/>
              <p:nvPr/>
            </p:nvSpPr>
            <p:spPr>
              <a:xfrm>
                <a:off x="95790" y="5080"/>
                <a:ext cx="18942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I</a:t>
                </a:r>
              </a:p>
            </p:txBody>
          </p:sp>
        </p:grpSp>
        <p:sp>
          <p:nvSpPr>
            <p:cNvPr id="401" name="Shape 401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10</a:t>
              </a:r>
            </a:p>
          </p:txBody>
        </p:sp>
      </p:grpSp>
      <p:grpSp>
        <p:nvGrpSpPr>
          <p:cNvPr id="405" name="Group 405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403" name="Shape 403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04" name="Shape 404"/>
            <p:cNvSpPr/>
            <p:nvPr/>
          </p:nvSpPr>
          <p:spPr>
            <a:xfrm>
              <a:off x="0" y="-1"/>
              <a:ext cx="284927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G-D-B-A-C-E-F-K-H-J</a:t>
              </a:r>
            </a:p>
          </p:txBody>
        </p:sp>
      </p:grpSp>
      <p:grpSp>
        <p:nvGrpSpPr>
          <p:cNvPr id="410" name="Group 410"/>
          <p:cNvGrpSpPr/>
          <p:nvPr/>
        </p:nvGrpSpPr>
        <p:grpSpPr>
          <a:xfrm>
            <a:off x="4495800" y="4800600"/>
            <a:ext cx="381000" cy="713741"/>
            <a:chOff x="0" y="0"/>
            <a:chExt cx="381000" cy="713740"/>
          </a:xfrm>
        </p:grpSpPr>
        <p:grpSp>
          <p:nvGrpSpPr>
            <p:cNvPr id="408" name="Group 408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406" name="Shape 40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07" name="Shape 407"/>
              <p:cNvSpPr/>
              <p:nvPr/>
            </p:nvSpPr>
            <p:spPr>
              <a:xfrm>
                <a:off x="61244" y="5080"/>
                <a:ext cx="2585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H</a:t>
                </a:r>
              </a:p>
            </p:txBody>
          </p:sp>
        </p:grpSp>
        <p:sp>
          <p:nvSpPr>
            <p:cNvPr id="409" name="Shape 409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11</a:t>
              </a:r>
            </a:p>
          </p:txBody>
        </p:sp>
      </p:grpSp>
      <p:grpSp>
        <p:nvGrpSpPr>
          <p:cNvPr id="413" name="Group 413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411" name="Shape 411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12" name="Shape 412"/>
            <p:cNvSpPr/>
            <p:nvPr/>
          </p:nvSpPr>
          <p:spPr>
            <a:xfrm>
              <a:off x="0" y="-1"/>
              <a:ext cx="3069392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G-D-B-A-C-E-F-K-H-J-I</a:t>
              </a:r>
            </a:p>
          </p:txBody>
        </p:sp>
      </p:grpSp>
      <p:grpSp>
        <p:nvGrpSpPr>
          <p:cNvPr id="418" name="Group 418"/>
          <p:cNvGrpSpPr/>
          <p:nvPr/>
        </p:nvGrpSpPr>
        <p:grpSpPr>
          <a:xfrm>
            <a:off x="6781800" y="3352800"/>
            <a:ext cx="381000" cy="713741"/>
            <a:chOff x="0" y="0"/>
            <a:chExt cx="381000" cy="713740"/>
          </a:xfrm>
        </p:grpSpPr>
        <p:grpSp>
          <p:nvGrpSpPr>
            <p:cNvPr id="416" name="Group 41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414" name="Shape 41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15" name="Shape 415"/>
              <p:cNvSpPr/>
              <p:nvPr/>
            </p:nvSpPr>
            <p:spPr>
              <a:xfrm>
                <a:off x="50360" y="5080"/>
                <a:ext cx="28028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M</a:t>
                </a:r>
              </a:p>
            </p:txBody>
          </p:sp>
        </p:grpSp>
        <p:sp>
          <p:nvSpPr>
            <p:cNvPr id="417" name="Shape 417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12</a:t>
              </a:r>
            </a:p>
          </p:txBody>
        </p:sp>
      </p:grpSp>
      <p:grpSp>
        <p:nvGrpSpPr>
          <p:cNvPr id="421" name="Group 421"/>
          <p:cNvGrpSpPr/>
          <p:nvPr/>
        </p:nvGrpSpPr>
        <p:grpSpPr>
          <a:xfrm>
            <a:off x="912812" y="5828029"/>
            <a:ext cx="6402388" cy="459741"/>
            <a:chOff x="0" y="0"/>
            <a:chExt cx="6402387" cy="459740"/>
          </a:xfrm>
        </p:grpSpPr>
        <p:sp>
          <p:nvSpPr>
            <p:cNvPr id="419" name="Shape 419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20" name="Shape 420"/>
            <p:cNvSpPr/>
            <p:nvPr/>
          </p:nvSpPr>
          <p:spPr>
            <a:xfrm>
              <a:off x="0" y="-1"/>
              <a:ext cx="341065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G-D-B-A-C-E-F-K-H-J-I-M</a:t>
              </a:r>
            </a:p>
          </p:txBody>
        </p:sp>
      </p:grpSp>
      <p:grpSp>
        <p:nvGrpSpPr>
          <p:cNvPr id="426" name="Group 426"/>
          <p:cNvGrpSpPr/>
          <p:nvPr/>
        </p:nvGrpSpPr>
        <p:grpSpPr>
          <a:xfrm>
            <a:off x="6248400" y="4038600"/>
            <a:ext cx="381000" cy="713741"/>
            <a:chOff x="0" y="0"/>
            <a:chExt cx="381000" cy="713740"/>
          </a:xfrm>
        </p:grpSpPr>
        <p:grpSp>
          <p:nvGrpSpPr>
            <p:cNvPr id="424" name="Group 424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422" name="Shape 42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23" name="Shape 423"/>
              <p:cNvSpPr/>
              <p:nvPr/>
            </p:nvSpPr>
            <p:spPr>
              <a:xfrm>
                <a:off x="81559" y="5080"/>
                <a:ext cx="2178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L</a:t>
                </a:r>
              </a:p>
            </p:txBody>
          </p:sp>
        </p:grpSp>
        <p:sp>
          <p:nvSpPr>
            <p:cNvPr id="425" name="Shape 425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13</a:t>
              </a:r>
            </a:p>
          </p:txBody>
        </p:sp>
      </p:grpSp>
      <p:grpSp>
        <p:nvGrpSpPr>
          <p:cNvPr id="429" name="Group 429"/>
          <p:cNvGrpSpPr/>
          <p:nvPr/>
        </p:nvGrpSpPr>
        <p:grpSpPr>
          <a:xfrm>
            <a:off x="912812" y="5835966"/>
            <a:ext cx="6402389" cy="459742"/>
            <a:chOff x="0" y="-1"/>
            <a:chExt cx="6402388" cy="459741"/>
          </a:xfrm>
        </p:grpSpPr>
        <p:sp>
          <p:nvSpPr>
            <p:cNvPr id="427" name="Shape 427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28" name="Shape 428"/>
            <p:cNvSpPr/>
            <p:nvPr/>
          </p:nvSpPr>
          <p:spPr>
            <a:xfrm>
              <a:off x="0" y="-1"/>
              <a:ext cx="3673039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 dirty="0"/>
                <a:t>G-D-B-A-C-E-F-K-H-J-I-M-L</a:t>
              </a:r>
            </a:p>
          </p:txBody>
        </p:sp>
      </p:grpSp>
      <p:grpSp>
        <p:nvGrpSpPr>
          <p:cNvPr id="436" name="Group 436"/>
          <p:cNvGrpSpPr/>
          <p:nvPr/>
        </p:nvGrpSpPr>
        <p:grpSpPr>
          <a:xfrm>
            <a:off x="2937413" y="47595"/>
            <a:ext cx="5215479" cy="1206531"/>
            <a:chOff x="0" y="0"/>
            <a:chExt cx="5215478" cy="1206530"/>
          </a:xfrm>
        </p:grpSpPr>
        <p:sp>
          <p:nvSpPr>
            <p:cNvPr id="430" name="Shape 430"/>
            <p:cNvSpPr/>
            <p:nvPr/>
          </p:nvSpPr>
          <p:spPr>
            <a:xfrm>
              <a:off x="945577" y="-1"/>
              <a:ext cx="4269902" cy="11428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4" h="20623" extrusionOk="0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6" y="15729"/>
                    <a:pt x="18406" y="15039"/>
                    <a:pt x="18406" y="1433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1" name="Shape 431"/>
            <p:cNvSpPr/>
            <p:nvPr/>
          </p:nvSpPr>
          <p:spPr>
            <a:xfrm>
              <a:off x="667641" y="895274"/>
              <a:ext cx="711730" cy="190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10800" y="0"/>
                  </a:ln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2" name="Shape 432"/>
            <p:cNvSpPr/>
            <p:nvPr/>
          </p:nvSpPr>
          <p:spPr>
            <a:xfrm>
              <a:off x="239417" y="1038360"/>
              <a:ext cx="474487" cy="127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3" name="Shape 433"/>
            <p:cNvSpPr/>
            <p:nvPr/>
          </p:nvSpPr>
          <p:spPr>
            <a:xfrm>
              <a:off x="0" y="1143030"/>
              <a:ext cx="237244" cy="63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4" name="Shape 434"/>
            <p:cNvSpPr/>
            <p:nvPr/>
          </p:nvSpPr>
          <p:spPr>
            <a:xfrm>
              <a:off x="1158070" y="61696"/>
              <a:ext cx="3917391" cy="972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270"/>
                  </a:moveTo>
                  <a:cubicBezTo>
                    <a:pt x="19208" y="14502"/>
                    <a:pt x="18520" y="12889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5" name="Shape 435"/>
            <p:cNvSpPr/>
            <p:nvPr/>
          </p:nvSpPr>
          <p:spPr>
            <a:xfrm>
              <a:off x="1534171" y="137375"/>
              <a:ext cx="2680257" cy="815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/>
            <a:p>
              <a:pPr lvl="0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1. Visitar raiz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2. Preorden al Subarbol Izq.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3. Preorden al Subarbol Der.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971457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6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 animBg="1" advAuto="0"/>
      <p:bldP spid="263" grpId="0" animBg="1" advAuto="0"/>
      <p:bldP spid="264" grpId="0" animBg="1" advAuto="0"/>
      <p:bldP spid="265" grpId="0" animBg="1" advAuto="0"/>
      <p:bldP spid="266" grpId="0" animBg="1" advAuto="0"/>
      <p:bldP spid="267" grpId="0" animBg="1" advAuto="0"/>
      <p:bldP spid="270" grpId="0" animBg="1" advAuto="0"/>
      <p:bldP spid="273" grpId="0" animBg="1" advAuto="0"/>
      <p:bldP spid="276" grpId="0" animBg="1" advAuto="0"/>
      <p:bldP spid="279" grpId="0" animBg="1" advAuto="0"/>
      <p:bldP spid="282" grpId="0" animBg="1" advAuto="0"/>
      <p:bldP spid="285" grpId="0" animBg="1" advAuto="0"/>
      <p:bldP spid="286" grpId="0" animBg="1" advAuto="0"/>
      <p:bldP spid="287" grpId="0" animBg="1" advAuto="0"/>
      <p:bldP spid="288" grpId="0" animBg="1" advAuto="0"/>
      <p:bldP spid="289" grpId="0" animBg="1" advAuto="0"/>
      <p:bldP spid="290" grpId="0" animBg="1" advAuto="0"/>
      <p:bldP spid="291" grpId="0" animBg="1" advAuto="0"/>
      <p:bldP spid="343" grpId="0" animBg="1" advAuto="0"/>
      <p:bldP spid="348" grpId="0" animBg="1" advAuto="0"/>
      <p:bldP spid="353" grpId="0" animBg="1" advAuto="0"/>
      <p:bldP spid="358" grpId="0" animBg="1" advAuto="0"/>
      <p:bldP spid="363" grpId="0" animBg="1" advAuto="0"/>
      <p:bldP spid="368" grpId="0" animBg="1" advAuto="0"/>
      <p:bldP spid="373" grpId="0" animBg="1" advAuto="0"/>
      <p:bldP spid="378" grpId="0" animBg="1" advAuto="0"/>
      <p:bldP spid="381" grpId="0" animBg="1" advAuto="0"/>
      <p:bldP spid="386" grpId="0" animBg="1" advAuto="0"/>
      <p:bldP spid="389" grpId="0" animBg="1" advAuto="0"/>
      <p:bldP spid="394" grpId="0" animBg="1" advAuto="0"/>
      <p:bldP spid="397" grpId="0" animBg="1" advAuto="0"/>
      <p:bldP spid="402" grpId="0" animBg="1" advAuto="0"/>
      <p:bldP spid="405" grpId="0" animBg="1" advAuto="0"/>
      <p:bldP spid="410" grpId="0" animBg="1" advAuto="0"/>
      <p:bldP spid="413" grpId="0" animBg="1" advAuto="0"/>
      <p:bldP spid="418" grpId="0" animBg="1" advAuto="0"/>
      <p:bldP spid="421" grpId="0" animBg="1" advAuto="0"/>
      <p:bldP spid="426" grpId="0" animBg="1" advAuto="0"/>
      <p:bldP spid="429" grpId="0" animBg="1" advAuto="0"/>
      <p:bldP spid="436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>
            <a:spLocks noGrp="1"/>
          </p:cNvSpPr>
          <p:nvPr>
            <p:ph type="title" idx="4294967295"/>
          </p:nvPr>
        </p:nvSpPr>
        <p:spPr>
          <a:xfrm>
            <a:off x="381000" y="404812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841247">
              <a:defRPr sz="4048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048" i="1" dirty="0">
                <a:solidFill>
                  <a:srgbClr val="008080"/>
                </a:solidFill>
              </a:rPr>
              <a:t>RECORRIDOS: IMPLEMENTACION</a:t>
            </a:r>
          </a:p>
        </p:txBody>
      </p:sp>
      <p:sp>
        <p:nvSpPr>
          <p:cNvPr id="607" name="Shape 607"/>
          <p:cNvSpPr>
            <a:spLocks noGrp="1"/>
          </p:cNvSpPr>
          <p:nvPr>
            <p:ph type="body" idx="4294967295"/>
          </p:nvPr>
        </p:nvSpPr>
        <p:spPr>
          <a:xfrm>
            <a:off x="457200" y="1700212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Como </a:t>
            </a:r>
            <a:r>
              <a:rPr sz="2400" dirty="0" err="1">
                <a:solidFill>
                  <a:srgbClr val="002850"/>
                </a:solidFill>
              </a:rPr>
              <a:t>ya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revisamos</a:t>
            </a:r>
            <a:r>
              <a:rPr sz="2400" dirty="0">
                <a:solidFill>
                  <a:srgbClr val="002850"/>
                </a:solidFill>
              </a:rPr>
              <a:t>, las </a:t>
            </a:r>
            <a:r>
              <a:rPr sz="2400" dirty="0" err="1">
                <a:solidFill>
                  <a:srgbClr val="002850"/>
                </a:solidFill>
              </a:rPr>
              <a:t>operaciones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recorrido</a:t>
            </a:r>
            <a:r>
              <a:rPr sz="2400" dirty="0">
                <a:solidFill>
                  <a:srgbClr val="002850"/>
                </a:solidFill>
              </a:rPr>
              <a:t> son </a:t>
            </a:r>
            <a:r>
              <a:rPr sz="2400" dirty="0" err="1">
                <a:solidFill>
                  <a:srgbClr val="002850"/>
                </a:solidFill>
              </a:rPr>
              <a:t>recursivas</a:t>
            </a:r>
            <a:endParaRPr sz="24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Ejemplo</a:t>
            </a:r>
            <a:r>
              <a:rPr sz="2400" dirty="0">
                <a:solidFill>
                  <a:srgbClr val="002850"/>
                </a:solidFill>
              </a:rPr>
              <a:t>: </a:t>
            </a:r>
            <a:r>
              <a:rPr sz="2400" dirty="0" err="1">
                <a:solidFill>
                  <a:srgbClr val="002850"/>
                </a:solidFill>
              </a:rPr>
              <a:t>EnOrden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Recorrer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EnOrden</a:t>
            </a:r>
            <a:r>
              <a:rPr sz="2000" dirty="0">
                <a:solidFill>
                  <a:srgbClr val="002850"/>
                </a:solidFill>
              </a:rPr>
              <a:t> al </a:t>
            </a:r>
            <a:r>
              <a:rPr sz="2000" dirty="0" err="1">
                <a:solidFill>
                  <a:srgbClr val="002850"/>
                </a:solidFill>
              </a:rPr>
              <a:t>subarbol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izquierdo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Visitar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raiz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Recorrer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EnOrden</a:t>
            </a:r>
            <a:r>
              <a:rPr sz="2000" dirty="0">
                <a:solidFill>
                  <a:srgbClr val="002850"/>
                </a:solidFill>
              </a:rPr>
              <a:t> al </a:t>
            </a:r>
            <a:r>
              <a:rPr sz="2000" dirty="0" err="1">
                <a:solidFill>
                  <a:srgbClr val="002850"/>
                </a:solidFill>
              </a:rPr>
              <a:t>subarbol</a:t>
            </a:r>
            <a:r>
              <a:rPr sz="2000" dirty="0">
                <a:solidFill>
                  <a:srgbClr val="002850"/>
                </a:solidFill>
              </a:rPr>
              <a:t> derecho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todo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algoritmo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recursivo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debemos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buscar</a:t>
            </a:r>
            <a:r>
              <a:rPr sz="2400" dirty="0">
                <a:solidFill>
                  <a:srgbClr val="002850"/>
                </a:solidFill>
              </a:rPr>
              <a:t> dos </a:t>
            </a:r>
            <a:r>
              <a:rPr sz="2400" dirty="0" err="1">
                <a:solidFill>
                  <a:srgbClr val="002850"/>
                </a:solidFill>
              </a:rPr>
              <a:t>casos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Básico</a:t>
            </a:r>
            <a:r>
              <a:rPr sz="2000" dirty="0">
                <a:solidFill>
                  <a:srgbClr val="002850"/>
                </a:solidFill>
              </a:rPr>
              <a:t>, para </a:t>
            </a:r>
            <a:r>
              <a:rPr sz="2000" dirty="0" err="1">
                <a:solidFill>
                  <a:srgbClr val="002850"/>
                </a:solidFill>
              </a:rPr>
              <a:t>terminar</a:t>
            </a:r>
            <a:r>
              <a:rPr sz="2000" dirty="0">
                <a:solidFill>
                  <a:srgbClr val="002850"/>
                </a:solidFill>
              </a:rPr>
              <a:t> la </a:t>
            </a:r>
            <a:r>
              <a:rPr sz="2000" dirty="0" err="1">
                <a:solidFill>
                  <a:srgbClr val="002850"/>
                </a:solidFill>
              </a:rPr>
              <a:t>recursividad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Recursivo</a:t>
            </a:r>
            <a:r>
              <a:rPr sz="2000" dirty="0">
                <a:solidFill>
                  <a:srgbClr val="002850"/>
                </a:solidFill>
              </a:rPr>
              <a:t>, </a:t>
            </a:r>
            <a:r>
              <a:rPr sz="2000" dirty="0" err="1">
                <a:solidFill>
                  <a:srgbClr val="002850"/>
                </a:solidFill>
              </a:rPr>
              <a:t>donde</a:t>
            </a:r>
            <a:r>
              <a:rPr sz="2000" dirty="0">
                <a:solidFill>
                  <a:srgbClr val="002850"/>
                </a:solidFill>
              </a:rPr>
              <a:t> la </a:t>
            </a:r>
            <a:r>
              <a:rPr sz="2000" dirty="0" err="1">
                <a:solidFill>
                  <a:srgbClr val="002850"/>
                </a:solidFill>
              </a:rPr>
              <a:t>función</a:t>
            </a:r>
            <a:r>
              <a:rPr sz="2000" dirty="0">
                <a:solidFill>
                  <a:srgbClr val="002850"/>
                </a:solidFill>
              </a:rPr>
              <a:t> se llama a </a:t>
            </a:r>
            <a:r>
              <a:rPr sz="2000" dirty="0" err="1">
                <a:solidFill>
                  <a:srgbClr val="002850"/>
                </a:solidFill>
              </a:rPr>
              <a:t>si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misma</a:t>
            </a:r>
            <a:endParaRPr sz="2000" dirty="0">
              <a:solidFill>
                <a:srgbClr val="002850"/>
              </a:solidFill>
            </a:endParaRPr>
          </a:p>
        </p:txBody>
      </p:sp>
      <p:grpSp>
        <p:nvGrpSpPr>
          <p:cNvPr id="610" name="Group 610"/>
          <p:cNvGrpSpPr/>
          <p:nvPr/>
        </p:nvGrpSpPr>
        <p:grpSpPr>
          <a:xfrm>
            <a:off x="468312" y="5013325"/>
            <a:ext cx="3692526" cy="1216025"/>
            <a:chOff x="0" y="0"/>
            <a:chExt cx="3692525" cy="1216025"/>
          </a:xfrm>
        </p:grpSpPr>
        <p:sp>
          <p:nvSpPr>
            <p:cNvPr id="608" name="Shape 608"/>
            <p:cNvSpPr/>
            <p:nvPr/>
          </p:nvSpPr>
          <p:spPr>
            <a:xfrm>
              <a:off x="0" y="0"/>
              <a:ext cx="3692525" cy="12160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spcBef>
                  <a:spcPts val="600"/>
                </a:spcBef>
                <a:defRPr>
                  <a:solidFill>
                    <a:srgbClr val="002850"/>
                  </a:solidFill>
                </a:defRPr>
              </a:pPr>
              <a:endParaRPr dirty="0"/>
            </a:p>
          </p:txBody>
        </p:sp>
        <p:sp>
          <p:nvSpPr>
            <p:cNvPr id="609" name="Shape 609"/>
            <p:cNvSpPr/>
            <p:nvPr/>
          </p:nvSpPr>
          <p:spPr>
            <a:xfrm>
              <a:off x="0" y="0"/>
              <a:ext cx="3692525" cy="1087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lvl="0" indent="-342900">
                <a:spcBef>
                  <a:spcPts val="400"/>
                </a:spcBef>
              </a:pPr>
              <a:r>
                <a:rPr sz="2000" b="1" dirty="0" err="1">
                  <a:solidFill>
                    <a:srgbClr val="002850"/>
                  </a:solidFill>
                </a:rPr>
                <a:t>Caso</a:t>
              </a:r>
              <a:r>
                <a:rPr sz="2000" b="1" dirty="0">
                  <a:solidFill>
                    <a:srgbClr val="002850"/>
                  </a:solidFill>
                </a:rPr>
                <a:t> </a:t>
              </a:r>
              <a:r>
                <a:rPr sz="2000" b="1" dirty="0" err="1">
                  <a:solidFill>
                    <a:srgbClr val="002850"/>
                  </a:solidFill>
                </a:rPr>
                <a:t>Básico</a:t>
              </a:r>
              <a:endParaRPr sz="3200" b="1" dirty="0">
                <a:solidFill>
                  <a:srgbClr val="002850"/>
                </a:solidFill>
              </a:endParaRPr>
            </a:p>
            <a:p>
              <a:pPr marL="214312" lvl="0" indent="-214312">
                <a:spcBef>
                  <a:spcPts val="400"/>
                </a:spcBef>
                <a:buClr>
                  <a:srgbClr val="008080"/>
                </a:buClr>
                <a:buSzPct val="80000"/>
                <a:buFont typeface="Wingdings"/>
                <a:buChar char="▯"/>
              </a:pPr>
              <a:r>
                <a:rPr sz="2000" dirty="0">
                  <a:solidFill>
                    <a:srgbClr val="002850"/>
                  </a:solidFill>
                </a:rPr>
                <a:t>Si </a:t>
              </a:r>
              <a:r>
                <a:rPr lang="es-MX" sz="2000" dirty="0" err="1">
                  <a:solidFill>
                    <a:srgbClr val="002850"/>
                  </a:solidFill>
                </a:rPr>
                <a:t>isEmpty</a:t>
              </a:r>
              <a:r>
                <a:rPr lang="es-MX" sz="2000" dirty="0">
                  <a:solidFill>
                    <a:srgbClr val="002850"/>
                  </a:solidFill>
                </a:rPr>
                <a:t>()</a:t>
              </a:r>
              <a:endParaRPr sz="2000" dirty="0">
                <a:solidFill>
                  <a:srgbClr val="002850"/>
                </a:solidFill>
              </a:endParaRPr>
            </a:p>
            <a:p>
              <a:pPr marL="717096" lvl="1" indent="-183696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</a:pPr>
              <a:r>
                <a:rPr dirty="0" err="1">
                  <a:solidFill>
                    <a:srgbClr val="002850"/>
                  </a:solidFill>
                </a:rPr>
                <a:t>Terminar</a:t>
              </a:r>
              <a:r>
                <a:rPr dirty="0">
                  <a:solidFill>
                    <a:srgbClr val="002850"/>
                  </a:solidFill>
                </a:rPr>
                <a:t> de </a:t>
              </a:r>
              <a:r>
                <a:rPr dirty="0" err="1">
                  <a:solidFill>
                    <a:srgbClr val="002850"/>
                  </a:solidFill>
                </a:rPr>
                <a:t>recorrer</a:t>
              </a:r>
              <a:endParaRPr dirty="0">
                <a:solidFill>
                  <a:srgbClr val="002850"/>
                </a:solidFill>
              </a:endParaRPr>
            </a:p>
          </p:txBody>
        </p:sp>
      </p:grpSp>
      <p:grpSp>
        <p:nvGrpSpPr>
          <p:cNvPr id="613" name="Group 613"/>
          <p:cNvGrpSpPr/>
          <p:nvPr/>
        </p:nvGrpSpPr>
        <p:grpSpPr>
          <a:xfrm>
            <a:off x="4572000" y="4753376"/>
            <a:ext cx="4332849" cy="2021063"/>
            <a:chOff x="0" y="0"/>
            <a:chExt cx="3692525" cy="1756533"/>
          </a:xfrm>
        </p:grpSpPr>
        <p:sp>
          <p:nvSpPr>
            <p:cNvPr id="611" name="Shape 611"/>
            <p:cNvSpPr/>
            <p:nvPr/>
          </p:nvSpPr>
          <p:spPr>
            <a:xfrm>
              <a:off x="0" y="0"/>
              <a:ext cx="3692525" cy="1728788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spcBef>
                  <a:spcPts val="600"/>
                </a:spcBef>
                <a:defRPr>
                  <a:solidFill>
                    <a:srgbClr val="002850"/>
                  </a:solidFill>
                </a:defRPr>
              </a:pPr>
              <a:endParaRPr/>
            </a:p>
          </p:txBody>
        </p:sp>
        <p:sp>
          <p:nvSpPr>
            <p:cNvPr id="612" name="Shape 612"/>
            <p:cNvSpPr/>
            <p:nvPr/>
          </p:nvSpPr>
          <p:spPr>
            <a:xfrm>
              <a:off x="0" y="0"/>
              <a:ext cx="3692525" cy="17565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lvl="0" indent="-342900">
                <a:spcBef>
                  <a:spcPts val="400"/>
                </a:spcBef>
              </a:pPr>
              <a:r>
                <a:rPr sz="2000" b="1" dirty="0" err="1">
                  <a:solidFill>
                    <a:srgbClr val="002850"/>
                  </a:solidFill>
                </a:rPr>
                <a:t>Caso</a:t>
              </a:r>
              <a:r>
                <a:rPr sz="2000" b="1" dirty="0">
                  <a:solidFill>
                    <a:srgbClr val="002850"/>
                  </a:solidFill>
                </a:rPr>
                <a:t> </a:t>
              </a:r>
              <a:r>
                <a:rPr sz="2000" b="1" dirty="0" err="1">
                  <a:solidFill>
                    <a:srgbClr val="002850"/>
                  </a:solidFill>
                </a:rPr>
                <a:t>Recursivo</a:t>
              </a:r>
              <a:endParaRPr sz="3200" b="1" dirty="0">
                <a:solidFill>
                  <a:srgbClr val="002850"/>
                </a:solidFill>
              </a:endParaRPr>
            </a:p>
            <a:p>
              <a:pPr marL="214312" lvl="0" indent="-214312">
                <a:spcBef>
                  <a:spcPts val="400"/>
                </a:spcBef>
                <a:buClr>
                  <a:srgbClr val="008080"/>
                </a:buClr>
                <a:buSzPct val="80000"/>
                <a:buFont typeface="Wingdings"/>
                <a:buChar char="▯"/>
              </a:pPr>
              <a:r>
                <a:rPr sz="2000" dirty="0">
                  <a:solidFill>
                    <a:srgbClr val="002850"/>
                  </a:solidFill>
                </a:rPr>
                <a:t>Si !</a:t>
              </a:r>
              <a:r>
                <a:rPr lang="es-MX" sz="2000" dirty="0" err="1">
                  <a:solidFill>
                    <a:srgbClr val="002850"/>
                  </a:solidFill>
                </a:rPr>
                <a:t>isEmpty</a:t>
              </a:r>
              <a:r>
                <a:rPr lang="es-MX" sz="2000" dirty="0">
                  <a:solidFill>
                    <a:srgbClr val="002850"/>
                  </a:solidFill>
                </a:rPr>
                <a:t>()</a:t>
              </a:r>
              <a:endParaRPr lang="en-US" sz="2000" dirty="0">
                <a:solidFill>
                  <a:srgbClr val="002850"/>
                </a:solidFill>
              </a:endParaRPr>
            </a:p>
            <a:p>
              <a:pPr marL="533400" lvl="1" indent="0">
                <a:spcBef>
                  <a:spcPts val="400"/>
                </a:spcBef>
                <a:buClr>
                  <a:srgbClr val="0066FF"/>
                </a:buClr>
                <a:buSzPct val="80000"/>
              </a:pPr>
              <a:r>
                <a:rPr lang="en-US" dirty="0" err="1">
                  <a:solidFill>
                    <a:srgbClr val="002850"/>
                  </a:solidFill>
                </a:rPr>
                <a:t>this.enOrdenRecursivo</a:t>
              </a:r>
              <a:r>
                <a:rPr lang="en-US" dirty="0">
                  <a:solidFill>
                    <a:srgbClr val="002850"/>
                  </a:solidFill>
                </a:rPr>
                <a:t>(</a:t>
              </a:r>
              <a:r>
                <a:rPr lang="en-US" dirty="0" err="1">
                  <a:solidFill>
                    <a:srgbClr val="002850"/>
                  </a:solidFill>
                </a:rPr>
                <a:t>nodo.getIzq</a:t>
              </a:r>
              <a:r>
                <a:rPr lang="en-US" dirty="0">
                  <a:solidFill>
                    <a:srgbClr val="002850"/>
                  </a:solidFill>
                </a:rPr>
                <a:t>());        </a:t>
              </a:r>
              <a:r>
                <a:rPr lang="en-US" dirty="0" err="1">
                  <a:solidFill>
                    <a:srgbClr val="002850"/>
                  </a:solidFill>
                </a:rPr>
                <a:t>System.out.print</a:t>
              </a:r>
              <a:r>
                <a:rPr lang="en-US" dirty="0">
                  <a:solidFill>
                    <a:srgbClr val="002850"/>
                  </a:solidFill>
                </a:rPr>
                <a:t>(</a:t>
              </a:r>
              <a:r>
                <a:rPr lang="en-US" dirty="0" err="1">
                  <a:solidFill>
                    <a:srgbClr val="002850"/>
                  </a:solidFill>
                </a:rPr>
                <a:t>nodo.getData</a:t>
              </a:r>
              <a:r>
                <a:rPr lang="en-US" dirty="0">
                  <a:solidFill>
                    <a:srgbClr val="002850"/>
                  </a:solidFill>
                </a:rPr>
                <a:t>()+" ");</a:t>
              </a:r>
            </a:p>
            <a:p>
              <a:pPr marL="533400" lvl="1" indent="0">
                <a:spcBef>
                  <a:spcPts val="400"/>
                </a:spcBef>
                <a:buClr>
                  <a:srgbClr val="0066FF"/>
                </a:buClr>
                <a:buSzPct val="80000"/>
              </a:pPr>
              <a:r>
                <a:rPr lang="en-US" dirty="0" err="1">
                  <a:solidFill>
                    <a:srgbClr val="002850"/>
                  </a:solidFill>
                </a:rPr>
                <a:t>this.enOrdenRecursivo</a:t>
              </a:r>
              <a:r>
                <a:rPr lang="en-US" dirty="0">
                  <a:solidFill>
                    <a:srgbClr val="002850"/>
                  </a:solidFill>
                </a:rPr>
                <a:t>(</a:t>
              </a:r>
              <a:r>
                <a:rPr lang="en-US" dirty="0" err="1">
                  <a:solidFill>
                    <a:srgbClr val="002850"/>
                  </a:solidFill>
                </a:rPr>
                <a:t>nodo.getDer</a:t>
              </a:r>
              <a:r>
                <a:rPr lang="en-US" dirty="0">
                  <a:solidFill>
                    <a:srgbClr val="002850"/>
                  </a:solidFill>
                </a:rPr>
                <a:t>());</a:t>
              </a:r>
            </a:p>
            <a:p>
              <a:pPr marL="533400" lvl="1" indent="0">
                <a:spcBef>
                  <a:spcPts val="400"/>
                </a:spcBef>
                <a:buClr>
                  <a:srgbClr val="0066FF"/>
                </a:buClr>
                <a:buSzPct val="80000"/>
              </a:pPr>
              <a:endParaRPr dirty="0">
                <a:solidFill>
                  <a:srgbClr val="002850"/>
                </a:solidFill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" grpId="0" build="p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 dirty="0">
                <a:solidFill>
                  <a:srgbClr val="008080"/>
                </a:solidFill>
              </a:rPr>
              <a:t>OPERACION ENORDEN</a:t>
            </a:r>
          </a:p>
        </p:txBody>
      </p:sp>
      <p:sp>
        <p:nvSpPr>
          <p:cNvPr id="616" name="Shape 616"/>
          <p:cNvSpPr/>
          <p:nvPr/>
        </p:nvSpPr>
        <p:spPr>
          <a:xfrm>
            <a:off x="720725" y="1773237"/>
            <a:ext cx="6659563" cy="2031366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/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void 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enOrden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NodoAB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arbol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){</a:t>
            </a:r>
            <a:endParaRPr sz="1600" dirty="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	if(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estaVacio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arbol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))</a:t>
            </a:r>
            <a:endParaRPr sz="1600" dirty="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		return;</a:t>
            </a:r>
            <a:endParaRPr sz="1600" dirty="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sz="1600" dirty="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enOrden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árbol.izq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);</a:t>
            </a:r>
            <a:endParaRPr sz="1600" dirty="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System.out.println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arbol.g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);</a:t>
            </a:r>
            <a:endParaRPr sz="1600" dirty="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enOrden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sz="1600" dirty="0" err="1">
                <a:latin typeface="Verdana"/>
                <a:ea typeface="Verdana"/>
                <a:cs typeface="Verdana"/>
                <a:sym typeface="Verdana"/>
              </a:rPr>
              <a:t>árbol.der</a:t>
            </a:r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);</a:t>
            </a:r>
            <a:endParaRPr sz="1600" dirty="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 dirty="0">
                <a:latin typeface="Verdana"/>
                <a:ea typeface="Verdana"/>
                <a:cs typeface="Verdana"/>
                <a:sym typeface="Verdana"/>
              </a:rPr>
              <a:t>}</a:t>
            </a:r>
          </a:p>
        </p:txBody>
      </p:sp>
      <p:sp>
        <p:nvSpPr>
          <p:cNvPr id="617" name="Shape 617"/>
          <p:cNvSpPr/>
          <p:nvPr/>
        </p:nvSpPr>
        <p:spPr>
          <a:xfrm>
            <a:off x="3466416" y="4158284"/>
            <a:ext cx="1880573" cy="2061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03" h="20867" extrusionOk="0">
                <a:moveTo>
                  <a:pt x="8117" y="1320"/>
                </a:moveTo>
                <a:cubicBezTo>
                  <a:pt x="10291" y="-505"/>
                  <a:pt x="11596" y="-49"/>
                  <a:pt x="13336" y="408"/>
                </a:cubicBezTo>
                <a:cubicBezTo>
                  <a:pt x="15075" y="864"/>
                  <a:pt x="17395" y="1472"/>
                  <a:pt x="18555" y="4058"/>
                </a:cubicBezTo>
                <a:cubicBezTo>
                  <a:pt x="19714" y="6644"/>
                  <a:pt x="21019" y="13185"/>
                  <a:pt x="20294" y="15923"/>
                </a:cubicBezTo>
                <a:cubicBezTo>
                  <a:pt x="19569" y="18661"/>
                  <a:pt x="17105" y="19878"/>
                  <a:pt x="14206" y="20487"/>
                </a:cubicBezTo>
                <a:cubicBezTo>
                  <a:pt x="11306" y="21095"/>
                  <a:pt x="5218" y="21095"/>
                  <a:pt x="2898" y="19574"/>
                </a:cubicBezTo>
                <a:cubicBezTo>
                  <a:pt x="579" y="18053"/>
                  <a:pt x="-581" y="14402"/>
                  <a:pt x="289" y="11360"/>
                </a:cubicBezTo>
                <a:cubicBezTo>
                  <a:pt x="1159" y="8318"/>
                  <a:pt x="5942" y="3146"/>
                  <a:pt x="8117" y="1320"/>
                </a:cubicBez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18" name="Shape 618"/>
          <p:cNvSpPr/>
          <p:nvPr/>
        </p:nvSpPr>
        <p:spPr>
          <a:xfrm>
            <a:off x="3541092" y="4975556"/>
            <a:ext cx="1053944" cy="1152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28" h="20423" extrusionOk="0">
                <a:moveTo>
                  <a:pt x="2168" y="3842"/>
                </a:moveTo>
                <a:cubicBezTo>
                  <a:pt x="3805" y="1937"/>
                  <a:pt x="7077" y="-287"/>
                  <a:pt x="10023" y="31"/>
                </a:cubicBezTo>
                <a:cubicBezTo>
                  <a:pt x="12968" y="348"/>
                  <a:pt x="18532" y="2572"/>
                  <a:pt x="19841" y="5748"/>
                </a:cubicBezTo>
                <a:cubicBezTo>
                  <a:pt x="21150" y="8925"/>
                  <a:pt x="20168" y="16866"/>
                  <a:pt x="17877" y="19089"/>
                </a:cubicBezTo>
                <a:cubicBezTo>
                  <a:pt x="15586" y="21313"/>
                  <a:pt x="9041" y="20360"/>
                  <a:pt x="6095" y="19089"/>
                </a:cubicBezTo>
                <a:cubicBezTo>
                  <a:pt x="3150" y="17819"/>
                  <a:pt x="859" y="14007"/>
                  <a:pt x="205" y="11466"/>
                </a:cubicBezTo>
                <a:cubicBezTo>
                  <a:pt x="-450" y="8925"/>
                  <a:pt x="532" y="5748"/>
                  <a:pt x="2168" y="3842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19" name="Shape 619"/>
          <p:cNvSpPr/>
          <p:nvPr/>
        </p:nvSpPr>
        <p:spPr>
          <a:xfrm>
            <a:off x="3670299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0" name="Shape 620"/>
          <p:cNvSpPr/>
          <p:nvPr/>
        </p:nvSpPr>
        <p:spPr>
          <a:xfrm>
            <a:off x="4203699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1" name="Shape 621"/>
          <p:cNvSpPr/>
          <p:nvPr/>
        </p:nvSpPr>
        <p:spPr>
          <a:xfrm>
            <a:off x="4615391" y="5019784"/>
            <a:ext cx="821422" cy="114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958" h="20979" extrusionOk="0">
                <a:moveTo>
                  <a:pt x="2263" y="2844"/>
                </a:moveTo>
                <a:cubicBezTo>
                  <a:pt x="3806" y="2147"/>
                  <a:pt x="7200" y="-408"/>
                  <a:pt x="9669" y="57"/>
                </a:cubicBezTo>
                <a:cubicBezTo>
                  <a:pt x="12137" y="521"/>
                  <a:pt x="15532" y="3308"/>
                  <a:pt x="17075" y="5631"/>
                </a:cubicBezTo>
                <a:cubicBezTo>
                  <a:pt x="18617" y="7953"/>
                  <a:pt x="18617" y="11902"/>
                  <a:pt x="18926" y="13992"/>
                </a:cubicBezTo>
                <a:cubicBezTo>
                  <a:pt x="19235" y="16082"/>
                  <a:pt x="21086" y="17011"/>
                  <a:pt x="18926" y="18173"/>
                </a:cubicBezTo>
                <a:cubicBezTo>
                  <a:pt x="16766" y="19334"/>
                  <a:pt x="9052" y="21192"/>
                  <a:pt x="5966" y="20960"/>
                </a:cubicBezTo>
                <a:cubicBezTo>
                  <a:pt x="2880" y="20727"/>
                  <a:pt x="1337" y="18405"/>
                  <a:pt x="412" y="16779"/>
                </a:cubicBezTo>
                <a:cubicBezTo>
                  <a:pt x="-514" y="15153"/>
                  <a:pt x="412" y="13295"/>
                  <a:pt x="412" y="11205"/>
                </a:cubicBezTo>
                <a:cubicBezTo>
                  <a:pt x="412" y="9115"/>
                  <a:pt x="103" y="5631"/>
                  <a:pt x="412" y="4237"/>
                </a:cubicBezTo>
                <a:cubicBezTo>
                  <a:pt x="720" y="2844"/>
                  <a:pt x="720" y="3540"/>
                  <a:pt x="2263" y="2844"/>
                </a:cubicBezTo>
                <a:close/>
              </a:path>
            </a:pathLst>
          </a:custGeom>
          <a:solidFill>
            <a:srgbClr val="FFFF99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2" name="Shape 622"/>
          <p:cNvSpPr/>
          <p:nvPr/>
        </p:nvSpPr>
        <p:spPr>
          <a:xfrm>
            <a:off x="46323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3" name="Shape 623"/>
          <p:cNvSpPr/>
          <p:nvPr/>
        </p:nvSpPr>
        <p:spPr>
          <a:xfrm>
            <a:off x="50895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4" name="Shape 624"/>
          <p:cNvSpPr/>
          <p:nvPr/>
        </p:nvSpPr>
        <p:spPr>
          <a:xfrm>
            <a:off x="5452269" y="4027959"/>
            <a:ext cx="1874551" cy="22762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754" h="20270" extrusionOk="0">
                <a:moveTo>
                  <a:pt x="2939" y="3431"/>
                </a:moveTo>
                <a:cubicBezTo>
                  <a:pt x="3774" y="491"/>
                  <a:pt x="4490" y="1169"/>
                  <a:pt x="5803" y="717"/>
                </a:cubicBezTo>
                <a:cubicBezTo>
                  <a:pt x="7116" y="265"/>
                  <a:pt x="8906" y="-640"/>
                  <a:pt x="10815" y="717"/>
                </a:cubicBezTo>
                <a:cubicBezTo>
                  <a:pt x="12724" y="2074"/>
                  <a:pt x="16185" y="5806"/>
                  <a:pt x="17259" y="8859"/>
                </a:cubicBezTo>
                <a:cubicBezTo>
                  <a:pt x="18333" y="11913"/>
                  <a:pt x="20004" y="17454"/>
                  <a:pt x="17259" y="19037"/>
                </a:cubicBezTo>
                <a:cubicBezTo>
                  <a:pt x="14514" y="20621"/>
                  <a:pt x="3177" y="20960"/>
                  <a:pt x="791" y="18359"/>
                </a:cubicBezTo>
                <a:cubicBezTo>
                  <a:pt x="-1596" y="15758"/>
                  <a:pt x="2103" y="6372"/>
                  <a:pt x="2939" y="3431"/>
                </a:cubicBezTo>
                <a:close/>
              </a:path>
            </a:pathLst>
          </a:custGeom>
          <a:solidFill>
            <a:srgbClr val="EEE800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5" name="Shape 625"/>
          <p:cNvSpPr/>
          <p:nvPr/>
        </p:nvSpPr>
        <p:spPr>
          <a:xfrm>
            <a:off x="5455192" y="4979856"/>
            <a:ext cx="845318" cy="1200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95" h="20622" extrusionOk="0">
                <a:moveTo>
                  <a:pt x="3908" y="739"/>
                </a:moveTo>
                <a:cubicBezTo>
                  <a:pt x="5388" y="-352"/>
                  <a:pt x="6867" y="-134"/>
                  <a:pt x="9234" y="739"/>
                </a:cubicBezTo>
                <a:cubicBezTo>
                  <a:pt x="11601" y="1612"/>
                  <a:pt x="16632" y="2921"/>
                  <a:pt x="18111" y="5975"/>
                </a:cubicBezTo>
                <a:cubicBezTo>
                  <a:pt x="19590" y="9030"/>
                  <a:pt x="20774" y="16884"/>
                  <a:pt x="18111" y="19066"/>
                </a:cubicBezTo>
                <a:cubicBezTo>
                  <a:pt x="15448" y="21248"/>
                  <a:pt x="5092" y="21030"/>
                  <a:pt x="2133" y="19066"/>
                </a:cubicBezTo>
                <a:cubicBezTo>
                  <a:pt x="-826" y="17103"/>
                  <a:pt x="62" y="10339"/>
                  <a:pt x="358" y="7284"/>
                </a:cubicBezTo>
                <a:cubicBezTo>
                  <a:pt x="653" y="4230"/>
                  <a:pt x="2429" y="1830"/>
                  <a:pt x="3908" y="739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6" name="Shape 626"/>
          <p:cNvSpPr/>
          <p:nvPr/>
        </p:nvSpPr>
        <p:spPr>
          <a:xfrm>
            <a:off x="60039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7" name="Shape 627"/>
          <p:cNvSpPr/>
          <p:nvPr/>
        </p:nvSpPr>
        <p:spPr>
          <a:xfrm>
            <a:off x="53943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8" name="Shape 628"/>
          <p:cNvSpPr/>
          <p:nvPr/>
        </p:nvSpPr>
        <p:spPr>
          <a:xfrm>
            <a:off x="6357825" y="4907738"/>
            <a:ext cx="929956" cy="12811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27" h="20364" extrusionOk="0">
                <a:moveTo>
                  <a:pt x="1902" y="2637"/>
                </a:moveTo>
                <a:cubicBezTo>
                  <a:pt x="3236" y="1022"/>
                  <a:pt x="5636" y="-593"/>
                  <a:pt x="8302" y="214"/>
                </a:cubicBezTo>
                <a:cubicBezTo>
                  <a:pt x="10969" y="1022"/>
                  <a:pt x="16302" y="4454"/>
                  <a:pt x="17902" y="7482"/>
                </a:cubicBezTo>
                <a:cubicBezTo>
                  <a:pt x="19502" y="10510"/>
                  <a:pt x="20569" y="16364"/>
                  <a:pt x="17902" y="18383"/>
                </a:cubicBezTo>
                <a:cubicBezTo>
                  <a:pt x="15236" y="20401"/>
                  <a:pt x="4836" y="21007"/>
                  <a:pt x="1902" y="19594"/>
                </a:cubicBezTo>
                <a:cubicBezTo>
                  <a:pt x="-1031" y="18181"/>
                  <a:pt x="302" y="12730"/>
                  <a:pt x="302" y="9904"/>
                </a:cubicBezTo>
                <a:cubicBezTo>
                  <a:pt x="302" y="7078"/>
                  <a:pt x="569" y="4252"/>
                  <a:pt x="1902" y="2637"/>
                </a:cubicBezTo>
                <a:close/>
              </a:path>
            </a:pathLst>
          </a:custGeom>
          <a:solidFill>
            <a:srgbClr val="FFFF99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9" name="Shape 629"/>
          <p:cNvSpPr/>
          <p:nvPr/>
        </p:nvSpPr>
        <p:spPr>
          <a:xfrm>
            <a:off x="63849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30" name="Shape 630"/>
          <p:cNvSpPr/>
          <p:nvPr/>
        </p:nvSpPr>
        <p:spPr>
          <a:xfrm>
            <a:off x="69183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714" name="Group 714"/>
          <p:cNvGrpSpPr/>
          <p:nvPr/>
        </p:nvGrpSpPr>
        <p:grpSpPr>
          <a:xfrm>
            <a:off x="3717925" y="3803649"/>
            <a:ext cx="3429000" cy="2133601"/>
            <a:chOff x="0" y="0"/>
            <a:chExt cx="3429000" cy="2133599"/>
          </a:xfrm>
        </p:grpSpPr>
        <p:grpSp>
          <p:nvGrpSpPr>
            <p:cNvPr id="633" name="Group 633"/>
            <p:cNvGrpSpPr/>
            <p:nvPr/>
          </p:nvGrpSpPr>
          <p:grpSpPr>
            <a:xfrm>
              <a:off x="1416050" y="-1"/>
              <a:ext cx="450851" cy="461964"/>
              <a:chOff x="0" y="0"/>
              <a:chExt cx="450850" cy="461962"/>
            </a:xfrm>
          </p:grpSpPr>
          <p:sp>
            <p:nvSpPr>
              <p:cNvPr id="631" name="Shape 631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32" name="Shape 632"/>
              <p:cNvSpPr/>
              <p:nvPr/>
            </p:nvSpPr>
            <p:spPr>
              <a:xfrm>
                <a:off x="112496" y="77311"/>
                <a:ext cx="22585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A</a:t>
                </a:r>
              </a:p>
            </p:txBody>
          </p:sp>
        </p:grpSp>
        <p:grpSp>
          <p:nvGrpSpPr>
            <p:cNvPr id="636" name="Group 636"/>
            <p:cNvGrpSpPr/>
            <p:nvPr/>
          </p:nvGrpSpPr>
          <p:grpSpPr>
            <a:xfrm>
              <a:off x="603249" y="671512"/>
              <a:ext cx="452439" cy="463551"/>
              <a:chOff x="0" y="0"/>
              <a:chExt cx="452437" cy="463550"/>
            </a:xfrm>
          </p:grpSpPr>
          <p:sp>
            <p:nvSpPr>
              <p:cNvPr id="634" name="Shape 634"/>
              <p:cNvSpPr/>
              <p:nvPr/>
            </p:nvSpPr>
            <p:spPr>
              <a:xfrm>
                <a:off x="-1" y="-1"/>
                <a:ext cx="452439" cy="4635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35" name="Shape 635"/>
              <p:cNvSpPr/>
              <p:nvPr/>
            </p:nvSpPr>
            <p:spPr>
              <a:xfrm>
                <a:off x="113160" y="78104"/>
                <a:ext cx="22611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B</a:t>
                </a:r>
              </a:p>
            </p:txBody>
          </p:sp>
        </p:grpSp>
        <p:grpSp>
          <p:nvGrpSpPr>
            <p:cNvPr id="639" name="Group 639"/>
            <p:cNvGrpSpPr/>
            <p:nvPr/>
          </p:nvGrpSpPr>
          <p:grpSpPr>
            <a:xfrm>
              <a:off x="2292350" y="628650"/>
              <a:ext cx="450851" cy="463551"/>
              <a:chOff x="0" y="0"/>
              <a:chExt cx="450850" cy="463550"/>
            </a:xfrm>
          </p:grpSpPr>
          <p:sp>
            <p:nvSpPr>
              <p:cNvPr id="637" name="Shape 637"/>
              <p:cNvSpPr/>
              <p:nvPr/>
            </p:nvSpPr>
            <p:spPr>
              <a:xfrm>
                <a:off x="-1" y="-1"/>
                <a:ext cx="450852" cy="4635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38" name="Shape 638"/>
              <p:cNvSpPr/>
              <p:nvPr/>
            </p:nvSpPr>
            <p:spPr>
              <a:xfrm>
                <a:off x="114015" y="78104"/>
                <a:ext cx="22282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C</a:t>
                </a:r>
              </a:p>
            </p:txBody>
          </p:sp>
        </p:grpSp>
        <p:grpSp>
          <p:nvGrpSpPr>
            <p:cNvPr id="642" name="Group 642"/>
            <p:cNvGrpSpPr/>
            <p:nvPr/>
          </p:nvGrpSpPr>
          <p:grpSpPr>
            <a:xfrm>
              <a:off x="152400" y="1366837"/>
              <a:ext cx="450851" cy="461963"/>
              <a:chOff x="0" y="0"/>
              <a:chExt cx="450850" cy="461962"/>
            </a:xfrm>
          </p:grpSpPr>
          <p:sp>
            <p:nvSpPr>
              <p:cNvPr id="640" name="Shape 640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41" name="Shape 641"/>
              <p:cNvSpPr/>
              <p:nvPr/>
            </p:nvSpPr>
            <p:spPr>
              <a:xfrm>
                <a:off x="106028" y="77311"/>
                <a:ext cx="238794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D</a:t>
                </a:r>
              </a:p>
            </p:txBody>
          </p:sp>
        </p:grpSp>
        <p:grpSp>
          <p:nvGrpSpPr>
            <p:cNvPr id="645" name="Group 645"/>
            <p:cNvGrpSpPr/>
            <p:nvPr/>
          </p:nvGrpSpPr>
          <p:grpSpPr>
            <a:xfrm>
              <a:off x="1073150" y="1371599"/>
              <a:ext cx="450851" cy="461964"/>
              <a:chOff x="0" y="0"/>
              <a:chExt cx="450850" cy="461962"/>
            </a:xfrm>
          </p:grpSpPr>
          <p:sp>
            <p:nvSpPr>
              <p:cNvPr id="643" name="Shape 643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44" name="Shape 644"/>
              <p:cNvSpPr/>
              <p:nvPr/>
            </p:nvSpPr>
            <p:spPr>
              <a:xfrm>
                <a:off x="118660" y="77311"/>
                <a:ext cx="21353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E</a:t>
                </a:r>
              </a:p>
            </p:txBody>
          </p:sp>
        </p:grpSp>
        <p:grpSp>
          <p:nvGrpSpPr>
            <p:cNvPr id="648" name="Group 648"/>
            <p:cNvGrpSpPr/>
            <p:nvPr/>
          </p:nvGrpSpPr>
          <p:grpSpPr>
            <a:xfrm>
              <a:off x="1835150" y="1366837"/>
              <a:ext cx="450851" cy="461963"/>
              <a:chOff x="0" y="0"/>
              <a:chExt cx="450850" cy="461962"/>
            </a:xfrm>
          </p:grpSpPr>
          <p:sp>
            <p:nvSpPr>
              <p:cNvPr id="646" name="Shape 646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47" name="Shape 647"/>
              <p:cNvSpPr/>
              <p:nvPr/>
            </p:nvSpPr>
            <p:spPr>
              <a:xfrm>
                <a:off x="121699" y="77311"/>
                <a:ext cx="207452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F</a:t>
                </a:r>
              </a:p>
            </p:txBody>
          </p:sp>
        </p:grpSp>
        <p:grpSp>
          <p:nvGrpSpPr>
            <p:cNvPr id="651" name="Group 651"/>
            <p:cNvGrpSpPr/>
            <p:nvPr/>
          </p:nvGrpSpPr>
          <p:grpSpPr>
            <a:xfrm>
              <a:off x="2819400" y="1366837"/>
              <a:ext cx="450851" cy="461963"/>
              <a:chOff x="0" y="0"/>
              <a:chExt cx="450850" cy="461962"/>
            </a:xfrm>
          </p:grpSpPr>
          <p:sp>
            <p:nvSpPr>
              <p:cNvPr id="649" name="Shape 649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50" name="Shape 650"/>
              <p:cNvSpPr/>
              <p:nvPr/>
            </p:nvSpPr>
            <p:spPr>
              <a:xfrm>
                <a:off x="107114" y="77311"/>
                <a:ext cx="236622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G</a:t>
                </a:r>
              </a:p>
            </p:txBody>
          </p:sp>
        </p:grpSp>
        <p:sp>
          <p:nvSpPr>
            <p:cNvPr id="652" name="Shape 652"/>
            <p:cNvSpPr/>
            <p:nvPr/>
          </p:nvSpPr>
          <p:spPr>
            <a:xfrm flipH="1">
              <a:off x="989012" y="395287"/>
              <a:ext cx="492126" cy="34448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3" name="Shape 653"/>
            <p:cNvSpPr/>
            <p:nvPr/>
          </p:nvSpPr>
          <p:spPr>
            <a:xfrm flipH="1">
              <a:off x="536574" y="1066799"/>
              <a:ext cx="133351" cy="3683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4" name="Shape 654"/>
            <p:cNvSpPr/>
            <p:nvPr/>
          </p:nvSpPr>
          <p:spPr>
            <a:xfrm>
              <a:off x="1800225" y="393700"/>
              <a:ext cx="558800" cy="3032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5" name="Shape 655"/>
            <p:cNvSpPr/>
            <p:nvPr/>
          </p:nvSpPr>
          <p:spPr>
            <a:xfrm>
              <a:off x="2676524" y="1023937"/>
              <a:ext cx="209551" cy="4111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6" name="Shape 656"/>
            <p:cNvSpPr/>
            <p:nvPr/>
          </p:nvSpPr>
          <p:spPr>
            <a:xfrm flipH="1">
              <a:off x="2219325" y="1023937"/>
              <a:ext cx="139701" cy="4111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7" name="Shape 657"/>
            <p:cNvSpPr/>
            <p:nvPr/>
          </p:nvSpPr>
          <p:spPr>
            <a:xfrm>
              <a:off x="989012" y="1066800"/>
              <a:ext cx="150814" cy="3730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663" name="Group 663"/>
            <p:cNvGrpSpPr/>
            <p:nvPr/>
          </p:nvGrpSpPr>
          <p:grpSpPr>
            <a:xfrm>
              <a:off x="0" y="1904999"/>
              <a:ext cx="228600" cy="228601"/>
              <a:chOff x="0" y="0"/>
              <a:chExt cx="228600" cy="228600"/>
            </a:xfrm>
          </p:grpSpPr>
          <p:sp>
            <p:nvSpPr>
              <p:cNvPr id="658" name="Shape 658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59" name="Shape 659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0" name="Shape 660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1" name="Shape 661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2" name="Shape 662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69" name="Group 669"/>
            <p:cNvGrpSpPr/>
            <p:nvPr/>
          </p:nvGrpSpPr>
          <p:grpSpPr>
            <a:xfrm>
              <a:off x="533400" y="1904999"/>
              <a:ext cx="228600" cy="228601"/>
              <a:chOff x="0" y="0"/>
              <a:chExt cx="228600" cy="228600"/>
            </a:xfrm>
          </p:grpSpPr>
          <p:sp>
            <p:nvSpPr>
              <p:cNvPr id="664" name="Shape 664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5" name="Shape 665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6" name="Shape 666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7" name="Shape 667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8" name="Shape 668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75" name="Group 675"/>
            <p:cNvGrpSpPr/>
            <p:nvPr/>
          </p:nvGrpSpPr>
          <p:grpSpPr>
            <a:xfrm>
              <a:off x="990600" y="1904999"/>
              <a:ext cx="228600" cy="228601"/>
              <a:chOff x="0" y="0"/>
              <a:chExt cx="228600" cy="228600"/>
            </a:xfrm>
          </p:grpSpPr>
          <p:sp>
            <p:nvSpPr>
              <p:cNvPr id="670" name="Shape 670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1" name="Shape 671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2" name="Shape 672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3" name="Shape 673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4" name="Shape 674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81" name="Group 681"/>
            <p:cNvGrpSpPr/>
            <p:nvPr/>
          </p:nvGrpSpPr>
          <p:grpSpPr>
            <a:xfrm>
              <a:off x="1676400" y="1904999"/>
              <a:ext cx="228600" cy="228601"/>
              <a:chOff x="0" y="0"/>
              <a:chExt cx="228600" cy="228600"/>
            </a:xfrm>
          </p:grpSpPr>
          <p:sp>
            <p:nvSpPr>
              <p:cNvPr id="676" name="Shape 676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7" name="Shape 677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8" name="Shape 678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9" name="Shape 679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0" name="Shape 680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87" name="Group 687"/>
            <p:cNvGrpSpPr/>
            <p:nvPr/>
          </p:nvGrpSpPr>
          <p:grpSpPr>
            <a:xfrm>
              <a:off x="1447800" y="1904999"/>
              <a:ext cx="228600" cy="228601"/>
              <a:chOff x="0" y="0"/>
              <a:chExt cx="228600" cy="228600"/>
            </a:xfrm>
          </p:grpSpPr>
          <p:sp>
            <p:nvSpPr>
              <p:cNvPr id="682" name="Shape 682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3" name="Shape 683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4" name="Shape 684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5" name="Shape 685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6" name="Shape 686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93" name="Group 693"/>
            <p:cNvGrpSpPr/>
            <p:nvPr/>
          </p:nvGrpSpPr>
          <p:grpSpPr>
            <a:xfrm>
              <a:off x="2286000" y="1904999"/>
              <a:ext cx="228600" cy="228601"/>
              <a:chOff x="0" y="0"/>
              <a:chExt cx="228600" cy="228600"/>
            </a:xfrm>
          </p:grpSpPr>
          <p:sp>
            <p:nvSpPr>
              <p:cNvPr id="688" name="Shape 688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9" name="Shape 689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0" name="Shape 690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1" name="Shape 691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2" name="Shape 692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99" name="Group 699"/>
            <p:cNvGrpSpPr/>
            <p:nvPr/>
          </p:nvGrpSpPr>
          <p:grpSpPr>
            <a:xfrm>
              <a:off x="2667000" y="1904999"/>
              <a:ext cx="228600" cy="228601"/>
              <a:chOff x="0" y="0"/>
              <a:chExt cx="228600" cy="228600"/>
            </a:xfrm>
          </p:grpSpPr>
          <p:sp>
            <p:nvSpPr>
              <p:cNvPr id="694" name="Shape 694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5" name="Shape 695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6" name="Shape 696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7" name="Shape 697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8" name="Shape 698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705" name="Group 705"/>
            <p:cNvGrpSpPr/>
            <p:nvPr/>
          </p:nvGrpSpPr>
          <p:grpSpPr>
            <a:xfrm>
              <a:off x="3200400" y="1904999"/>
              <a:ext cx="228600" cy="228601"/>
              <a:chOff x="0" y="0"/>
              <a:chExt cx="228600" cy="228600"/>
            </a:xfrm>
          </p:grpSpPr>
          <p:sp>
            <p:nvSpPr>
              <p:cNvPr id="700" name="Shape 700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701" name="Shape 701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702" name="Shape 702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703" name="Shape 703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704" name="Shape 704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706" name="Shape 706"/>
            <p:cNvSpPr/>
            <p:nvPr/>
          </p:nvSpPr>
          <p:spPr>
            <a:xfrm flipH="1">
              <a:off x="112712" y="1760537"/>
              <a:ext cx="106364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07" name="Shape 707"/>
            <p:cNvSpPr/>
            <p:nvPr/>
          </p:nvSpPr>
          <p:spPr>
            <a:xfrm>
              <a:off x="536574" y="1760537"/>
              <a:ext cx="109539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08" name="Shape 708"/>
            <p:cNvSpPr/>
            <p:nvPr/>
          </p:nvSpPr>
          <p:spPr>
            <a:xfrm flipH="1">
              <a:off x="1103312" y="1765299"/>
              <a:ext cx="36513" cy="139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09" name="Shape 709"/>
            <p:cNvSpPr/>
            <p:nvPr/>
          </p:nvSpPr>
          <p:spPr>
            <a:xfrm>
              <a:off x="1457324" y="1765300"/>
              <a:ext cx="103189" cy="139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10" name="Shape 710"/>
            <p:cNvSpPr/>
            <p:nvPr/>
          </p:nvSpPr>
          <p:spPr>
            <a:xfrm flipH="1">
              <a:off x="1789112" y="1760537"/>
              <a:ext cx="112714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11" name="Shape 711"/>
            <p:cNvSpPr/>
            <p:nvPr/>
          </p:nvSpPr>
          <p:spPr>
            <a:xfrm>
              <a:off x="2219324" y="1760537"/>
              <a:ext cx="179389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12" name="Shape 712"/>
            <p:cNvSpPr/>
            <p:nvPr/>
          </p:nvSpPr>
          <p:spPr>
            <a:xfrm flipH="1">
              <a:off x="2779712" y="1760537"/>
              <a:ext cx="106364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13" name="Shape 713"/>
            <p:cNvSpPr/>
            <p:nvPr/>
          </p:nvSpPr>
          <p:spPr>
            <a:xfrm>
              <a:off x="3203574" y="1760537"/>
              <a:ext cx="109539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715" name="Shape 715"/>
          <p:cNvSpPr/>
          <p:nvPr/>
        </p:nvSpPr>
        <p:spPr>
          <a:xfrm>
            <a:off x="380999" y="42672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20" name="Group 720"/>
          <p:cNvGrpSpPr/>
          <p:nvPr/>
        </p:nvGrpSpPr>
        <p:grpSpPr>
          <a:xfrm>
            <a:off x="3870325" y="5175249"/>
            <a:ext cx="450851" cy="794704"/>
            <a:chOff x="0" y="0"/>
            <a:chExt cx="450850" cy="794702"/>
          </a:xfrm>
        </p:grpSpPr>
        <p:grpSp>
          <p:nvGrpSpPr>
            <p:cNvPr id="718" name="Group 718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16" name="Shape 716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17" name="Shape 717"/>
              <p:cNvSpPr/>
              <p:nvPr/>
            </p:nvSpPr>
            <p:spPr>
              <a:xfrm>
                <a:off x="106028" y="77311"/>
                <a:ext cx="238794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D</a:t>
                </a:r>
              </a:p>
            </p:txBody>
          </p:sp>
        </p:grpSp>
        <p:sp>
          <p:nvSpPr>
            <p:cNvPr id="719" name="Shape 719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</a:t>
              </a:r>
            </a:p>
          </p:txBody>
        </p:sp>
      </p:grpSp>
      <p:sp>
        <p:nvSpPr>
          <p:cNvPr id="721" name="Shape 721"/>
          <p:cNvSpPr/>
          <p:nvPr/>
        </p:nvSpPr>
        <p:spPr>
          <a:xfrm>
            <a:off x="304800" y="42672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2" name="Shape 722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27" name="Group 727"/>
          <p:cNvGrpSpPr/>
          <p:nvPr/>
        </p:nvGrpSpPr>
        <p:grpSpPr>
          <a:xfrm>
            <a:off x="4327525" y="4489449"/>
            <a:ext cx="450851" cy="794704"/>
            <a:chOff x="0" y="0"/>
            <a:chExt cx="450850" cy="794702"/>
          </a:xfrm>
        </p:grpSpPr>
        <p:grpSp>
          <p:nvGrpSpPr>
            <p:cNvPr id="725" name="Group 725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23" name="Shape 723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24" name="Shape 724"/>
              <p:cNvSpPr/>
              <p:nvPr/>
            </p:nvSpPr>
            <p:spPr>
              <a:xfrm>
                <a:off x="112366" y="77311"/>
                <a:ext cx="22611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B</a:t>
                </a:r>
              </a:p>
            </p:txBody>
          </p:sp>
        </p:grpSp>
        <p:sp>
          <p:nvSpPr>
            <p:cNvPr id="726" name="Shape 726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2</a:t>
              </a:r>
            </a:p>
          </p:txBody>
        </p:sp>
      </p:grpSp>
      <p:sp>
        <p:nvSpPr>
          <p:cNvPr id="728" name="Shape 728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9" name="Shape 729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34" name="Group 734"/>
          <p:cNvGrpSpPr/>
          <p:nvPr/>
        </p:nvGrpSpPr>
        <p:grpSpPr>
          <a:xfrm>
            <a:off x="4791075" y="5175249"/>
            <a:ext cx="450851" cy="794704"/>
            <a:chOff x="0" y="0"/>
            <a:chExt cx="450850" cy="794702"/>
          </a:xfrm>
        </p:grpSpPr>
        <p:grpSp>
          <p:nvGrpSpPr>
            <p:cNvPr id="732" name="Group 732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30" name="Shape 730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31" name="Shape 731"/>
              <p:cNvSpPr/>
              <p:nvPr/>
            </p:nvSpPr>
            <p:spPr>
              <a:xfrm>
                <a:off x="118660" y="77311"/>
                <a:ext cx="21353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 dirty="0"/>
                  <a:t>E</a:t>
                </a:r>
              </a:p>
            </p:txBody>
          </p:sp>
        </p:grpSp>
        <p:sp>
          <p:nvSpPr>
            <p:cNvPr id="733" name="Shape 733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3</a:t>
              </a:r>
            </a:p>
          </p:txBody>
        </p:sp>
      </p:grpSp>
      <p:sp>
        <p:nvSpPr>
          <p:cNvPr id="735" name="Shape 735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36" name="Shape 736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41" name="Group 741"/>
          <p:cNvGrpSpPr/>
          <p:nvPr/>
        </p:nvGrpSpPr>
        <p:grpSpPr>
          <a:xfrm>
            <a:off x="5137150" y="3803649"/>
            <a:ext cx="450851" cy="794704"/>
            <a:chOff x="0" y="0"/>
            <a:chExt cx="450850" cy="794702"/>
          </a:xfrm>
        </p:grpSpPr>
        <p:grpSp>
          <p:nvGrpSpPr>
            <p:cNvPr id="739" name="Group 739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37" name="Shape 737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38" name="Shape 738"/>
              <p:cNvSpPr/>
              <p:nvPr/>
            </p:nvSpPr>
            <p:spPr>
              <a:xfrm>
                <a:off x="112496" y="77311"/>
                <a:ext cx="22585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 dirty="0"/>
                  <a:t>A</a:t>
                </a:r>
              </a:p>
            </p:txBody>
          </p:sp>
        </p:grpSp>
        <p:sp>
          <p:nvSpPr>
            <p:cNvPr id="740" name="Shape 740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4</a:t>
              </a:r>
            </a:p>
          </p:txBody>
        </p:sp>
      </p:grpSp>
      <p:grpSp>
        <p:nvGrpSpPr>
          <p:cNvPr id="746" name="Group 746"/>
          <p:cNvGrpSpPr/>
          <p:nvPr/>
        </p:nvGrpSpPr>
        <p:grpSpPr>
          <a:xfrm>
            <a:off x="5546725" y="5175249"/>
            <a:ext cx="450851" cy="794704"/>
            <a:chOff x="0" y="0"/>
            <a:chExt cx="450850" cy="794702"/>
          </a:xfrm>
        </p:grpSpPr>
        <p:grpSp>
          <p:nvGrpSpPr>
            <p:cNvPr id="744" name="Group 744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42" name="Shape 742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43" name="Shape 743"/>
              <p:cNvSpPr/>
              <p:nvPr/>
            </p:nvSpPr>
            <p:spPr>
              <a:xfrm>
                <a:off x="121699" y="77311"/>
                <a:ext cx="207452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F</a:t>
                </a:r>
              </a:p>
            </p:txBody>
          </p:sp>
        </p:grpSp>
        <p:sp>
          <p:nvSpPr>
            <p:cNvPr id="745" name="Shape 745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5</a:t>
              </a:r>
            </a:p>
          </p:txBody>
        </p:sp>
      </p:grpSp>
      <p:sp>
        <p:nvSpPr>
          <p:cNvPr id="747" name="Shape 747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48" name="Shape 748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53" name="Group 753"/>
          <p:cNvGrpSpPr/>
          <p:nvPr/>
        </p:nvGrpSpPr>
        <p:grpSpPr>
          <a:xfrm>
            <a:off x="6003925" y="4444999"/>
            <a:ext cx="450851" cy="794704"/>
            <a:chOff x="0" y="0"/>
            <a:chExt cx="450850" cy="794702"/>
          </a:xfrm>
        </p:grpSpPr>
        <p:grpSp>
          <p:nvGrpSpPr>
            <p:cNvPr id="751" name="Group 751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49" name="Shape 749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50" name="Shape 750"/>
              <p:cNvSpPr/>
              <p:nvPr/>
            </p:nvSpPr>
            <p:spPr>
              <a:xfrm>
                <a:off x="114015" y="77311"/>
                <a:ext cx="22282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 dirty="0"/>
                  <a:t>C</a:t>
                </a:r>
              </a:p>
            </p:txBody>
          </p:sp>
        </p:grpSp>
        <p:sp>
          <p:nvSpPr>
            <p:cNvPr id="752" name="Shape 752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6</a:t>
              </a:r>
            </a:p>
          </p:txBody>
        </p:sp>
      </p:grpSp>
      <p:sp>
        <p:nvSpPr>
          <p:cNvPr id="754" name="Shape 754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55" name="Shape 755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60" name="Group 760"/>
          <p:cNvGrpSpPr/>
          <p:nvPr/>
        </p:nvGrpSpPr>
        <p:grpSpPr>
          <a:xfrm>
            <a:off x="6537325" y="5175249"/>
            <a:ext cx="450851" cy="794704"/>
            <a:chOff x="0" y="0"/>
            <a:chExt cx="450850" cy="794702"/>
          </a:xfrm>
        </p:grpSpPr>
        <p:grpSp>
          <p:nvGrpSpPr>
            <p:cNvPr id="758" name="Group 758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56" name="Shape 756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57" name="Shape 757"/>
              <p:cNvSpPr/>
              <p:nvPr/>
            </p:nvSpPr>
            <p:spPr>
              <a:xfrm>
                <a:off x="107114" y="77311"/>
                <a:ext cx="236622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 dirty="0"/>
                  <a:t>G</a:t>
                </a:r>
              </a:p>
            </p:txBody>
          </p:sp>
        </p:grpSp>
        <p:sp>
          <p:nvSpPr>
            <p:cNvPr id="759" name="Shape 759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7</a:t>
              </a:r>
            </a:p>
          </p:txBody>
        </p:sp>
      </p:grpSp>
      <p:sp>
        <p:nvSpPr>
          <p:cNvPr id="761" name="Shape 761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62" name="Shape 762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sp>
        <p:nvSpPr>
          <p:cNvPr id="763" name="Shape 763"/>
          <p:cNvSpPr/>
          <p:nvPr/>
        </p:nvSpPr>
        <p:spPr>
          <a:xfrm>
            <a:off x="457200" y="43434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64" name="Shape 764"/>
          <p:cNvSpPr/>
          <p:nvPr/>
        </p:nvSpPr>
        <p:spPr>
          <a:xfrm>
            <a:off x="609599" y="564515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6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1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4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9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" grpId="0" animBg="1" advAuto="0"/>
      <p:bldP spid="617" grpId="0" animBg="1" advAuto="0"/>
      <p:bldP spid="618" grpId="0" animBg="1" advAuto="0"/>
      <p:bldP spid="619" grpId="0" animBg="1" advAuto="0"/>
      <p:bldP spid="620" grpId="0" animBg="1" advAuto="0"/>
      <p:bldP spid="621" grpId="0" animBg="1" advAuto="0"/>
      <p:bldP spid="622" grpId="0" animBg="1" advAuto="0"/>
      <p:bldP spid="623" grpId="0" animBg="1" advAuto="0"/>
      <p:bldP spid="624" grpId="0" animBg="1" advAuto="0"/>
      <p:bldP spid="625" grpId="0" animBg="1" advAuto="0"/>
      <p:bldP spid="626" grpId="0" animBg="1" advAuto="0"/>
      <p:bldP spid="627" grpId="0" animBg="1" advAuto="0"/>
      <p:bldP spid="628" grpId="0" animBg="1" advAuto="0"/>
      <p:bldP spid="629" grpId="0" animBg="1" advAuto="0"/>
      <p:bldP spid="630" grpId="0" animBg="1" advAuto="0"/>
      <p:bldP spid="714" grpId="0" animBg="1" advAuto="0"/>
      <p:bldP spid="715" grpId="0" animBg="1" advAuto="0"/>
      <p:bldP spid="720" grpId="0" animBg="1" advAuto="0"/>
      <p:bldP spid="721" grpId="0" animBg="1" advAuto="0"/>
      <p:bldP spid="722" grpId="0" animBg="1" advAuto="0"/>
      <p:bldP spid="727" grpId="0" animBg="1" advAuto="0"/>
      <p:bldP spid="728" grpId="0" animBg="1" advAuto="0"/>
      <p:bldP spid="729" grpId="0" animBg="1" advAuto="0"/>
      <p:bldP spid="734" grpId="0" animBg="1" advAuto="0"/>
      <p:bldP spid="735" grpId="0" animBg="1" advAuto="0"/>
      <p:bldP spid="736" grpId="0" animBg="1" advAuto="0"/>
      <p:bldP spid="741" grpId="0" animBg="1" advAuto="0"/>
      <p:bldP spid="746" grpId="0" animBg="1" advAuto="0"/>
      <p:bldP spid="747" grpId="0" animBg="1" advAuto="0"/>
      <p:bldP spid="748" grpId="0" animBg="1" advAuto="0"/>
      <p:bldP spid="753" grpId="0" animBg="1" advAuto="0"/>
      <p:bldP spid="754" grpId="0" animBg="1" advAuto="0"/>
      <p:bldP spid="755" grpId="0" animBg="1" advAuto="0"/>
      <p:bldP spid="760" grpId="0" animBg="1" advAuto="0"/>
      <p:bldP spid="761" grpId="0" animBg="1" advAuto="0"/>
      <p:bldP spid="762" grpId="0" animBg="1" advAuto="0"/>
      <p:bldP spid="763" grpId="0" animBg="1" advAuto="0"/>
      <p:bldP spid="764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AD938-AD10-134D-BAB3-CB50ECDBC01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100000">
                <a:srgbClr val="005199"/>
              </a:gs>
              <a:gs pos="0">
                <a:srgbClr val="00529B"/>
              </a:gs>
              <a:gs pos="50000">
                <a:srgbClr val="003A7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GB" sz="1350" kern="12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B579-24DF-C54F-86FD-2222CDE2D99B}"/>
              </a:ext>
            </a:extLst>
          </p:cNvPr>
          <p:cNvSpPr txBox="1">
            <a:spLocks noChangeArrowheads="1"/>
          </p:cNvSpPr>
          <p:nvPr/>
        </p:nvSpPr>
        <p:spPr>
          <a:xfrm>
            <a:off x="968473" y="3124302"/>
            <a:ext cx="7207101" cy="6093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/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Árboles</a:t>
            </a:r>
            <a:r>
              <a:rPr lang="en-US" altLang="en-US" b="1" dirty="0">
                <a:solidFill>
                  <a:prstClr val="white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Binarios</a:t>
            </a:r>
            <a:r>
              <a:rPr lang="en-US" altLang="en-US" b="1" dirty="0">
                <a:solidFill>
                  <a:prstClr val="white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Especiales</a:t>
            </a:r>
            <a:endParaRPr lang="en-US" altLang="en-US" dirty="0">
              <a:solidFill>
                <a:prstClr val="white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123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/>
          </p:cNvSpPr>
          <p:nvPr>
            <p:ph type="title" idx="4294967295"/>
          </p:nvPr>
        </p:nvSpPr>
        <p:spPr>
          <a:xfrm>
            <a:off x="381000" y="333374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ARBOLES BINARIOS LLENOS</a:t>
            </a:r>
          </a:p>
        </p:txBody>
      </p:sp>
      <p:sp>
        <p:nvSpPr>
          <p:cNvPr id="217" name="Shape 217"/>
          <p:cNvSpPr>
            <a:spLocks noGrp="1"/>
          </p:cNvSpPr>
          <p:nvPr>
            <p:ph type="body" idx="4294967295"/>
          </p:nvPr>
        </p:nvSpPr>
        <p:spPr>
          <a:xfrm>
            <a:off x="468312" y="1557337"/>
            <a:ext cx="8486776" cy="491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002850"/>
                </a:solidFill>
              </a:rPr>
              <a:t>Un árbol de </a:t>
            </a:r>
            <a:r>
              <a:rPr sz="3200" dirty="0" err="1">
                <a:solidFill>
                  <a:srgbClr val="002850"/>
                </a:solidFill>
              </a:rPr>
              <a:t>altura</a:t>
            </a:r>
            <a:r>
              <a:rPr sz="3200" dirty="0">
                <a:solidFill>
                  <a:srgbClr val="002850"/>
                </a:solidFill>
              </a:rPr>
              <a:t> h, </a:t>
            </a:r>
            <a:r>
              <a:rPr sz="3200" dirty="0" err="1">
                <a:solidFill>
                  <a:srgbClr val="002850"/>
                </a:solidFill>
              </a:rPr>
              <a:t>esta</a:t>
            </a:r>
            <a:r>
              <a:rPr sz="3200" dirty="0">
                <a:solidFill>
                  <a:srgbClr val="002850"/>
                </a:solidFill>
              </a:rPr>
              <a:t> </a:t>
            </a:r>
            <a:r>
              <a:rPr sz="3200" dirty="0" err="1">
                <a:solidFill>
                  <a:srgbClr val="002850"/>
                </a:solidFill>
              </a:rPr>
              <a:t>lleno</a:t>
            </a:r>
            <a:r>
              <a:rPr sz="3200" dirty="0">
                <a:solidFill>
                  <a:srgbClr val="002850"/>
                </a:solidFill>
              </a:rPr>
              <a:t> </a:t>
            </a:r>
            <a:r>
              <a:rPr sz="3200" dirty="0" err="1">
                <a:solidFill>
                  <a:srgbClr val="002850"/>
                </a:solidFill>
              </a:rPr>
              <a:t>si</a:t>
            </a:r>
            <a:endParaRPr sz="3200" dirty="0">
              <a:solidFill>
                <a:srgbClr val="002850"/>
              </a:solidFill>
            </a:endParaRPr>
          </a:p>
          <a:p>
            <a:pPr marL="742950" lvl="1" indent="-285750"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Todas</a:t>
            </a:r>
            <a:r>
              <a:rPr sz="2800" dirty="0">
                <a:solidFill>
                  <a:srgbClr val="002850"/>
                </a:solidFill>
              </a:rPr>
              <a:t> sus hojas </a:t>
            </a:r>
            <a:r>
              <a:rPr sz="2800" dirty="0" err="1">
                <a:solidFill>
                  <a:srgbClr val="002850"/>
                </a:solidFill>
              </a:rPr>
              <a:t>esta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en</a:t>
            </a:r>
            <a:r>
              <a:rPr sz="2800" dirty="0">
                <a:solidFill>
                  <a:srgbClr val="002850"/>
                </a:solidFill>
              </a:rPr>
              <a:t> el </a:t>
            </a:r>
            <a:r>
              <a:rPr sz="2800" dirty="0" err="1">
                <a:solidFill>
                  <a:srgbClr val="002850"/>
                </a:solidFill>
              </a:rPr>
              <a:t>nivel</a:t>
            </a:r>
            <a:r>
              <a:rPr sz="2800" dirty="0">
                <a:solidFill>
                  <a:srgbClr val="002850"/>
                </a:solidFill>
              </a:rPr>
              <a:t> h</a:t>
            </a:r>
          </a:p>
          <a:p>
            <a:pPr marL="742950" lvl="1" indent="-285750"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Los </a:t>
            </a:r>
            <a:r>
              <a:rPr sz="2800" dirty="0" err="1">
                <a:solidFill>
                  <a:srgbClr val="002850"/>
                </a:solidFill>
              </a:rPr>
              <a:t>nodos</a:t>
            </a:r>
            <a:r>
              <a:rPr sz="2800" dirty="0">
                <a:solidFill>
                  <a:srgbClr val="002850"/>
                </a:solidFill>
              </a:rPr>
              <a:t> de </a:t>
            </a:r>
            <a:r>
              <a:rPr sz="2800" dirty="0" err="1">
                <a:solidFill>
                  <a:srgbClr val="002850"/>
                </a:solidFill>
              </a:rPr>
              <a:t>altura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menor</a:t>
            </a:r>
            <a:r>
              <a:rPr sz="2800" dirty="0">
                <a:solidFill>
                  <a:srgbClr val="002850"/>
                </a:solidFill>
              </a:rPr>
              <a:t> a h </a:t>
            </a:r>
            <a:r>
              <a:rPr sz="2800" dirty="0" err="1">
                <a:solidFill>
                  <a:srgbClr val="002850"/>
                </a:solidFill>
              </a:rPr>
              <a:t>tienen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siempre</a:t>
            </a:r>
            <a:r>
              <a:rPr sz="2800" dirty="0">
                <a:solidFill>
                  <a:srgbClr val="002850"/>
                </a:solidFill>
              </a:rPr>
              <a:t> 2 </a:t>
            </a:r>
            <a:r>
              <a:rPr sz="2800" dirty="0" err="1">
                <a:solidFill>
                  <a:srgbClr val="002850"/>
                </a:solidFill>
              </a:rPr>
              <a:t>hijos</a:t>
            </a:r>
            <a:endParaRPr sz="3200" dirty="0">
              <a:solidFill>
                <a:srgbClr val="002850"/>
              </a:solidFill>
            </a:endParaRPr>
          </a:p>
          <a:p>
            <a:pPr marL="302079" indent="-285750"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Si T </a:t>
            </a:r>
            <a:r>
              <a:rPr sz="2800" dirty="0" err="1">
                <a:solidFill>
                  <a:srgbClr val="002850"/>
                </a:solidFill>
              </a:rPr>
              <a:t>est</a:t>
            </a:r>
            <a:r>
              <a:rPr lang="en-GB" sz="2800" dirty="0" err="1">
                <a:solidFill>
                  <a:srgbClr val="002850"/>
                </a:solidFill>
              </a:rPr>
              <a:t>á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vacío</a:t>
            </a:r>
            <a:r>
              <a:rPr sz="2800" dirty="0">
                <a:solidFill>
                  <a:srgbClr val="002850"/>
                </a:solidFill>
              </a:rPr>
              <a:t>, </a:t>
            </a:r>
          </a:p>
          <a:p>
            <a:pPr marL="707571" lvl="1" indent="-228600"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400" i="1" dirty="0" err="1">
                <a:solidFill>
                  <a:srgbClr val="002850"/>
                </a:solidFill>
              </a:rPr>
              <a:t>Entonces</a:t>
            </a:r>
            <a:r>
              <a:rPr sz="2400" i="1" dirty="0">
                <a:solidFill>
                  <a:srgbClr val="002850"/>
                </a:solidFill>
              </a:rPr>
              <a:t> T es un árbol </a:t>
            </a:r>
            <a:r>
              <a:rPr sz="2400" i="1" dirty="0" err="1">
                <a:solidFill>
                  <a:srgbClr val="002850"/>
                </a:solidFill>
              </a:rPr>
              <a:t>binario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lleno</a:t>
            </a:r>
            <a:r>
              <a:rPr sz="2400" i="1" dirty="0">
                <a:solidFill>
                  <a:srgbClr val="002850"/>
                </a:solidFill>
              </a:rPr>
              <a:t> de </a:t>
            </a:r>
            <a:r>
              <a:rPr sz="2400" i="1" dirty="0" err="1">
                <a:solidFill>
                  <a:srgbClr val="002850"/>
                </a:solidFill>
              </a:rPr>
              <a:t>altura</a:t>
            </a:r>
            <a:r>
              <a:rPr sz="2400" i="1" dirty="0">
                <a:solidFill>
                  <a:srgbClr val="002850"/>
                </a:solidFill>
              </a:rPr>
              <a:t> 0</a:t>
            </a:r>
          </a:p>
          <a:p>
            <a:pPr marL="302079" indent="-285750"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Si no </a:t>
            </a:r>
            <a:r>
              <a:rPr sz="2800" dirty="0" err="1">
                <a:solidFill>
                  <a:srgbClr val="002850"/>
                </a:solidFill>
              </a:rPr>
              <a:t>esta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vacío</a:t>
            </a:r>
            <a:r>
              <a:rPr sz="2800" dirty="0">
                <a:solidFill>
                  <a:srgbClr val="002850"/>
                </a:solidFill>
              </a:rPr>
              <a:t>, y </a:t>
            </a:r>
            <a:r>
              <a:rPr sz="2800" dirty="0" err="1">
                <a:solidFill>
                  <a:srgbClr val="002850"/>
                </a:solidFill>
              </a:rPr>
              <a:t>tiene</a:t>
            </a:r>
            <a:r>
              <a:rPr sz="2800" dirty="0">
                <a:solidFill>
                  <a:srgbClr val="002850"/>
                </a:solidFill>
              </a:rPr>
              <a:t> h&gt;0</a:t>
            </a:r>
          </a:p>
          <a:p>
            <a:pPr marL="707571" lvl="1" indent="-228600"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400" i="1" dirty="0" err="1">
                <a:solidFill>
                  <a:srgbClr val="002850"/>
                </a:solidFill>
              </a:rPr>
              <a:t>Esta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lleno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si</a:t>
            </a:r>
            <a:r>
              <a:rPr sz="2400" i="1" dirty="0">
                <a:solidFill>
                  <a:srgbClr val="002850"/>
                </a:solidFill>
              </a:rPr>
              <a:t> los </a:t>
            </a:r>
            <a:r>
              <a:rPr sz="2400" i="1" dirty="0" err="1">
                <a:solidFill>
                  <a:srgbClr val="002850"/>
                </a:solidFill>
              </a:rPr>
              <a:t>subárboles</a:t>
            </a:r>
            <a:r>
              <a:rPr sz="2400" i="1" dirty="0">
                <a:solidFill>
                  <a:srgbClr val="002850"/>
                </a:solidFill>
              </a:rPr>
              <a:t> de la </a:t>
            </a:r>
            <a:r>
              <a:rPr sz="2400" i="1" dirty="0" err="1">
                <a:solidFill>
                  <a:srgbClr val="002850"/>
                </a:solidFill>
              </a:rPr>
              <a:t>raíz</a:t>
            </a:r>
            <a:r>
              <a:rPr sz="2400" i="1" dirty="0">
                <a:solidFill>
                  <a:srgbClr val="002850"/>
                </a:solidFill>
              </a:rPr>
              <a:t>, son ambos </a:t>
            </a:r>
            <a:r>
              <a:rPr sz="2400" i="1" dirty="0" err="1">
                <a:solidFill>
                  <a:srgbClr val="002850"/>
                </a:solidFill>
              </a:rPr>
              <a:t>árboles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binarios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llenos</a:t>
            </a:r>
            <a:r>
              <a:rPr sz="2400" i="1" dirty="0">
                <a:solidFill>
                  <a:srgbClr val="002850"/>
                </a:solidFill>
              </a:rPr>
              <a:t> de </a:t>
            </a:r>
            <a:r>
              <a:rPr sz="2400" i="1" dirty="0" err="1">
                <a:solidFill>
                  <a:srgbClr val="002850"/>
                </a:solidFill>
              </a:rPr>
              <a:t>altura</a:t>
            </a:r>
            <a:r>
              <a:rPr sz="2400" i="1" dirty="0">
                <a:solidFill>
                  <a:srgbClr val="002850"/>
                </a:solidFill>
              </a:rPr>
              <a:t> h-1</a:t>
            </a:r>
          </a:p>
        </p:txBody>
      </p:sp>
      <p:grpSp>
        <p:nvGrpSpPr>
          <p:cNvPr id="231" name="Group 231"/>
          <p:cNvGrpSpPr/>
          <p:nvPr/>
        </p:nvGrpSpPr>
        <p:grpSpPr>
          <a:xfrm>
            <a:off x="6443662" y="1341437"/>
            <a:ext cx="2057401" cy="1204914"/>
            <a:chOff x="0" y="0"/>
            <a:chExt cx="2057400" cy="1204912"/>
          </a:xfrm>
        </p:grpSpPr>
        <p:sp>
          <p:nvSpPr>
            <p:cNvPr id="218" name="Shape 218"/>
            <p:cNvSpPr/>
            <p:nvPr/>
          </p:nvSpPr>
          <p:spPr>
            <a:xfrm>
              <a:off x="852487" y="-1"/>
              <a:ext cx="304801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19" name="Shape 219"/>
            <p:cNvSpPr/>
            <p:nvPr/>
          </p:nvSpPr>
          <p:spPr>
            <a:xfrm>
              <a:off x="304799" y="4429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0" name="Shape 220"/>
            <p:cNvSpPr/>
            <p:nvPr/>
          </p:nvSpPr>
          <p:spPr>
            <a:xfrm>
              <a:off x="1371599" y="414337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1" name="Shape 221"/>
            <p:cNvSpPr/>
            <p:nvPr/>
          </p:nvSpPr>
          <p:spPr>
            <a:xfrm>
              <a:off x="-1" y="9001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2" name="Shape 222"/>
            <p:cNvSpPr/>
            <p:nvPr/>
          </p:nvSpPr>
          <p:spPr>
            <a:xfrm>
              <a:off x="609599" y="9001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3" name="Shape 223"/>
            <p:cNvSpPr/>
            <p:nvPr/>
          </p:nvSpPr>
          <p:spPr>
            <a:xfrm>
              <a:off x="1066799" y="9001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4" name="Shape 224"/>
            <p:cNvSpPr/>
            <p:nvPr/>
          </p:nvSpPr>
          <p:spPr>
            <a:xfrm>
              <a:off x="1752599" y="9001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5" name="Shape 225"/>
            <p:cNvSpPr/>
            <p:nvPr/>
          </p:nvSpPr>
          <p:spPr>
            <a:xfrm flipH="1">
              <a:off x="565149" y="260350"/>
              <a:ext cx="331789" cy="2270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6" name="Shape 226"/>
            <p:cNvSpPr/>
            <p:nvPr/>
          </p:nvSpPr>
          <p:spPr>
            <a:xfrm flipH="1">
              <a:off x="260350" y="703262"/>
              <a:ext cx="88900" cy="2413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7" name="Shape 227"/>
            <p:cNvSpPr/>
            <p:nvPr/>
          </p:nvSpPr>
          <p:spPr>
            <a:xfrm>
              <a:off x="1112837" y="260349"/>
              <a:ext cx="303214" cy="19843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8" name="Shape 228"/>
            <p:cNvSpPr/>
            <p:nvPr/>
          </p:nvSpPr>
          <p:spPr>
            <a:xfrm>
              <a:off x="1631950" y="674687"/>
              <a:ext cx="165101" cy="2698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9" name="Shape 229"/>
            <p:cNvSpPr/>
            <p:nvPr/>
          </p:nvSpPr>
          <p:spPr>
            <a:xfrm flipH="1">
              <a:off x="1327149" y="674687"/>
              <a:ext cx="88901" cy="2698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30" name="Shape 230"/>
            <p:cNvSpPr/>
            <p:nvPr/>
          </p:nvSpPr>
          <p:spPr>
            <a:xfrm>
              <a:off x="565149" y="703262"/>
              <a:ext cx="88901" cy="2413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build="p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795527">
              <a:defRPr sz="4176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176" i="1">
                <a:solidFill>
                  <a:srgbClr val="008080"/>
                </a:solidFill>
              </a:rPr>
              <a:t>ARBOLES BINARIOS COMPLETOS</a:t>
            </a:r>
          </a:p>
        </p:txBody>
      </p:sp>
      <p:sp>
        <p:nvSpPr>
          <p:cNvPr id="234" name="Shape 234"/>
          <p:cNvSpPr>
            <a:spLocks noGrp="1"/>
          </p:cNvSpPr>
          <p:nvPr>
            <p:ph type="body" idx="4294967295"/>
          </p:nvPr>
        </p:nvSpPr>
        <p:spPr>
          <a:xfrm>
            <a:off x="457200" y="1989137"/>
            <a:ext cx="5483225" cy="4335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Un arbol de </a:t>
            </a:r>
            <a:r>
              <a:rPr sz="2800" dirty="0" err="1">
                <a:solidFill>
                  <a:srgbClr val="002850"/>
                </a:solidFill>
              </a:rPr>
              <a:t>altura</a:t>
            </a:r>
            <a:r>
              <a:rPr sz="2800" dirty="0">
                <a:solidFill>
                  <a:srgbClr val="002850"/>
                </a:solidFill>
              </a:rPr>
              <a:t> h </a:t>
            </a:r>
            <a:r>
              <a:rPr sz="2800" dirty="0" err="1">
                <a:solidFill>
                  <a:srgbClr val="002850"/>
                </a:solidFill>
              </a:rPr>
              <a:t>esta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completo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si</a:t>
            </a:r>
            <a:endParaRPr sz="2800" dirty="0">
              <a:solidFill>
                <a:srgbClr val="002850"/>
              </a:solidFill>
            </a:endParaRP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Todos</a:t>
            </a:r>
            <a:r>
              <a:rPr sz="2400" dirty="0">
                <a:solidFill>
                  <a:srgbClr val="002850"/>
                </a:solidFill>
              </a:rPr>
              <a:t> los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r>
              <a:rPr sz="2400" dirty="0">
                <a:solidFill>
                  <a:srgbClr val="002850"/>
                </a:solidFill>
              </a:rPr>
              <a:t> hasta el </a:t>
            </a:r>
            <a:r>
              <a:rPr sz="2400" dirty="0" err="1">
                <a:solidFill>
                  <a:srgbClr val="002850"/>
                </a:solidFill>
              </a:rPr>
              <a:t>nivel</a:t>
            </a:r>
            <a:r>
              <a:rPr sz="2400" dirty="0">
                <a:solidFill>
                  <a:srgbClr val="002850"/>
                </a:solidFill>
              </a:rPr>
              <a:t> h-2 </a:t>
            </a:r>
            <a:r>
              <a:rPr sz="2400" dirty="0" err="1">
                <a:solidFill>
                  <a:srgbClr val="002850"/>
                </a:solidFill>
              </a:rPr>
              <a:t>tienen</a:t>
            </a:r>
            <a:r>
              <a:rPr sz="2400" dirty="0">
                <a:solidFill>
                  <a:srgbClr val="002850"/>
                </a:solidFill>
              </a:rPr>
              <a:t> dos </a:t>
            </a:r>
            <a:r>
              <a:rPr sz="2400" dirty="0" err="1">
                <a:solidFill>
                  <a:srgbClr val="002850"/>
                </a:solidFill>
              </a:rPr>
              <a:t>hijos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cada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uno</a:t>
            </a:r>
            <a:r>
              <a:rPr sz="2400" dirty="0">
                <a:solidFill>
                  <a:srgbClr val="002850"/>
                </a:solidFill>
              </a:rPr>
              <a:t> y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el </a:t>
            </a:r>
            <a:r>
              <a:rPr sz="2400" dirty="0" err="1">
                <a:solidFill>
                  <a:srgbClr val="002850"/>
                </a:solidFill>
              </a:rPr>
              <a:t>nivel</a:t>
            </a:r>
            <a:r>
              <a:rPr sz="2400" dirty="0">
                <a:solidFill>
                  <a:srgbClr val="002850"/>
                </a:solidFill>
              </a:rPr>
              <a:t> h-1, </a:t>
            </a:r>
            <a:r>
              <a:rPr sz="2400" dirty="0" err="1">
                <a:solidFill>
                  <a:srgbClr val="002850"/>
                </a:solidFill>
              </a:rPr>
              <a:t>si</a:t>
            </a:r>
            <a:r>
              <a:rPr sz="2400" dirty="0">
                <a:solidFill>
                  <a:srgbClr val="002850"/>
                </a:solidFill>
              </a:rPr>
              <a:t> un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tiene</a:t>
            </a:r>
            <a:r>
              <a:rPr sz="2400" dirty="0">
                <a:solidFill>
                  <a:srgbClr val="002850"/>
                </a:solidFill>
              </a:rPr>
              <a:t> un </a:t>
            </a:r>
            <a:r>
              <a:rPr sz="2400" dirty="0" err="1">
                <a:solidFill>
                  <a:srgbClr val="002850"/>
                </a:solidFill>
              </a:rPr>
              <a:t>hijo</a:t>
            </a:r>
            <a:r>
              <a:rPr sz="2400" dirty="0">
                <a:solidFill>
                  <a:srgbClr val="002850"/>
                </a:solidFill>
              </a:rPr>
              <a:t> derecho, </a:t>
            </a:r>
            <a:r>
              <a:rPr sz="2400" dirty="0" err="1">
                <a:solidFill>
                  <a:srgbClr val="002850"/>
                </a:solidFill>
              </a:rPr>
              <a:t>todas</a:t>
            </a:r>
            <a:r>
              <a:rPr sz="2400" dirty="0">
                <a:solidFill>
                  <a:srgbClr val="002850"/>
                </a:solidFill>
              </a:rPr>
              <a:t> las hojas de </a:t>
            </a:r>
            <a:r>
              <a:rPr sz="2400" dirty="0" err="1">
                <a:solidFill>
                  <a:srgbClr val="002850"/>
                </a:solidFill>
              </a:rPr>
              <a:t>su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subarbol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izquierdo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están</a:t>
            </a:r>
            <a:r>
              <a:rPr sz="2400" dirty="0">
                <a:solidFill>
                  <a:srgbClr val="002850"/>
                </a:solidFill>
              </a:rPr>
              <a:t> a </a:t>
            </a:r>
            <a:r>
              <a:rPr sz="2400" dirty="0" err="1">
                <a:solidFill>
                  <a:srgbClr val="002850"/>
                </a:solidFill>
              </a:rPr>
              <a:t>nivel</a:t>
            </a:r>
            <a:r>
              <a:rPr sz="2400" dirty="0">
                <a:solidFill>
                  <a:srgbClr val="002850"/>
                </a:solidFill>
              </a:rPr>
              <a:t> h</a:t>
            </a:r>
          </a:p>
          <a:p>
            <a:pPr marL="0" lvl="0" indent="0">
              <a:lnSpc>
                <a:spcPct val="120000"/>
              </a:lnSpc>
              <a:spcBef>
                <a:spcPts val="6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sz="2800" b="1" dirty="0">
                <a:solidFill>
                  <a:srgbClr val="002850"/>
                </a:solidFill>
              </a:rPr>
              <a:t>Si un </a:t>
            </a:r>
            <a:r>
              <a:rPr lang="en-GB" sz="2800" b="1" dirty="0" err="1">
                <a:solidFill>
                  <a:srgbClr val="002850"/>
                </a:solidFill>
              </a:rPr>
              <a:t>á</a:t>
            </a:r>
            <a:r>
              <a:rPr sz="2800" b="1" dirty="0" err="1">
                <a:solidFill>
                  <a:srgbClr val="002850"/>
                </a:solidFill>
              </a:rPr>
              <a:t>rbol</a:t>
            </a:r>
            <a:r>
              <a:rPr sz="2800" b="1" dirty="0">
                <a:solidFill>
                  <a:srgbClr val="002850"/>
                </a:solidFill>
              </a:rPr>
              <a:t> </a:t>
            </a:r>
            <a:r>
              <a:rPr sz="2800" b="1" dirty="0" err="1">
                <a:solidFill>
                  <a:srgbClr val="002850"/>
                </a:solidFill>
              </a:rPr>
              <a:t>est</a:t>
            </a:r>
            <a:r>
              <a:rPr lang="en-GB" sz="2800" b="1" dirty="0" err="1">
                <a:solidFill>
                  <a:srgbClr val="002850"/>
                </a:solidFill>
              </a:rPr>
              <a:t>á</a:t>
            </a:r>
            <a:r>
              <a:rPr sz="2800" b="1" dirty="0">
                <a:solidFill>
                  <a:srgbClr val="002850"/>
                </a:solidFill>
              </a:rPr>
              <a:t> </a:t>
            </a:r>
            <a:r>
              <a:rPr sz="2800" b="1" dirty="0" err="1">
                <a:solidFill>
                  <a:srgbClr val="002850"/>
                </a:solidFill>
              </a:rPr>
              <a:t>lleno</a:t>
            </a:r>
            <a:r>
              <a:rPr sz="2800" b="1" dirty="0">
                <a:solidFill>
                  <a:srgbClr val="002850"/>
                </a:solidFill>
              </a:rPr>
              <a:t>, </a:t>
            </a:r>
            <a:r>
              <a:rPr sz="2800" b="1" dirty="0" err="1">
                <a:solidFill>
                  <a:srgbClr val="002850"/>
                </a:solidFill>
              </a:rPr>
              <a:t>tambi</a:t>
            </a:r>
            <a:r>
              <a:rPr lang="en-GB" sz="2800" b="1" dirty="0" err="1">
                <a:solidFill>
                  <a:srgbClr val="002850"/>
                </a:solidFill>
              </a:rPr>
              <a:t>é</a:t>
            </a:r>
            <a:r>
              <a:rPr sz="2800" b="1" dirty="0">
                <a:solidFill>
                  <a:srgbClr val="002850"/>
                </a:solidFill>
              </a:rPr>
              <a:t>n </a:t>
            </a:r>
            <a:r>
              <a:rPr sz="2800" b="1" dirty="0" err="1">
                <a:solidFill>
                  <a:srgbClr val="002850"/>
                </a:solidFill>
              </a:rPr>
              <a:t>est</a:t>
            </a:r>
            <a:r>
              <a:rPr lang="en-GB" sz="2800" b="1" dirty="0" err="1">
                <a:solidFill>
                  <a:srgbClr val="002850"/>
                </a:solidFill>
              </a:rPr>
              <a:t>á</a:t>
            </a:r>
            <a:r>
              <a:rPr sz="2800" b="1" dirty="0">
                <a:solidFill>
                  <a:srgbClr val="002850"/>
                </a:solidFill>
              </a:rPr>
              <a:t> </a:t>
            </a:r>
            <a:r>
              <a:rPr sz="2800" b="1" dirty="0" err="1">
                <a:solidFill>
                  <a:srgbClr val="002850"/>
                </a:solidFill>
              </a:rPr>
              <a:t>completo</a:t>
            </a:r>
            <a:endParaRPr sz="2800" b="1" dirty="0">
              <a:solidFill>
                <a:srgbClr val="002850"/>
              </a:solidFill>
            </a:endParaRPr>
          </a:p>
        </p:txBody>
      </p:sp>
      <p:sp>
        <p:nvSpPr>
          <p:cNvPr id="235" name="Shape 235"/>
          <p:cNvSpPr/>
          <p:nvPr/>
        </p:nvSpPr>
        <p:spPr>
          <a:xfrm>
            <a:off x="7391399" y="2420937"/>
            <a:ext cx="304802" cy="304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36" name="Shape 236"/>
          <p:cNvSpPr/>
          <p:nvPr/>
        </p:nvSpPr>
        <p:spPr>
          <a:xfrm>
            <a:off x="7986712" y="2787649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37" name="Shape 237"/>
          <p:cNvSpPr/>
          <p:nvPr/>
        </p:nvSpPr>
        <p:spPr>
          <a:xfrm>
            <a:off x="6767512" y="2787649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cxnSp>
        <p:nvCxnSpPr>
          <p:cNvPr id="238" name="Connector 238"/>
          <p:cNvCxnSpPr>
            <a:stCxn id="235" idx="0"/>
            <a:endCxn id="237" idx="0"/>
          </p:cNvCxnSpPr>
          <p:nvPr/>
        </p:nvCxnSpPr>
        <p:spPr>
          <a:xfrm flipH="1">
            <a:off x="6919912" y="2573337"/>
            <a:ext cx="623888" cy="366713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39" name="Connector 239"/>
          <p:cNvCxnSpPr>
            <a:cxnSpLocks/>
            <a:stCxn id="235" idx="0"/>
            <a:endCxn id="236" idx="0"/>
          </p:cNvCxnSpPr>
          <p:nvPr/>
        </p:nvCxnSpPr>
        <p:spPr>
          <a:xfrm>
            <a:off x="7543800" y="2573337"/>
            <a:ext cx="595313" cy="366713"/>
          </a:xfrm>
          <a:prstGeom prst="straightConnector1">
            <a:avLst/>
          </a:prstGeom>
          <a:ln>
            <a:solidFill/>
            <a:miter/>
          </a:ln>
        </p:spPr>
      </p:cxnSp>
      <p:sp>
        <p:nvSpPr>
          <p:cNvPr id="240" name="Shape 240"/>
          <p:cNvSpPr/>
          <p:nvPr/>
        </p:nvSpPr>
        <p:spPr>
          <a:xfrm>
            <a:off x="7177087" y="3321049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41" name="Shape 241"/>
          <p:cNvSpPr/>
          <p:nvPr/>
        </p:nvSpPr>
        <p:spPr>
          <a:xfrm>
            <a:off x="6310312" y="3321049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cxnSp>
        <p:nvCxnSpPr>
          <p:cNvPr id="242" name="Connector 242"/>
          <p:cNvCxnSpPr>
            <a:stCxn id="237" idx="0"/>
            <a:endCxn id="241" idx="0"/>
          </p:cNvCxnSpPr>
          <p:nvPr/>
        </p:nvCxnSpPr>
        <p:spPr>
          <a:xfrm flipH="1">
            <a:off x="6462712" y="2940050"/>
            <a:ext cx="457201" cy="533400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43" name="Connector 243"/>
          <p:cNvCxnSpPr>
            <a:stCxn id="237" idx="0"/>
            <a:endCxn id="240" idx="0"/>
          </p:cNvCxnSpPr>
          <p:nvPr/>
        </p:nvCxnSpPr>
        <p:spPr>
          <a:xfrm>
            <a:off x="6919912" y="2940050"/>
            <a:ext cx="409576" cy="533400"/>
          </a:xfrm>
          <a:prstGeom prst="straightConnector1">
            <a:avLst/>
          </a:prstGeom>
          <a:ln>
            <a:solidFill/>
            <a:miter/>
          </a:ln>
        </p:spPr>
      </p:cxnSp>
      <p:sp>
        <p:nvSpPr>
          <p:cNvPr id="244" name="Shape 244"/>
          <p:cNvSpPr/>
          <p:nvPr/>
        </p:nvSpPr>
        <p:spPr>
          <a:xfrm>
            <a:off x="8443912" y="3321049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45" name="Shape 245"/>
          <p:cNvSpPr/>
          <p:nvPr/>
        </p:nvSpPr>
        <p:spPr>
          <a:xfrm>
            <a:off x="7577137" y="3321049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cxnSp>
        <p:nvCxnSpPr>
          <p:cNvPr id="246" name="Connector 246"/>
          <p:cNvCxnSpPr>
            <a:cxnSpLocks/>
            <a:stCxn id="236" idx="0"/>
            <a:endCxn id="245" idx="0"/>
          </p:cNvCxnSpPr>
          <p:nvPr/>
        </p:nvCxnSpPr>
        <p:spPr>
          <a:xfrm flipH="1">
            <a:off x="7729537" y="2940050"/>
            <a:ext cx="409576" cy="533400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47" name="Connector 247"/>
          <p:cNvCxnSpPr>
            <a:cxnSpLocks/>
            <a:stCxn id="236" idx="0"/>
            <a:endCxn id="244" idx="0"/>
          </p:cNvCxnSpPr>
          <p:nvPr/>
        </p:nvCxnSpPr>
        <p:spPr>
          <a:xfrm>
            <a:off x="8139112" y="2940050"/>
            <a:ext cx="457201" cy="533400"/>
          </a:xfrm>
          <a:prstGeom prst="straightConnector1">
            <a:avLst/>
          </a:prstGeom>
          <a:ln>
            <a:solidFill/>
            <a:miter/>
          </a:ln>
        </p:spPr>
      </p:cxnSp>
      <p:sp>
        <p:nvSpPr>
          <p:cNvPr id="248" name="Shape 248"/>
          <p:cNvSpPr/>
          <p:nvPr/>
        </p:nvSpPr>
        <p:spPr>
          <a:xfrm>
            <a:off x="6048374" y="38544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49" name="Shape 249"/>
          <p:cNvSpPr/>
          <p:nvPr/>
        </p:nvSpPr>
        <p:spPr>
          <a:xfrm>
            <a:off x="6543674" y="38544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50" name="Shape 250"/>
          <p:cNvSpPr/>
          <p:nvPr/>
        </p:nvSpPr>
        <p:spPr>
          <a:xfrm>
            <a:off x="6962774" y="38544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cxnSp>
        <p:nvCxnSpPr>
          <p:cNvPr id="251" name="Connector 251"/>
          <p:cNvCxnSpPr>
            <a:stCxn id="241" idx="0"/>
            <a:endCxn id="248" idx="0"/>
          </p:cNvCxnSpPr>
          <p:nvPr/>
        </p:nvCxnSpPr>
        <p:spPr>
          <a:xfrm flipH="1">
            <a:off x="6200775" y="3473450"/>
            <a:ext cx="261938" cy="533400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52" name="Connector 252"/>
          <p:cNvCxnSpPr>
            <a:stCxn id="241" idx="0"/>
            <a:endCxn id="249" idx="0"/>
          </p:cNvCxnSpPr>
          <p:nvPr/>
        </p:nvCxnSpPr>
        <p:spPr>
          <a:xfrm>
            <a:off x="6462712" y="3473450"/>
            <a:ext cx="233363" cy="533400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53" name="Connector 253"/>
          <p:cNvCxnSpPr>
            <a:stCxn id="240" idx="0"/>
            <a:endCxn id="250" idx="0"/>
          </p:cNvCxnSpPr>
          <p:nvPr/>
        </p:nvCxnSpPr>
        <p:spPr>
          <a:xfrm flipH="1">
            <a:off x="7115175" y="3473450"/>
            <a:ext cx="214313" cy="533400"/>
          </a:xfrm>
          <a:prstGeom prst="straightConnector1">
            <a:avLst/>
          </a:prstGeom>
          <a:ln>
            <a:solidFill/>
            <a:miter/>
          </a:ln>
        </p:spPr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" grpId="0" build="p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OTROS</a:t>
            </a:r>
          </a:p>
        </p:txBody>
      </p:sp>
      <p:sp>
        <p:nvSpPr>
          <p:cNvPr id="256" name="Shape 256"/>
          <p:cNvSpPr>
            <a:spLocks noGrp="1"/>
          </p:cNvSpPr>
          <p:nvPr>
            <p:ph type="body" idx="4294967295"/>
          </p:nvPr>
        </p:nvSpPr>
        <p:spPr>
          <a:xfrm>
            <a:off x="457200" y="1798637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Un árbol </a:t>
            </a:r>
            <a:r>
              <a:rPr sz="2800" dirty="0" err="1">
                <a:solidFill>
                  <a:srgbClr val="002850"/>
                </a:solidFill>
              </a:rPr>
              <a:t>equilibrado</a:t>
            </a:r>
            <a:r>
              <a:rPr sz="2800" dirty="0">
                <a:solidFill>
                  <a:srgbClr val="002850"/>
                </a:solidFill>
              </a:rPr>
              <a:t> es </a:t>
            </a:r>
            <a:r>
              <a:rPr sz="2800" dirty="0" err="1">
                <a:solidFill>
                  <a:srgbClr val="002850"/>
                </a:solidFill>
              </a:rPr>
              <a:t>cuando</a:t>
            </a:r>
            <a:r>
              <a:rPr sz="2800" dirty="0">
                <a:solidFill>
                  <a:srgbClr val="002850"/>
                </a:solidFill>
              </a:rPr>
              <a:t> </a:t>
            </a: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La </a:t>
            </a:r>
            <a:r>
              <a:rPr sz="2400" dirty="0" err="1">
                <a:solidFill>
                  <a:srgbClr val="002850"/>
                </a:solidFill>
              </a:rPr>
              <a:t>diferencia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altura</a:t>
            </a:r>
            <a:r>
              <a:rPr sz="2400" dirty="0">
                <a:solidFill>
                  <a:srgbClr val="002850"/>
                </a:solidFill>
              </a:rPr>
              <a:t> entre los </a:t>
            </a:r>
            <a:r>
              <a:rPr sz="2400" dirty="0" err="1">
                <a:solidFill>
                  <a:srgbClr val="002850"/>
                </a:solidFill>
              </a:rPr>
              <a:t>subárboles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cualquier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 es </a:t>
            </a:r>
            <a:r>
              <a:rPr sz="2400" dirty="0" err="1">
                <a:solidFill>
                  <a:srgbClr val="002850"/>
                </a:solidFill>
              </a:rPr>
              <a:t>máximo</a:t>
            </a:r>
            <a:r>
              <a:rPr sz="2400" dirty="0">
                <a:solidFill>
                  <a:srgbClr val="002850"/>
                </a:solidFill>
              </a:rPr>
              <a:t> 1</a:t>
            </a: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Un árbol </a:t>
            </a:r>
            <a:r>
              <a:rPr sz="2800" dirty="0" err="1">
                <a:solidFill>
                  <a:srgbClr val="002850"/>
                </a:solidFill>
              </a:rPr>
              <a:t>binario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equilibrado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totalmente</a:t>
            </a:r>
            <a:endParaRPr sz="2800" dirty="0">
              <a:solidFill>
                <a:srgbClr val="002850"/>
              </a:solidFill>
            </a:endParaRP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Los </a:t>
            </a:r>
            <a:r>
              <a:rPr sz="2400" dirty="0" err="1">
                <a:solidFill>
                  <a:srgbClr val="002850"/>
                </a:solidFill>
              </a:rPr>
              <a:t>subárboles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izquierdo</a:t>
            </a:r>
            <a:r>
              <a:rPr sz="2400" dirty="0">
                <a:solidFill>
                  <a:srgbClr val="002850"/>
                </a:solidFill>
              </a:rPr>
              <a:t> y derecho de </a:t>
            </a:r>
            <a:r>
              <a:rPr sz="2400" dirty="0" err="1">
                <a:solidFill>
                  <a:srgbClr val="002850"/>
                </a:solidFill>
              </a:rPr>
              <a:t>cada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tienen</a:t>
            </a:r>
            <a:r>
              <a:rPr sz="2400" dirty="0">
                <a:solidFill>
                  <a:srgbClr val="002850"/>
                </a:solidFill>
              </a:rPr>
              <a:t> las </a:t>
            </a:r>
            <a:r>
              <a:rPr sz="2400" dirty="0" err="1">
                <a:solidFill>
                  <a:srgbClr val="002850"/>
                </a:solidFill>
              </a:rPr>
              <a:t>misma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altura</a:t>
            </a:r>
            <a:r>
              <a:rPr sz="2400" dirty="0">
                <a:solidFill>
                  <a:srgbClr val="002850"/>
                </a:solidFill>
              </a:rPr>
              <a:t>: es un árbol </a:t>
            </a:r>
            <a:r>
              <a:rPr sz="2400" dirty="0" err="1">
                <a:solidFill>
                  <a:srgbClr val="002850"/>
                </a:solidFill>
              </a:rPr>
              <a:t>lleno</a:t>
            </a:r>
            <a:endParaRPr sz="2400" dirty="0">
              <a:solidFill>
                <a:srgbClr val="002850"/>
              </a:solidFill>
            </a:endParaRP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Un árbol </a:t>
            </a:r>
            <a:r>
              <a:rPr sz="2800" dirty="0" err="1">
                <a:solidFill>
                  <a:srgbClr val="002850"/>
                </a:solidFill>
              </a:rPr>
              <a:t>completo</a:t>
            </a:r>
            <a:r>
              <a:rPr sz="2800" dirty="0">
                <a:solidFill>
                  <a:srgbClr val="002850"/>
                </a:solidFill>
              </a:rPr>
              <a:t> es </a:t>
            </a:r>
            <a:r>
              <a:rPr sz="2800" dirty="0" err="1">
                <a:solidFill>
                  <a:srgbClr val="002850"/>
                </a:solidFill>
              </a:rPr>
              <a:t>equilibrado</a:t>
            </a:r>
            <a:endParaRPr sz="2800" dirty="0">
              <a:solidFill>
                <a:srgbClr val="002850"/>
              </a:solidFill>
            </a:endParaRP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Un árbol </a:t>
            </a:r>
            <a:r>
              <a:rPr sz="2800" dirty="0" err="1">
                <a:solidFill>
                  <a:srgbClr val="002850"/>
                </a:solidFill>
              </a:rPr>
              <a:t>lleno</a:t>
            </a:r>
            <a:r>
              <a:rPr sz="2800" dirty="0">
                <a:solidFill>
                  <a:srgbClr val="002850"/>
                </a:solidFill>
              </a:rPr>
              <a:t> es </a:t>
            </a:r>
            <a:r>
              <a:rPr sz="2800" dirty="0" err="1">
                <a:solidFill>
                  <a:srgbClr val="002850"/>
                </a:solidFill>
              </a:rPr>
              <a:t>totalmente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equilibrado</a:t>
            </a:r>
            <a:endParaRPr sz="2800" dirty="0">
              <a:solidFill>
                <a:srgbClr val="00285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 build="p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AD938-AD10-134D-BAB3-CB50ECDBC01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100000">
                <a:srgbClr val="005199"/>
              </a:gs>
              <a:gs pos="0">
                <a:srgbClr val="00529B"/>
              </a:gs>
              <a:gs pos="50000">
                <a:srgbClr val="003A7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GB" sz="1350" kern="12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B579-24DF-C54F-86FD-2222CDE2D99B}"/>
              </a:ext>
            </a:extLst>
          </p:cNvPr>
          <p:cNvSpPr txBox="1">
            <a:spLocks noChangeArrowheads="1"/>
          </p:cNvSpPr>
          <p:nvPr/>
        </p:nvSpPr>
        <p:spPr>
          <a:xfrm>
            <a:off x="1761194" y="2819604"/>
            <a:ext cx="5621667" cy="1218795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/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Aplicación</a:t>
            </a:r>
            <a:r>
              <a:rPr lang="en-US" altLang="en-US" b="1" dirty="0">
                <a:solidFill>
                  <a:prstClr val="white"/>
                </a:solidFill>
                <a:latin typeface="Gill Sans MT" panose="020B0502020104020203" pitchFamily="34" charset="0"/>
              </a:rPr>
              <a:t>:</a:t>
            </a:r>
          </a:p>
          <a:p>
            <a:pPr algn="ctr" defTabSz="685800"/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Árboles</a:t>
            </a:r>
            <a:r>
              <a:rPr lang="en-US" altLang="en-US" b="1" dirty="0">
                <a:solidFill>
                  <a:prstClr val="white"/>
                </a:solidFill>
                <a:latin typeface="Gill Sans MT" panose="020B0502020104020203" pitchFamily="34" charset="0"/>
              </a:rPr>
              <a:t> de </a:t>
            </a:r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Expresión</a:t>
            </a:r>
            <a:endParaRPr lang="en-US" altLang="en-US" dirty="0">
              <a:solidFill>
                <a:prstClr val="white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30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704087">
              <a:defRPr sz="3387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3387" i="1">
                <a:solidFill>
                  <a:srgbClr val="008080"/>
                </a:solidFill>
              </a:rPr>
              <a:t>APLICACIÓN: EVALUACION DE EXPRESIONES </a:t>
            </a:r>
          </a:p>
        </p:txBody>
      </p:sp>
      <p:sp>
        <p:nvSpPr>
          <p:cNvPr id="767" name="Shape 767"/>
          <p:cNvSpPr>
            <a:spLocks noGrp="1"/>
          </p:cNvSpPr>
          <p:nvPr>
            <p:ph type="body" idx="4294967295"/>
          </p:nvPr>
        </p:nvSpPr>
        <p:spPr>
          <a:xfrm>
            <a:off x="457200" y="1998662"/>
            <a:ext cx="8229600" cy="4022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Ya sabemos lo de las expresiones, cierto?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InFija, operador en medio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PreFija, operador antes de dos operandos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PosFija, operador luego de dos operandos</a:t>
            </a: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Para evaluar una expresion dada, podriamos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Pasarla a posfija y usar solo pilas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Pasarla a posfija y usar pilas y </a:t>
            </a:r>
            <a:r>
              <a:rPr sz="2400" u="sng">
                <a:solidFill>
                  <a:srgbClr val="002850"/>
                </a:solidFill>
              </a:rPr>
              <a:t>un arbol de expresion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7" grpId="0" build="p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Shape 769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ARBOL DE EXPRESION</a:t>
            </a:r>
          </a:p>
        </p:txBody>
      </p:sp>
      <p:sp>
        <p:nvSpPr>
          <p:cNvPr id="770" name="Shape 770"/>
          <p:cNvSpPr>
            <a:spLocks noGrp="1"/>
          </p:cNvSpPr>
          <p:nvPr>
            <p:ph type="body" idx="4294967295"/>
          </p:nvPr>
        </p:nvSpPr>
        <p:spPr>
          <a:xfrm>
            <a:off x="457200" y="1798637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Arboles que representan expresiones en memoria</a:t>
            </a:r>
          </a:p>
          <a:p>
            <a:pPr marL="742950" lvl="1" indent="-285750">
              <a:lnSpc>
                <a:spcPct val="110000"/>
              </a:lnSpc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Todos los operadores tienen dos operandos</a:t>
            </a:r>
          </a:p>
          <a:p>
            <a:pPr marL="1162050" lvl="2" indent="-228600">
              <a:lnSpc>
                <a:spcPct val="110000"/>
              </a:lnSpc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400" i="1">
                <a:solidFill>
                  <a:srgbClr val="002850"/>
                </a:solidFill>
              </a:rPr>
              <a:t>La raiz puede contener el operador</a:t>
            </a:r>
          </a:p>
          <a:p>
            <a:pPr marL="1162050" lvl="2" indent="-228600">
              <a:lnSpc>
                <a:spcPct val="110000"/>
              </a:lnSpc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400" i="1">
                <a:solidFill>
                  <a:srgbClr val="002850"/>
                </a:solidFill>
              </a:rPr>
              <a:t>Hijo izq: operando 1, Hijo derecho:  operando 2</a:t>
            </a:r>
          </a:p>
          <a:p>
            <a:pPr marL="742950" lvl="1" indent="-285750">
              <a:lnSpc>
                <a:spcPct val="110000"/>
              </a:lnSpc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Ejemplo: (a+b)</a:t>
            </a:r>
          </a:p>
        </p:txBody>
      </p:sp>
      <p:grpSp>
        <p:nvGrpSpPr>
          <p:cNvPr id="782" name="Group 782"/>
          <p:cNvGrpSpPr/>
          <p:nvPr/>
        </p:nvGrpSpPr>
        <p:grpSpPr>
          <a:xfrm>
            <a:off x="1752599" y="4867592"/>
            <a:ext cx="1828801" cy="1145541"/>
            <a:chOff x="0" y="0"/>
            <a:chExt cx="1828800" cy="1145540"/>
          </a:xfrm>
        </p:grpSpPr>
        <p:grpSp>
          <p:nvGrpSpPr>
            <p:cNvPr id="773" name="Group 773"/>
            <p:cNvGrpSpPr/>
            <p:nvPr/>
          </p:nvGrpSpPr>
          <p:grpSpPr>
            <a:xfrm>
              <a:off x="685799" y="-1"/>
              <a:ext cx="457201" cy="459742"/>
              <a:chOff x="0" y="0"/>
              <a:chExt cx="457200" cy="459740"/>
            </a:xfrm>
          </p:grpSpPr>
          <p:sp>
            <p:nvSpPr>
              <p:cNvPr id="771" name="Shape 771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72" name="Shape 772"/>
              <p:cNvSpPr/>
              <p:nvPr/>
            </p:nvSpPr>
            <p:spPr>
              <a:xfrm>
                <a:off x="65653" y="0"/>
                <a:ext cx="32589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+</a:t>
                </a:r>
              </a:p>
            </p:txBody>
          </p:sp>
        </p:grpSp>
        <p:grpSp>
          <p:nvGrpSpPr>
            <p:cNvPr id="776" name="Group 776"/>
            <p:cNvGrpSpPr/>
            <p:nvPr/>
          </p:nvGrpSpPr>
          <p:grpSpPr>
            <a:xfrm>
              <a:off x="-1" y="685799"/>
              <a:ext cx="457201" cy="459742"/>
              <a:chOff x="0" y="0"/>
              <a:chExt cx="457200" cy="459740"/>
            </a:xfrm>
          </p:grpSpPr>
          <p:sp>
            <p:nvSpPr>
              <p:cNvPr id="774" name="Shape 774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75" name="Shape 775"/>
              <p:cNvSpPr/>
              <p:nvPr/>
            </p:nvSpPr>
            <p:spPr>
              <a:xfrm>
                <a:off x="96534" y="0"/>
                <a:ext cx="264132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a</a:t>
                </a:r>
              </a:p>
            </p:txBody>
          </p:sp>
        </p:grpSp>
        <p:grpSp>
          <p:nvGrpSpPr>
            <p:cNvPr id="779" name="Group 779"/>
            <p:cNvGrpSpPr/>
            <p:nvPr/>
          </p:nvGrpSpPr>
          <p:grpSpPr>
            <a:xfrm>
              <a:off x="1371599" y="685799"/>
              <a:ext cx="457201" cy="459742"/>
              <a:chOff x="0" y="0"/>
              <a:chExt cx="457200" cy="459740"/>
            </a:xfrm>
          </p:grpSpPr>
          <p:sp>
            <p:nvSpPr>
              <p:cNvPr id="777" name="Shape 777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78" name="Shape 778"/>
              <p:cNvSpPr/>
              <p:nvPr/>
            </p:nvSpPr>
            <p:spPr>
              <a:xfrm>
                <a:off x="92293" y="0"/>
                <a:ext cx="27261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b</a:t>
                </a:r>
              </a:p>
            </p:txBody>
          </p:sp>
        </p:grpSp>
        <p:sp>
          <p:nvSpPr>
            <p:cNvPr id="780" name="Shape 780"/>
            <p:cNvSpPr/>
            <p:nvPr/>
          </p:nvSpPr>
          <p:spPr>
            <a:xfrm flipH="1">
              <a:off x="390525" y="391795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81" name="Shape 781"/>
            <p:cNvSpPr/>
            <p:nvPr/>
          </p:nvSpPr>
          <p:spPr>
            <a:xfrm>
              <a:off x="1076325" y="391795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783" name="Shape 783"/>
          <p:cNvSpPr/>
          <p:nvPr/>
        </p:nvSpPr>
        <p:spPr>
          <a:xfrm>
            <a:off x="5772150" y="4005262"/>
            <a:ext cx="1194753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400"/>
              </a:spcBef>
              <a:defRPr sz="240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3366"/>
                </a:solidFill>
              </a:rPr>
              <a:t>(a+b)*c</a:t>
            </a:r>
          </a:p>
        </p:txBody>
      </p:sp>
      <p:grpSp>
        <p:nvGrpSpPr>
          <p:cNvPr id="803" name="Group 803"/>
          <p:cNvGrpSpPr/>
          <p:nvPr/>
        </p:nvGrpSpPr>
        <p:grpSpPr>
          <a:xfrm>
            <a:off x="4933949" y="4537392"/>
            <a:ext cx="2590801" cy="1831341"/>
            <a:chOff x="0" y="0"/>
            <a:chExt cx="2590800" cy="1831340"/>
          </a:xfrm>
        </p:grpSpPr>
        <p:grpSp>
          <p:nvGrpSpPr>
            <p:cNvPr id="786" name="Group 786"/>
            <p:cNvGrpSpPr/>
            <p:nvPr/>
          </p:nvGrpSpPr>
          <p:grpSpPr>
            <a:xfrm>
              <a:off x="685799" y="685799"/>
              <a:ext cx="457201" cy="459742"/>
              <a:chOff x="0" y="0"/>
              <a:chExt cx="457200" cy="459740"/>
            </a:xfrm>
          </p:grpSpPr>
          <p:sp>
            <p:nvSpPr>
              <p:cNvPr id="784" name="Shape 784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85" name="Shape 785"/>
              <p:cNvSpPr/>
              <p:nvPr/>
            </p:nvSpPr>
            <p:spPr>
              <a:xfrm>
                <a:off x="65653" y="0"/>
                <a:ext cx="32589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+</a:t>
                </a:r>
              </a:p>
            </p:txBody>
          </p:sp>
        </p:grpSp>
        <p:grpSp>
          <p:nvGrpSpPr>
            <p:cNvPr id="789" name="Group 789"/>
            <p:cNvGrpSpPr/>
            <p:nvPr/>
          </p:nvGrpSpPr>
          <p:grpSpPr>
            <a:xfrm>
              <a:off x="-1" y="1371599"/>
              <a:ext cx="457201" cy="459742"/>
              <a:chOff x="0" y="0"/>
              <a:chExt cx="457200" cy="459740"/>
            </a:xfrm>
          </p:grpSpPr>
          <p:sp>
            <p:nvSpPr>
              <p:cNvPr id="787" name="Shape 787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88" name="Shape 788"/>
              <p:cNvSpPr/>
              <p:nvPr/>
            </p:nvSpPr>
            <p:spPr>
              <a:xfrm>
                <a:off x="96534" y="0"/>
                <a:ext cx="264132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a</a:t>
                </a:r>
              </a:p>
            </p:txBody>
          </p:sp>
        </p:grpSp>
        <p:grpSp>
          <p:nvGrpSpPr>
            <p:cNvPr id="792" name="Group 792"/>
            <p:cNvGrpSpPr/>
            <p:nvPr/>
          </p:nvGrpSpPr>
          <p:grpSpPr>
            <a:xfrm>
              <a:off x="1371599" y="1371599"/>
              <a:ext cx="457201" cy="459742"/>
              <a:chOff x="0" y="0"/>
              <a:chExt cx="457200" cy="459740"/>
            </a:xfrm>
          </p:grpSpPr>
          <p:sp>
            <p:nvSpPr>
              <p:cNvPr id="790" name="Shape 790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91" name="Shape 791"/>
              <p:cNvSpPr/>
              <p:nvPr/>
            </p:nvSpPr>
            <p:spPr>
              <a:xfrm>
                <a:off x="92293" y="0"/>
                <a:ext cx="27261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b</a:t>
                </a:r>
              </a:p>
            </p:txBody>
          </p:sp>
        </p:grpSp>
        <p:sp>
          <p:nvSpPr>
            <p:cNvPr id="793" name="Shape 793"/>
            <p:cNvSpPr/>
            <p:nvPr/>
          </p:nvSpPr>
          <p:spPr>
            <a:xfrm flipH="1">
              <a:off x="390525" y="1077594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94" name="Shape 794"/>
            <p:cNvSpPr/>
            <p:nvPr/>
          </p:nvSpPr>
          <p:spPr>
            <a:xfrm>
              <a:off x="1076325" y="1077594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797" name="Group 797"/>
            <p:cNvGrpSpPr/>
            <p:nvPr/>
          </p:nvGrpSpPr>
          <p:grpSpPr>
            <a:xfrm>
              <a:off x="2133599" y="685799"/>
              <a:ext cx="457201" cy="459742"/>
              <a:chOff x="0" y="0"/>
              <a:chExt cx="457200" cy="459740"/>
            </a:xfrm>
          </p:grpSpPr>
          <p:sp>
            <p:nvSpPr>
              <p:cNvPr id="795" name="Shape 795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96" name="Shape 796"/>
              <p:cNvSpPr/>
              <p:nvPr/>
            </p:nvSpPr>
            <p:spPr>
              <a:xfrm>
                <a:off x="106208" y="0"/>
                <a:ext cx="24478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c</a:t>
                </a:r>
              </a:p>
            </p:txBody>
          </p:sp>
        </p:grpSp>
        <p:grpSp>
          <p:nvGrpSpPr>
            <p:cNvPr id="800" name="Group 800"/>
            <p:cNvGrpSpPr/>
            <p:nvPr/>
          </p:nvGrpSpPr>
          <p:grpSpPr>
            <a:xfrm>
              <a:off x="1447799" y="-1"/>
              <a:ext cx="457201" cy="459742"/>
              <a:chOff x="0" y="0"/>
              <a:chExt cx="457200" cy="459740"/>
            </a:xfrm>
          </p:grpSpPr>
          <p:sp>
            <p:nvSpPr>
              <p:cNvPr id="798" name="Shape 798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99" name="Shape 799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*</a:t>
                </a:r>
              </a:p>
            </p:txBody>
          </p:sp>
        </p:grpSp>
        <p:sp>
          <p:nvSpPr>
            <p:cNvPr id="801" name="Shape 801"/>
            <p:cNvSpPr/>
            <p:nvPr/>
          </p:nvSpPr>
          <p:spPr>
            <a:xfrm flipH="1">
              <a:off x="1076325" y="391795"/>
              <a:ext cx="438151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02" name="Shape 802"/>
            <p:cNvSpPr/>
            <p:nvPr/>
          </p:nvSpPr>
          <p:spPr>
            <a:xfrm>
              <a:off x="1838325" y="391795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" grpId="0" build="p" animBg="1" advAuto="0"/>
      <p:bldP spid="782" grpId="0" animBg="1" advAuto="0"/>
      <p:bldP spid="783" grpId="0" animBg="1" advAuto="0"/>
      <p:bldP spid="803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Shape 805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EJERCICIO EN CLASE</a:t>
            </a:r>
          </a:p>
        </p:txBody>
      </p:sp>
      <p:sp>
        <p:nvSpPr>
          <p:cNvPr id="806" name="Shape 806"/>
          <p:cNvSpPr>
            <a:spLocks noGrp="1"/>
          </p:cNvSpPr>
          <p:nvPr>
            <p:ph type="body" idx="4294967295"/>
          </p:nvPr>
        </p:nvSpPr>
        <p:spPr>
          <a:xfrm>
            <a:off x="457200" y="1798637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Construya arboles de expresion para:</a:t>
            </a:r>
          </a:p>
          <a:p>
            <a:pPr marL="702128" lvl="1" indent="-244928"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[X+(Y*Z)] * (A-B)</a:t>
            </a:r>
          </a:p>
          <a:p>
            <a:pPr marL="300037" lvl="0" indent="-300037"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Deducir las expresiones de los siguientes A.B.</a:t>
            </a:r>
          </a:p>
        </p:txBody>
      </p:sp>
      <p:grpSp>
        <p:nvGrpSpPr>
          <p:cNvPr id="838" name="Group 838"/>
          <p:cNvGrpSpPr/>
          <p:nvPr/>
        </p:nvGrpSpPr>
        <p:grpSpPr>
          <a:xfrm>
            <a:off x="1981200" y="3465829"/>
            <a:ext cx="3657600" cy="3126741"/>
            <a:chOff x="0" y="0"/>
            <a:chExt cx="3657600" cy="3126740"/>
          </a:xfrm>
        </p:grpSpPr>
        <p:grpSp>
          <p:nvGrpSpPr>
            <p:cNvPr id="809" name="Group 809"/>
            <p:cNvGrpSpPr/>
            <p:nvPr/>
          </p:nvGrpSpPr>
          <p:grpSpPr>
            <a:xfrm>
              <a:off x="762000" y="-1"/>
              <a:ext cx="381000" cy="459742"/>
              <a:chOff x="0" y="0"/>
              <a:chExt cx="381000" cy="459740"/>
            </a:xfrm>
          </p:grpSpPr>
          <p:sp>
            <p:nvSpPr>
              <p:cNvPr id="807" name="Shape 807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08" name="Shape 808"/>
              <p:cNvSpPr/>
              <p:nvPr/>
            </p:nvSpPr>
            <p:spPr>
              <a:xfrm>
                <a:off x="27553" y="0"/>
                <a:ext cx="32589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+</a:t>
                </a:r>
              </a:p>
            </p:txBody>
          </p:sp>
        </p:grpSp>
        <p:grpSp>
          <p:nvGrpSpPr>
            <p:cNvPr id="812" name="Group 812"/>
            <p:cNvGrpSpPr/>
            <p:nvPr/>
          </p:nvGrpSpPr>
          <p:grpSpPr>
            <a:xfrm>
              <a:off x="0" y="685799"/>
              <a:ext cx="381000" cy="459742"/>
              <a:chOff x="0" y="0"/>
              <a:chExt cx="381000" cy="459740"/>
            </a:xfrm>
          </p:grpSpPr>
          <p:sp>
            <p:nvSpPr>
              <p:cNvPr id="810" name="Shape 810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11" name="Shape 811"/>
              <p:cNvSpPr/>
              <p:nvPr/>
            </p:nvSpPr>
            <p:spPr>
              <a:xfrm>
                <a:off x="58434" y="0"/>
                <a:ext cx="264132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a</a:t>
                </a:r>
              </a:p>
            </p:txBody>
          </p:sp>
        </p:grpSp>
        <p:grpSp>
          <p:nvGrpSpPr>
            <p:cNvPr id="815" name="Group 815"/>
            <p:cNvGrpSpPr/>
            <p:nvPr/>
          </p:nvGrpSpPr>
          <p:grpSpPr>
            <a:xfrm>
              <a:off x="1524000" y="685799"/>
              <a:ext cx="381000" cy="459742"/>
              <a:chOff x="0" y="0"/>
              <a:chExt cx="381000" cy="459740"/>
            </a:xfrm>
          </p:grpSpPr>
          <p:sp>
            <p:nvSpPr>
              <p:cNvPr id="813" name="Shape 813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14" name="Shape 814"/>
              <p:cNvSpPr/>
              <p:nvPr/>
            </p:nvSpPr>
            <p:spPr>
              <a:xfrm>
                <a:off x="55235" y="0"/>
                <a:ext cx="270530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*</a:t>
                </a:r>
              </a:p>
            </p:txBody>
          </p:sp>
        </p:grpSp>
        <p:grpSp>
          <p:nvGrpSpPr>
            <p:cNvPr id="818" name="Group 818"/>
            <p:cNvGrpSpPr/>
            <p:nvPr/>
          </p:nvGrpSpPr>
          <p:grpSpPr>
            <a:xfrm>
              <a:off x="990600" y="1371599"/>
              <a:ext cx="381000" cy="459742"/>
              <a:chOff x="0" y="0"/>
              <a:chExt cx="381000" cy="459740"/>
            </a:xfrm>
          </p:grpSpPr>
          <p:sp>
            <p:nvSpPr>
              <p:cNvPr id="816" name="Shape 816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17" name="Shape 817"/>
              <p:cNvSpPr/>
              <p:nvPr/>
            </p:nvSpPr>
            <p:spPr>
              <a:xfrm>
                <a:off x="54193" y="0"/>
                <a:ext cx="27261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b</a:t>
                </a:r>
              </a:p>
            </p:txBody>
          </p:sp>
        </p:grpSp>
        <p:grpSp>
          <p:nvGrpSpPr>
            <p:cNvPr id="821" name="Group 821"/>
            <p:cNvGrpSpPr/>
            <p:nvPr/>
          </p:nvGrpSpPr>
          <p:grpSpPr>
            <a:xfrm>
              <a:off x="2133600" y="1371599"/>
              <a:ext cx="381000" cy="459742"/>
              <a:chOff x="0" y="0"/>
              <a:chExt cx="381000" cy="459740"/>
            </a:xfrm>
          </p:grpSpPr>
          <p:sp>
            <p:nvSpPr>
              <p:cNvPr id="819" name="Shape 819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20" name="Shape 820"/>
              <p:cNvSpPr/>
              <p:nvPr/>
            </p:nvSpPr>
            <p:spPr>
              <a:xfrm>
                <a:off x="83065" y="0"/>
                <a:ext cx="214870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-</a:t>
                </a:r>
              </a:p>
            </p:txBody>
          </p:sp>
        </p:grpSp>
        <p:grpSp>
          <p:nvGrpSpPr>
            <p:cNvPr id="824" name="Group 824"/>
            <p:cNvGrpSpPr/>
            <p:nvPr/>
          </p:nvGrpSpPr>
          <p:grpSpPr>
            <a:xfrm>
              <a:off x="2667000" y="1981199"/>
              <a:ext cx="381000" cy="459742"/>
              <a:chOff x="0" y="0"/>
              <a:chExt cx="381000" cy="459740"/>
            </a:xfrm>
          </p:grpSpPr>
          <p:sp>
            <p:nvSpPr>
              <p:cNvPr id="822" name="Shape 822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23" name="Shape 823"/>
              <p:cNvSpPr/>
              <p:nvPr/>
            </p:nvSpPr>
            <p:spPr>
              <a:xfrm>
                <a:off x="27553" y="0"/>
                <a:ext cx="32589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+</a:t>
                </a:r>
              </a:p>
            </p:txBody>
          </p:sp>
        </p:grpSp>
        <p:grpSp>
          <p:nvGrpSpPr>
            <p:cNvPr id="827" name="Group 827"/>
            <p:cNvGrpSpPr/>
            <p:nvPr/>
          </p:nvGrpSpPr>
          <p:grpSpPr>
            <a:xfrm>
              <a:off x="2133600" y="2666999"/>
              <a:ext cx="381000" cy="459742"/>
              <a:chOff x="0" y="0"/>
              <a:chExt cx="381000" cy="459740"/>
            </a:xfrm>
          </p:grpSpPr>
          <p:sp>
            <p:nvSpPr>
              <p:cNvPr id="825" name="Shape 825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26" name="Shape 826"/>
              <p:cNvSpPr/>
              <p:nvPr/>
            </p:nvSpPr>
            <p:spPr>
              <a:xfrm>
                <a:off x="68108" y="0"/>
                <a:ext cx="24478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c</a:t>
                </a:r>
              </a:p>
            </p:txBody>
          </p:sp>
        </p:grpSp>
        <p:grpSp>
          <p:nvGrpSpPr>
            <p:cNvPr id="830" name="Group 830"/>
            <p:cNvGrpSpPr/>
            <p:nvPr/>
          </p:nvGrpSpPr>
          <p:grpSpPr>
            <a:xfrm>
              <a:off x="3276600" y="2666999"/>
              <a:ext cx="381000" cy="459742"/>
              <a:chOff x="0" y="0"/>
              <a:chExt cx="381000" cy="459740"/>
            </a:xfrm>
          </p:grpSpPr>
          <p:sp>
            <p:nvSpPr>
              <p:cNvPr id="828" name="Shape 828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29" name="Shape 829"/>
              <p:cNvSpPr/>
              <p:nvPr/>
            </p:nvSpPr>
            <p:spPr>
              <a:xfrm>
                <a:off x="54193" y="0"/>
                <a:ext cx="27261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d</a:t>
                </a:r>
              </a:p>
            </p:txBody>
          </p:sp>
        </p:grpSp>
        <p:sp>
          <p:nvSpPr>
            <p:cNvPr id="831" name="Shape 831"/>
            <p:cNvSpPr/>
            <p:nvPr/>
          </p:nvSpPr>
          <p:spPr>
            <a:xfrm flipH="1">
              <a:off x="2459037" y="234600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2" name="Shape 832"/>
            <p:cNvSpPr/>
            <p:nvPr/>
          </p:nvSpPr>
          <p:spPr>
            <a:xfrm>
              <a:off x="2992437" y="234600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3" name="Shape 833"/>
            <p:cNvSpPr/>
            <p:nvPr/>
          </p:nvSpPr>
          <p:spPr>
            <a:xfrm>
              <a:off x="2459037" y="1736407"/>
              <a:ext cx="263526" cy="3397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4" name="Shape 834"/>
            <p:cNvSpPr/>
            <p:nvPr/>
          </p:nvSpPr>
          <p:spPr>
            <a:xfrm>
              <a:off x="1849437" y="105060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5" name="Shape 835"/>
            <p:cNvSpPr/>
            <p:nvPr/>
          </p:nvSpPr>
          <p:spPr>
            <a:xfrm flipH="1">
              <a:off x="1316037" y="105060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6" name="Shape 836"/>
            <p:cNvSpPr/>
            <p:nvPr/>
          </p:nvSpPr>
          <p:spPr>
            <a:xfrm>
              <a:off x="1087437" y="364807"/>
              <a:ext cx="4921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7" name="Shape 837"/>
            <p:cNvSpPr/>
            <p:nvPr/>
          </p:nvSpPr>
          <p:spPr>
            <a:xfrm flipH="1">
              <a:off x="325437" y="364807"/>
              <a:ext cx="4921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" grpId="0" build="p" animBg="1" advAuto="0"/>
      <p:bldP spid="838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Shape 840"/>
          <p:cNvSpPr>
            <a:spLocks noGrp="1"/>
          </p:cNvSpPr>
          <p:nvPr>
            <p:ph type="title" idx="4294967295"/>
          </p:nvPr>
        </p:nvSpPr>
        <p:spPr>
          <a:xfrm>
            <a:off x="381000" y="765174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640079">
              <a:defRPr sz="3359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3359" i="1">
                <a:solidFill>
                  <a:srgbClr val="008080"/>
                </a:solidFill>
              </a:rPr>
              <a:t>EVALUAR UNA EXPRESION ARTIMETICA EN INFIJA</a:t>
            </a:r>
          </a:p>
        </p:txBody>
      </p:sp>
      <p:sp>
        <p:nvSpPr>
          <p:cNvPr id="841" name="Shape 841"/>
          <p:cNvSpPr>
            <a:spLocks noGrp="1"/>
          </p:cNvSpPr>
          <p:nvPr>
            <p:ph type="body" idx="4294967295"/>
          </p:nvPr>
        </p:nvSpPr>
        <p:spPr>
          <a:xfrm>
            <a:off x="457200" y="2359025"/>
            <a:ext cx="8229600" cy="330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La expresion se transforma a la expresion posfija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Esto, ya sabemos como hacer</a:t>
            </a: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i="1">
                <a:solidFill>
                  <a:srgbClr val="002850"/>
                </a:solidFill>
              </a:rPr>
              <a:t>Crear un arbol de expresion</a:t>
            </a:r>
            <a:endParaRPr sz="2800">
              <a:solidFill>
                <a:srgbClr val="002850"/>
              </a:solidFill>
            </a:endParaRP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Para esto se va a usar una pila y un arbol de caracteres</a:t>
            </a: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Usando el arbol, evaluar la expresion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" grpId="0" build="p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Shape 843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850391">
              <a:defRPr sz="4092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092" i="1">
                <a:solidFill>
                  <a:srgbClr val="008080"/>
                </a:solidFill>
              </a:rPr>
              <a:t>CREAR UN ARBOL DE EXPRESION</a:t>
            </a:r>
          </a:p>
        </p:txBody>
      </p:sp>
      <p:sp>
        <p:nvSpPr>
          <p:cNvPr id="844" name="Shape 844"/>
          <p:cNvSpPr>
            <a:spLocks noGrp="1"/>
          </p:cNvSpPr>
          <p:nvPr>
            <p:ph type="body" idx="4294967295"/>
          </p:nvPr>
        </p:nvSpPr>
        <p:spPr>
          <a:xfrm>
            <a:off x="685800" y="1844675"/>
            <a:ext cx="7772400" cy="4403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Los operandos seran siempre nodos hoja del arbol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Al revisar un operando, creo una nueva hoja y la recuerdo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Los operadores seran nodos padre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Al revisar un operador, recuerdo las dos ultimas hojas creadas y uno todo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No debo olvidar el nuevo arbolito que he creado</a:t>
            </a:r>
          </a:p>
        </p:txBody>
      </p:sp>
      <p:sp>
        <p:nvSpPr>
          <p:cNvPr id="845" name="Shape 845"/>
          <p:cNvSpPr/>
          <p:nvPr/>
        </p:nvSpPr>
        <p:spPr>
          <a:xfrm>
            <a:off x="381000" y="4191000"/>
            <a:ext cx="1738422" cy="469265"/>
          </a:xfrm>
          <a:prstGeom prst="rect">
            <a:avLst/>
          </a:prstGeom>
          <a:solidFill>
            <a:srgbClr val="CCFFFF"/>
          </a:solidFill>
          <a:ln>
            <a:solidFill>
              <a:srgbClr val="00CCFF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2400"/>
              <a:t>A*B-C*D+H</a:t>
            </a:r>
          </a:p>
        </p:txBody>
      </p:sp>
      <p:sp>
        <p:nvSpPr>
          <p:cNvPr id="846" name="Shape 846"/>
          <p:cNvSpPr/>
          <p:nvPr/>
        </p:nvSpPr>
        <p:spPr>
          <a:xfrm>
            <a:off x="2438400" y="4191000"/>
            <a:ext cx="1736934" cy="469265"/>
          </a:xfrm>
          <a:prstGeom prst="rect">
            <a:avLst/>
          </a:prstGeom>
          <a:solidFill>
            <a:srgbClr val="E7FFE7"/>
          </a:solidFill>
          <a:ln>
            <a:solidFill>
              <a:srgbClr val="00FF00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2400" dirty="0"/>
              <a:t>AB*CD*-H+</a:t>
            </a:r>
          </a:p>
        </p:txBody>
      </p:sp>
      <p:sp>
        <p:nvSpPr>
          <p:cNvPr id="847" name="Shape 847"/>
          <p:cNvSpPr/>
          <p:nvPr/>
        </p:nvSpPr>
        <p:spPr>
          <a:xfrm flipV="1">
            <a:off x="2627312" y="4656137"/>
            <a:ext cx="1" cy="6096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50" name="Group 850"/>
          <p:cNvGrpSpPr/>
          <p:nvPr/>
        </p:nvGrpSpPr>
        <p:grpSpPr>
          <a:xfrm>
            <a:off x="1905000" y="6310629"/>
            <a:ext cx="304801" cy="332741"/>
            <a:chOff x="0" y="0"/>
            <a:chExt cx="304800" cy="332740"/>
          </a:xfrm>
        </p:grpSpPr>
        <p:sp>
          <p:nvSpPr>
            <p:cNvPr id="848" name="Shape 84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49" name="Shape 849"/>
            <p:cNvSpPr/>
            <p:nvPr/>
          </p:nvSpPr>
          <p:spPr>
            <a:xfrm>
              <a:off x="39409" y="-1"/>
              <a:ext cx="225982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A</a:t>
              </a:r>
            </a:p>
          </p:txBody>
        </p:sp>
      </p:grpSp>
      <p:grpSp>
        <p:nvGrpSpPr>
          <p:cNvPr id="854" name="Group 854"/>
          <p:cNvGrpSpPr/>
          <p:nvPr/>
        </p:nvGrpSpPr>
        <p:grpSpPr>
          <a:xfrm>
            <a:off x="685799" y="5029200"/>
            <a:ext cx="914401" cy="1447800"/>
            <a:chOff x="0" y="0"/>
            <a:chExt cx="914400" cy="1447799"/>
          </a:xfrm>
        </p:grpSpPr>
        <p:sp>
          <p:nvSpPr>
            <p:cNvPr id="851" name="Shape 851"/>
            <p:cNvSpPr/>
            <p:nvPr/>
          </p:nvSpPr>
          <p:spPr>
            <a:xfrm flipH="1">
              <a:off x="-1" y="76200"/>
              <a:ext cx="2" cy="13716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52" name="Shape 852"/>
            <p:cNvSpPr/>
            <p:nvPr/>
          </p:nvSpPr>
          <p:spPr>
            <a:xfrm>
              <a:off x="0" y="1447800"/>
              <a:ext cx="9144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53" name="Shape 853"/>
            <p:cNvSpPr/>
            <p:nvPr/>
          </p:nvSpPr>
          <p:spPr>
            <a:xfrm flipV="1">
              <a:off x="914399" y="0"/>
              <a:ext cx="1" cy="1447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855" name="Shape 855"/>
          <p:cNvSpPr/>
          <p:nvPr/>
        </p:nvSpPr>
        <p:spPr>
          <a:xfrm>
            <a:off x="685800" y="6248400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6" name="Shape 1046"/>
          <p:cNvSpPr/>
          <p:nvPr/>
        </p:nvSpPr>
        <p:spPr>
          <a:xfrm>
            <a:off x="1604962" y="6420445"/>
            <a:ext cx="296473" cy="370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57" name="Shape 857"/>
          <p:cNvSpPr/>
          <p:nvPr/>
        </p:nvSpPr>
        <p:spPr>
          <a:xfrm flipV="1">
            <a:off x="2819400" y="4656137"/>
            <a:ext cx="0" cy="6096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60" name="Group 860"/>
          <p:cNvGrpSpPr/>
          <p:nvPr/>
        </p:nvGrpSpPr>
        <p:grpSpPr>
          <a:xfrm>
            <a:off x="1905000" y="5929629"/>
            <a:ext cx="304801" cy="332741"/>
            <a:chOff x="0" y="0"/>
            <a:chExt cx="304800" cy="332740"/>
          </a:xfrm>
        </p:grpSpPr>
        <p:sp>
          <p:nvSpPr>
            <p:cNvPr id="858" name="Shape 85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59" name="Shape 859"/>
            <p:cNvSpPr/>
            <p:nvPr/>
          </p:nvSpPr>
          <p:spPr>
            <a:xfrm>
              <a:off x="40451" y="-1"/>
              <a:ext cx="22389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B</a:t>
              </a:r>
            </a:p>
          </p:txBody>
        </p:sp>
      </p:grpSp>
      <p:sp>
        <p:nvSpPr>
          <p:cNvPr id="861" name="Shape 861"/>
          <p:cNvSpPr/>
          <p:nvPr/>
        </p:nvSpPr>
        <p:spPr>
          <a:xfrm>
            <a:off x="685800" y="6019800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7" name="Shape 1047"/>
          <p:cNvSpPr/>
          <p:nvPr/>
        </p:nvSpPr>
        <p:spPr>
          <a:xfrm>
            <a:off x="1604962" y="6102542"/>
            <a:ext cx="295415" cy="123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63" name="Shape 863"/>
          <p:cNvSpPr/>
          <p:nvPr/>
        </p:nvSpPr>
        <p:spPr>
          <a:xfrm flipV="1">
            <a:off x="2979737" y="4656137"/>
            <a:ext cx="1" cy="6096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69" name="Group 869"/>
          <p:cNvGrpSpPr/>
          <p:nvPr/>
        </p:nvGrpSpPr>
        <p:grpSpPr>
          <a:xfrm>
            <a:off x="685800" y="5029200"/>
            <a:ext cx="914400" cy="1447801"/>
            <a:chOff x="0" y="0"/>
            <a:chExt cx="914400" cy="1447800"/>
          </a:xfrm>
        </p:grpSpPr>
        <p:sp>
          <p:nvSpPr>
            <p:cNvPr id="864" name="Shape 864"/>
            <p:cNvSpPr/>
            <p:nvPr/>
          </p:nvSpPr>
          <p:spPr>
            <a:xfrm>
              <a:off x="7937" y="990600"/>
              <a:ext cx="906463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868" name="Group 868"/>
            <p:cNvGrpSpPr/>
            <p:nvPr/>
          </p:nvGrpSpPr>
          <p:grpSpPr>
            <a:xfrm>
              <a:off x="-1" y="0"/>
              <a:ext cx="914402" cy="1447800"/>
              <a:chOff x="0" y="0"/>
              <a:chExt cx="914400" cy="1447799"/>
            </a:xfrm>
          </p:grpSpPr>
          <p:sp>
            <p:nvSpPr>
              <p:cNvPr id="865" name="Shape 865"/>
              <p:cNvSpPr/>
              <p:nvPr/>
            </p:nvSpPr>
            <p:spPr>
              <a:xfrm flipH="1">
                <a:off x="-1" y="76200"/>
                <a:ext cx="2" cy="13716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866" name="Shape 866"/>
              <p:cNvSpPr/>
              <p:nvPr/>
            </p:nvSpPr>
            <p:spPr>
              <a:xfrm>
                <a:off x="0" y="1447800"/>
                <a:ext cx="91440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867" name="Shape 867"/>
              <p:cNvSpPr/>
              <p:nvPr/>
            </p:nvSpPr>
            <p:spPr>
              <a:xfrm flipV="1">
                <a:off x="914399" y="0"/>
                <a:ext cx="1" cy="14478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</p:grpSp>
      <p:grpSp>
        <p:nvGrpSpPr>
          <p:cNvPr id="877" name="Group 877"/>
          <p:cNvGrpSpPr/>
          <p:nvPr/>
        </p:nvGrpSpPr>
        <p:grpSpPr>
          <a:xfrm>
            <a:off x="685800" y="5029200"/>
            <a:ext cx="914400" cy="1447801"/>
            <a:chOff x="0" y="0"/>
            <a:chExt cx="914400" cy="1447800"/>
          </a:xfrm>
        </p:grpSpPr>
        <p:sp>
          <p:nvSpPr>
            <p:cNvPr id="870" name="Shape 870"/>
            <p:cNvSpPr/>
            <p:nvPr/>
          </p:nvSpPr>
          <p:spPr>
            <a:xfrm>
              <a:off x="0" y="12192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876" name="Group 876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871" name="Shape 871"/>
              <p:cNvSpPr/>
              <p:nvPr/>
            </p:nvSpPr>
            <p:spPr>
              <a:xfrm>
                <a:off x="7937" y="990600"/>
                <a:ext cx="906463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875" name="Group 875"/>
              <p:cNvGrpSpPr/>
              <p:nvPr/>
            </p:nvGrpSpPr>
            <p:grpSpPr>
              <a:xfrm>
                <a:off x="-1" y="0"/>
                <a:ext cx="914402" cy="1447800"/>
                <a:chOff x="0" y="0"/>
                <a:chExt cx="914400" cy="1447799"/>
              </a:xfrm>
            </p:grpSpPr>
            <p:sp>
              <p:nvSpPr>
                <p:cNvPr id="872" name="Shape 872"/>
                <p:cNvSpPr/>
                <p:nvPr/>
              </p:nvSpPr>
              <p:spPr>
                <a:xfrm flipH="1">
                  <a:off x="-1" y="76200"/>
                  <a:ext cx="2" cy="13716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873" name="Shape 873"/>
                <p:cNvSpPr/>
                <p:nvPr/>
              </p:nvSpPr>
              <p:spPr>
                <a:xfrm>
                  <a:off x="0" y="1447800"/>
                  <a:ext cx="914400" cy="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874" name="Shape 874"/>
                <p:cNvSpPr/>
                <p:nvPr/>
              </p:nvSpPr>
              <p:spPr>
                <a:xfrm flipV="1">
                  <a:off x="914399" y="0"/>
                  <a:ext cx="1" cy="14478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880" name="Group 880"/>
          <p:cNvGrpSpPr/>
          <p:nvPr/>
        </p:nvGrpSpPr>
        <p:grpSpPr>
          <a:xfrm>
            <a:off x="2895600" y="6005829"/>
            <a:ext cx="304801" cy="332741"/>
            <a:chOff x="0" y="0"/>
            <a:chExt cx="304800" cy="332740"/>
          </a:xfrm>
        </p:grpSpPr>
        <p:sp>
          <p:nvSpPr>
            <p:cNvPr id="878" name="Shape 87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79" name="Shape 879"/>
            <p:cNvSpPr/>
            <p:nvPr/>
          </p:nvSpPr>
          <p:spPr>
            <a:xfrm>
              <a:off x="44866" y="-1"/>
              <a:ext cx="21506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*</a:t>
              </a:r>
            </a:p>
          </p:txBody>
        </p:sp>
      </p:grpSp>
      <p:grpSp>
        <p:nvGrpSpPr>
          <p:cNvPr id="883" name="Group 883"/>
          <p:cNvGrpSpPr/>
          <p:nvPr/>
        </p:nvGrpSpPr>
        <p:grpSpPr>
          <a:xfrm>
            <a:off x="3276600" y="6386829"/>
            <a:ext cx="304801" cy="332741"/>
            <a:chOff x="0" y="0"/>
            <a:chExt cx="304800" cy="332740"/>
          </a:xfrm>
        </p:grpSpPr>
        <p:sp>
          <p:nvSpPr>
            <p:cNvPr id="881" name="Shape 881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82" name="Shape 882"/>
            <p:cNvSpPr/>
            <p:nvPr/>
          </p:nvSpPr>
          <p:spPr>
            <a:xfrm>
              <a:off x="40451" y="-1"/>
              <a:ext cx="22389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B</a:t>
              </a:r>
            </a:p>
          </p:txBody>
        </p:sp>
      </p:grpSp>
      <p:sp>
        <p:nvSpPr>
          <p:cNvPr id="1048" name="Shape 1048"/>
          <p:cNvSpPr/>
          <p:nvPr/>
        </p:nvSpPr>
        <p:spPr>
          <a:xfrm>
            <a:off x="3159085" y="6283285"/>
            <a:ext cx="157997" cy="15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887" name="Group 887"/>
          <p:cNvGrpSpPr/>
          <p:nvPr/>
        </p:nvGrpSpPr>
        <p:grpSpPr>
          <a:xfrm>
            <a:off x="2590800" y="6431279"/>
            <a:ext cx="304801" cy="332741"/>
            <a:chOff x="0" y="0"/>
            <a:chExt cx="304800" cy="332740"/>
          </a:xfrm>
        </p:grpSpPr>
        <p:sp>
          <p:nvSpPr>
            <p:cNvPr id="885" name="Shape 885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86" name="Shape 886"/>
            <p:cNvSpPr/>
            <p:nvPr/>
          </p:nvSpPr>
          <p:spPr>
            <a:xfrm>
              <a:off x="39409" y="-1"/>
              <a:ext cx="225982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A</a:t>
              </a:r>
            </a:p>
          </p:txBody>
        </p:sp>
      </p:grpSp>
      <p:sp>
        <p:nvSpPr>
          <p:cNvPr id="1049" name="Shape 1049"/>
          <p:cNvSpPr/>
          <p:nvPr/>
        </p:nvSpPr>
        <p:spPr>
          <a:xfrm>
            <a:off x="2855912" y="6322326"/>
            <a:ext cx="84535" cy="11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89" name="Shape 889"/>
          <p:cNvSpPr/>
          <p:nvPr/>
        </p:nvSpPr>
        <p:spPr>
          <a:xfrm>
            <a:off x="685800" y="6248400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0" name="Shape 1050"/>
          <p:cNvSpPr/>
          <p:nvPr/>
        </p:nvSpPr>
        <p:spPr>
          <a:xfrm>
            <a:off x="1604962" y="6187837"/>
            <a:ext cx="1286659" cy="1286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91" name="Shape 891"/>
          <p:cNvSpPr/>
          <p:nvPr/>
        </p:nvSpPr>
        <p:spPr>
          <a:xfrm flipV="1">
            <a:off x="3148012" y="4648200"/>
            <a:ext cx="1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94" name="Group 894"/>
          <p:cNvGrpSpPr/>
          <p:nvPr/>
        </p:nvGrpSpPr>
        <p:grpSpPr>
          <a:xfrm>
            <a:off x="2133600" y="5624829"/>
            <a:ext cx="304801" cy="332741"/>
            <a:chOff x="0" y="0"/>
            <a:chExt cx="304800" cy="332740"/>
          </a:xfrm>
        </p:grpSpPr>
        <p:sp>
          <p:nvSpPr>
            <p:cNvPr id="892" name="Shape 892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93" name="Shape 893"/>
            <p:cNvSpPr/>
            <p:nvPr/>
          </p:nvSpPr>
          <p:spPr>
            <a:xfrm>
              <a:off x="39310" y="-1"/>
              <a:ext cx="22618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C</a:t>
              </a:r>
            </a:p>
          </p:txBody>
        </p:sp>
      </p:grpSp>
      <p:sp>
        <p:nvSpPr>
          <p:cNvPr id="895" name="Shape 895"/>
          <p:cNvSpPr/>
          <p:nvPr/>
        </p:nvSpPr>
        <p:spPr>
          <a:xfrm>
            <a:off x="685800" y="6019800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1" name="Shape 1051"/>
          <p:cNvSpPr/>
          <p:nvPr/>
        </p:nvSpPr>
        <p:spPr>
          <a:xfrm>
            <a:off x="1539874" y="5836361"/>
            <a:ext cx="595587" cy="1786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97" name="Shape 897"/>
          <p:cNvSpPr/>
          <p:nvPr/>
        </p:nvSpPr>
        <p:spPr>
          <a:xfrm flipV="1">
            <a:off x="3328987" y="4654550"/>
            <a:ext cx="1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00" name="Group 900"/>
          <p:cNvGrpSpPr/>
          <p:nvPr/>
        </p:nvGrpSpPr>
        <p:grpSpPr>
          <a:xfrm>
            <a:off x="2133600" y="5243829"/>
            <a:ext cx="304801" cy="332741"/>
            <a:chOff x="0" y="0"/>
            <a:chExt cx="304800" cy="332740"/>
          </a:xfrm>
        </p:grpSpPr>
        <p:sp>
          <p:nvSpPr>
            <p:cNvPr id="898" name="Shape 89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99" name="Shape 899"/>
            <p:cNvSpPr/>
            <p:nvPr/>
          </p:nvSpPr>
          <p:spPr>
            <a:xfrm>
              <a:off x="31422" y="-1"/>
              <a:ext cx="241956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D</a:t>
              </a:r>
            </a:p>
          </p:txBody>
        </p:sp>
      </p:grpSp>
      <p:sp>
        <p:nvSpPr>
          <p:cNvPr id="901" name="Shape 901"/>
          <p:cNvSpPr/>
          <p:nvPr/>
        </p:nvSpPr>
        <p:spPr>
          <a:xfrm>
            <a:off x="685800" y="5791200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2" name="Shape 1052"/>
          <p:cNvSpPr/>
          <p:nvPr/>
        </p:nvSpPr>
        <p:spPr>
          <a:xfrm>
            <a:off x="1417759" y="5472686"/>
            <a:ext cx="724041" cy="313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03" name="Shape 903"/>
          <p:cNvSpPr/>
          <p:nvPr/>
        </p:nvSpPr>
        <p:spPr>
          <a:xfrm flipV="1">
            <a:off x="3529012" y="4660900"/>
            <a:ext cx="1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09" name="Group 909"/>
          <p:cNvGrpSpPr/>
          <p:nvPr/>
        </p:nvGrpSpPr>
        <p:grpSpPr>
          <a:xfrm>
            <a:off x="685800" y="5029200"/>
            <a:ext cx="914400" cy="1447801"/>
            <a:chOff x="0" y="0"/>
            <a:chExt cx="914400" cy="1447800"/>
          </a:xfrm>
        </p:grpSpPr>
        <p:sp>
          <p:nvSpPr>
            <p:cNvPr id="904" name="Shape 904"/>
            <p:cNvSpPr/>
            <p:nvPr/>
          </p:nvSpPr>
          <p:spPr>
            <a:xfrm>
              <a:off x="0" y="7620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08" name="Group 908"/>
            <p:cNvGrpSpPr/>
            <p:nvPr/>
          </p:nvGrpSpPr>
          <p:grpSpPr>
            <a:xfrm>
              <a:off x="-1" y="0"/>
              <a:ext cx="914402" cy="1447800"/>
              <a:chOff x="0" y="0"/>
              <a:chExt cx="914400" cy="1447799"/>
            </a:xfrm>
          </p:grpSpPr>
          <p:sp>
            <p:nvSpPr>
              <p:cNvPr id="905" name="Shape 905"/>
              <p:cNvSpPr/>
              <p:nvPr/>
            </p:nvSpPr>
            <p:spPr>
              <a:xfrm flipH="1">
                <a:off x="-1" y="76200"/>
                <a:ext cx="2" cy="13716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906" name="Shape 906"/>
              <p:cNvSpPr/>
              <p:nvPr/>
            </p:nvSpPr>
            <p:spPr>
              <a:xfrm>
                <a:off x="0" y="1447800"/>
                <a:ext cx="91440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907" name="Shape 907"/>
              <p:cNvSpPr/>
              <p:nvPr/>
            </p:nvSpPr>
            <p:spPr>
              <a:xfrm flipV="1">
                <a:off x="914399" y="0"/>
                <a:ext cx="1" cy="14478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</p:grpSp>
      <p:grpSp>
        <p:nvGrpSpPr>
          <p:cNvPr id="917" name="Group 917"/>
          <p:cNvGrpSpPr/>
          <p:nvPr/>
        </p:nvGrpSpPr>
        <p:grpSpPr>
          <a:xfrm>
            <a:off x="685800" y="5029200"/>
            <a:ext cx="914400" cy="1447801"/>
            <a:chOff x="0" y="0"/>
            <a:chExt cx="914400" cy="1447800"/>
          </a:xfrm>
        </p:grpSpPr>
        <p:sp>
          <p:nvSpPr>
            <p:cNvPr id="910" name="Shape 910"/>
            <p:cNvSpPr/>
            <p:nvPr/>
          </p:nvSpPr>
          <p:spPr>
            <a:xfrm>
              <a:off x="0" y="9906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16" name="Group 916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11" name="Shape 911"/>
              <p:cNvSpPr/>
              <p:nvPr/>
            </p:nvSpPr>
            <p:spPr>
              <a:xfrm>
                <a:off x="0" y="7620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915" name="Group 915"/>
              <p:cNvGrpSpPr/>
              <p:nvPr/>
            </p:nvGrpSpPr>
            <p:grpSpPr>
              <a:xfrm>
                <a:off x="-1" y="0"/>
                <a:ext cx="914402" cy="1447800"/>
                <a:chOff x="0" y="0"/>
                <a:chExt cx="914400" cy="1447799"/>
              </a:xfrm>
            </p:grpSpPr>
            <p:sp>
              <p:nvSpPr>
                <p:cNvPr id="912" name="Shape 912"/>
                <p:cNvSpPr/>
                <p:nvPr/>
              </p:nvSpPr>
              <p:spPr>
                <a:xfrm flipH="1">
                  <a:off x="-1" y="76200"/>
                  <a:ext cx="2" cy="13716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13" name="Shape 913"/>
                <p:cNvSpPr/>
                <p:nvPr/>
              </p:nvSpPr>
              <p:spPr>
                <a:xfrm>
                  <a:off x="0" y="1447800"/>
                  <a:ext cx="914400" cy="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14" name="Shape 914"/>
                <p:cNvSpPr/>
                <p:nvPr/>
              </p:nvSpPr>
              <p:spPr>
                <a:xfrm flipV="1">
                  <a:off x="914399" y="0"/>
                  <a:ext cx="1" cy="14478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920" name="Group 920"/>
          <p:cNvGrpSpPr/>
          <p:nvPr/>
        </p:nvGrpSpPr>
        <p:grpSpPr>
          <a:xfrm>
            <a:off x="4343400" y="5624829"/>
            <a:ext cx="304801" cy="332741"/>
            <a:chOff x="0" y="0"/>
            <a:chExt cx="304800" cy="332740"/>
          </a:xfrm>
        </p:grpSpPr>
        <p:sp>
          <p:nvSpPr>
            <p:cNvPr id="918" name="Shape 91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19" name="Shape 919"/>
            <p:cNvSpPr/>
            <p:nvPr/>
          </p:nvSpPr>
          <p:spPr>
            <a:xfrm>
              <a:off x="44866" y="-1"/>
              <a:ext cx="21506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*</a:t>
              </a:r>
            </a:p>
          </p:txBody>
        </p:sp>
      </p:grpSp>
      <p:grpSp>
        <p:nvGrpSpPr>
          <p:cNvPr id="923" name="Group 923"/>
          <p:cNvGrpSpPr/>
          <p:nvPr/>
        </p:nvGrpSpPr>
        <p:grpSpPr>
          <a:xfrm>
            <a:off x="4648200" y="6082029"/>
            <a:ext cx="304801" cy="332741"/>
            <a:chOff x="0" y="0"/>
            <a:chExt cx="304800" cy="332740"/>
          </a:xfrm>
        </p:grpSpPr>
        <p:sp>
          <p:nvSpPr>
            <p:cNvPr id="921" name="Shape 921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22" name="Shape 922"/>
            <p:cNvSpPr/>
            <p:nvPr/>
          </p:nvSpPr>
          <p:spPr>
            <a:xfrm>
              <a:off x="31422" y="-1"/>
              <a:ext cx="241956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D</a:t>
              </a:r>
            </a:p>
          </p:txBody>
        </p:sp>
      </p:grpSp>
      <p:grpSp>
        <p:nvGrpSpPr>
          <p:cNvPr id="926" name="Group 926"/>
          <p:cNvGrpSpPr/>
          <p:nvPr/>
        </p:nvGrpSpPr>
        <p:grpSpPr>
          <a:xfrm>
            <a:off x="4114800" y="6082029"/>
            <a:ext cx="304801" cy="332741"/>
            <a:chOff x="0" y="0"/>
            <a:chExt cx="304800" cy="332740"/>
          </a:xfrm>
        </p:grpSpPr>
        <p:sp>
          <p:nvSpPr>
            <p:cNvPr id="924" name="Shape 924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25" name="Shape 925"/>
            <p:cNvSpPr/>
            <p:nvPr/>
          </p:nvSpPr>
          <p:spPr>
            <a:xfrm>
              <a:off x="39310" y="-1"/>
              <a:ext cx="22618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C</a:t>
              </a:r>
            </a:p>
          </p:txBody>
        </p:sp>
      </p:grpSp>
      <p:sp>
        <p:nvSpPr>
          <p:cNvPr id="1053" name="Shape 1053"/>
          <p:cNvSpPr/>
          <p:nvPr/>
        </p:nvSpPr>
        <p:spPr>
          <a:xfrm>
            <a:off x="4603353" y="5952529"/>
            <a:ext cx="86334" cy="129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054" name="Shape 1054"/>
          <p:cNvSpPr/>
          <p:nvPr/>
        </p:nvSpPr>
        <p:spPr>
          <a:xfrm>
            <a:off x="4350384" y="5957411"/>
            <a:ext cx="62311" cy="1246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29" name="Shape 929"/>
          <p:cNvSpPr/>
          <p:nvPr/>
        </p:nvSpPr>
        <p:spPr>
          <a:xfrm>
            <a:off x="685800" y="6019800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5" name="Shape 1055"/>
          <p:cNvSpPr/>
          <p:nvPr/>
        </p:nvSpPr>
        <p:spPr>
          <a:xfrm>
            <a:off x="1604962" y="5807189"/>
            <a:ext cx="2734495" cy="279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31" name="Shape 931"/>
          <p:cNvSpPr/>
          <p:nvPr/>
        </p:nvSpPr>
        <p:spPr>
          <a:xfrm flipV="1">
            <a:off x="3686175" y="4648200"/>
            <a:ext cx="0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39" name="Group 939"/>
          <p:cNvGrpSpPr/>
          <p:nvPr/>
        </p:nvGrpSpPr>
        <p:grpSpPr>
          <a:xfrm>
            <a:off x="685800" y="5029200"/>
            <a:ext cx="914400" cy="1447801"/>
            <a:chOff x="0" y="0"/>
            <a:chExt cx="914400" cy="1447800"/>
          </a:xfrm>
        </p:grpSpPr>
        <p:sp>
          <p:nvSpPr>
            <p:cNvPr id="932" name="Shape 932"/>
            <p:cNvSpPr/>
            <p:nvPr/>
          </p:nvSpPr>
          <p:spPr>
            <a:xfrm>
              <a:off x="0" y="9906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38" name="Group 938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33" name="Shape 933"/>
              <p:cNvSpPr/>
              <p:nvPr/>
            </p:nvSpPr>
            <p:spPr>
              <a:xfrm>
                <a:off x="0" y="7620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937" name="Group 937"/>
              <p:cNvGrpSpPr/>
              <p:nvPr/>
            </p:nvGrpSpPr>
            <p:grpSpPr>
              <a:xfrm>
                <a:off x="-1" y="0"/>
                <a:ext cx="914402" cy="1447800"/>
                <a:chOff x="0" y="0"/>
                <a:chExt cx="914400" cy="1447799"/>
              </a:xfrm>
            </p:grpSpPr>
            <p:sp>
              <p:nvSpPr>
                <p:cNvPr id="934" name="Shape 934"/>
                <p:cNvSpPr/>
                <p:nvPr/>
              </p:nvSpPr>
              <p:spPr>
                <a:xfrm flipH="1">
                  <a:off x="-1" y="76200"/>
                  <a:ext cx="2" cy="13716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35" name="Shape 935"/>
                <p:cNvSpPr/>
                <p:nvPr/>
              </p:nvSpPr>
              <p:spPr>
                <a:xfrm>
                  <a:off x="0" y="1447800"/>
                  <a:ext cx="914400" cy="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36" name="Shape 936"/>
                <p:cNvSpPr/>
                <p:nvPr/>
              </p:nvSpPr>
              <p:spPr>
                <a:xfrm flipV="1">
                  <a:off x="914399" y="0"/>
                  <a:ext cx="1" cy="14478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949" name="Group 949"/>
          <p:cNvGrpSpPr/>
          <p:nvPr/>
        </p:nvGrpSpPr>
        <p:grpSpPr>
          <a:xfrm>
            <a:off x="685800" y="5029200"/>
            <a:ext cx="914400" cy="1447801"/>
            <a:chOff x="0" y="0"/>
            <a:chExt cx="914400" cy="1447800"/>
          </a:xfrm>
        </p:grpSpPr>
        <p:sp>
          <p:nvSpPr>
            <p:cNvPr id="940" name="Shape 940"/>
            <p:cNvSpPr/>
            <p:nvPr/>
          </p:nvSpPr>
          <p:spPr>
            <a:xfrm>
              <a:off x="0" y="12192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48" name="Group 948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41" name="Shape 941"/>
              <p:cNvSpPr/>
              <p:nvPr/>
            </p:nvSpPr>
            <p:spPr>
              <a:xfrm>
                <a:off x="0" y="9906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947" name="Group 947"/>
              <p:cNvGrpSpPr/>
              <p:nvPr/>
            </p:nvGrpSpPr>
            <p:grpSpPr>
              <a:xfrm>
                <a:off x="0" y="0"/>
                <a:ext cx="914400" cy="1447801"/>
                <a:chOff x="0" y="0"/>
                <a:chExt cx="914400" cy="1447800"/>
              </a:xfrm>
            </p:grpSpPr>
            <p:sp>
              <p:nvSpPr>
                <p:cNvPr id="942" name="Shape 942"/>
                <p:cNvSpPr/>
                <p:nvPr/>
              </p:nvSpPr>
              <p:spPr>
                <a:xfrm>
                  <a:off x="0" y="762000"/>
                  <a:ext cx="914400" cy="2286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grpSp>
              <p:nvGrpSpPr>
                <p:cNvPr id="946" name="Group 946"/>
                <p:cNvGrpSpPr/>
                <p:nvPr/>
              </p:nvGrpSpPr>
              <p:grpSpPr>
                <a:xfrm>
                  <a:off x="-1" y="0"/>
                  <a:ext cx="914402" cy="1447800"/>
                  <a:chOff x="0" y="0"/>
                  <a:chExt cx="914400" cy="1447799"/>
                </a:xfrm>
              </p:grpSpPr>
              <p:sp>
                <p:nvSpPr>
                  <p:cNvPr id="943" name="Shape 943"/>
                  <p:cNvSpPr/>
                  <p:nvPr/>
                </p:nvSpPr>
                <p:spPr>
                  <a:xfrm flipH="1">
                    <a:off x="-1" y="76200"/>
                    <a:ext cx="2" cy="137160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944" name="Shape 944"/>
                  <p:cNvSpPr/>
                  <p:nvPr/>
                </p:nvSpPr>
                <p:spPr>
                  <a:xfrm>
                    <a:off x="0" y="1447800"/>
                    <a:ext cx="914400" cy="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945" name="Shape 945"/>
                  <p:cNvSpPr/>
                  <p:nvPr/>
                </p:nvSpPr>
                <p:spPr>
                  <a:xfrm flipV="1">
                    <a:off x="914399" y="0"/>
                    <a:ext cx="1" cy="144780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952" name="Group 952"/>
          <p:cNvGrpSpPr/>
          <p:nvPr/>
        </p:nvGrpSpPr>
        <p:grpSpPr>
          <a:xfrm>
            <a:off x="5562600" y="5396229"/>
            <a:ext cx="304801" cy="332741"/>
            <a:chOff x="0" y="0"/>
            <a:chExt cx="304800" cy="332740"/>
          </a:xfrm>
        </p:grpSpPr>
        <p:sp>
          <p:nvSpPr>
            <p:cNvPr id="950" name="Shape 950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51" name="Shape 951"/>
            <p:cNvSpPr/>
            <p:nvPr/>
          </p:nvSpPr>
          <p:spPr>
            <a:xfrm>
              <a:off x="63420" y="-1"/>
              <a:ext cx="17796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-</a:t>
              </a:r>
            </a:p>
          </p:txBody>
        </p:sp>
      </p:grpSp>
      <p:grpSp>
        <p:nvGrpSpPr>
          <p:cNvPr id="964" name="Group 964"/>
          <p:cNvGrpSpPr/>
          <p:nvPr/>
        </p:nvGrpSpPr>
        <p:grpSpPr>
          <a:xfrm>
            <a:off x="5791200" y="5853429"/>
            <a:ext cx="838201" cy="789941"/>
            <a:chOff x="0" y="0"/>
            <a:chExt cx="838200" cy="789940"/>
          </a:xfrm>
        </p:grpSpPr>
        <p:grpSp>
          <p:nvGrpSpPr>
            <p:cNvPr id="955" name="Group 955"/>
            <p:cNvGrpSpPr/>
            <p:nvPr/>
          </p:nvGrpSpPr>
          <p:grpSpPr>
            <a:xfrm>
              <a:off x="228600" y="-1"/>
              <a:ext cx="304801" cy="332741"/>
              <a:chOff x="0" y="0"/>
              <a:chExt cx="304800" cy="332740"/>
            </a:xfrm>
          </p:grpSpPr>
          <p:sp>
            <p:nvSpPr>
              <p:cNvPr id="953" name="Shape 953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54" name="Shape 954"/>
              <p:cNvSpPr/>
              <p:nvPr/>
            </p:nvSpPr>
            <p:spPr>
              <a:xfrm>
                <a:off x="44866" y="-1"/>
                <a:ext cx="215068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*</a:t>
                </a:r>
              </a:p>
            </p:txBody>
          </p:sp>
        </p:grpSp>
        <p:grpSp>
          <p:nvGrpSpPr>
            <p:cNvPr id="958" name="Group 958"/>
            <p:cNvGrpSpPr/>
            <p:nvPr/>
          </p:nvGrpSpPr>
          <p:grpSpPr>
            <a:xfrm>
              <a:off x="533400" y="457199"/>
              <a:ext cx="304801" cy="332741"/>
              <a:chOff x="0" y="0"/>
              <a:chExt cx="304800" cy="332740"/>
            </a:xfrm>
          </p:grpSpPr>
          <p:sp>
            <p:nvSpPr>
              <p:cNvPr id="956" name="Shape 956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57" name="Shape 957"/>
              <p:cNvSpPr/>
              <p:nvPr/>
            </p:nvSpPr>
            <p:spPr>
              <a:xfrm>
                <a:off x="31422" y="-1"/>
                <a:ext cx="241956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D</a:t>
                </a:r>
              </a:p>
            </p:txBody>
          </p:sp>
        </p:grpSp>
        <p:grpSp>
          <p:nvGrpSpPr>
            <p:cNvPr id="961" name="Group 961"/>
            <p:cNvGrpSpPr/>
            <p:nvPr/>
          </p:nvGrpSpPr>
          <p:grpSpPr>
            <a:xfrm>
              <a:off x="0" y="457199"/>
              <a:ext cx="304801" cy="332741"/>
              <a:chOff x="0" y="0"/>
              <a:chExt cx="304800" cy="332740"/>
            </a:xfrm>
          </p:grpSpPr>
          <p:sp>
            <p:nvSpPr>
              <p:cNvPr id="959" name="Shape 959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60" name="Shape 960"/>
              <p:cNvSpPr/>
              <p:nvPr/>
            </p:nvSpPr>
            <p:spPr>
              <a:xfrm>
                <a:off x="39310" y="-1"/>
                <a:ext cx="226180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C</a:t>
                </a:r>
              </a:p>
            </p:txBody>
          </p:sp>
        </p:grpSp>
        <p:sp>
          <p:nvSpPr>
            <p:cNvPr id="962" name="Shape 962"/>
            <p:cNvSpPr/>
            <p:nvPr/>
          </p:nvSpPr>
          <p:spPr>
            <a:xfrm>
              <a:off x="488949" y="274320"/>
              <a:ext cx="196852" cy="1968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963" name="Shape 963"/>
            <p:cNvSpPr/>
            <p:nvPr/>
          </p:nvSpPr>
          <p:spPr>
            <a:xfrm flipH="1">
              <a:off x="152399" y="274320"/>
              <a:ext cx="120652" cy="1968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056" name="Shape 1056"/>
          <p:cNvSpPr/>
          <p:nvPr/>
        </p:nvSpPr>
        <p:spPr>
          <a:xfrm>
            <a:off x="5806875" y="5689812"/>
            <a:ext cx="118169" cy="163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977" name="Group 977"/>
          <p:cNvGrpSpPr/>
          <p:nvPr/>
        </p:nvGrpSpPr>
        <p:grpSpPr>
          <a:xfrm>
            <a:off x="4724400" y="5885179"/>
            <a:ext cx="990601" cy="758191"/>
            <a:chOff x="0" y="0"/>
            <a:chExt cx="990600" cy="758190"/>
          </a:xfrm>
        </p:grpSpPr>
        <p:grpSp>
          <p:nvGrpSpPr>
            <p:cNvPr id="968" name="Group 968"/>
            <p:cNvGrpSpPr/>
            <p:nvPr/>
          </p:nvGrpSpPr>
          <p:grpSpPr>
            <a:xfrm>
              <a:off x="304800" y="-1"/>
              <a:ext cx="304801" cy="332741"/>
              <a:chOff x="0" y="0"/>
              <a:chExt cx="304800" cy="332740"/>
            </a:xfrm>
          </p:grpSpPr>
          <p:sp>
            <p:nvSpPr>
              <p:cNvPr id="966" name="Shape 966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67" name="Shape 967"/>
              <p:cNvSpPr/>
              <p:nvPr/>
            </p:nvSpPr>
            <p:spPr>
              <a:xfrm>
                <a:off x="44866" y="-1"/>
                <a:ext cx="215068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*</a:t>
                </a:r>
              </a:p>
            </p:txBody>
          </p:sp>
        </p:grpSp>
        <p:grpSp>
          <p:nvGrpSpPr>
            <p:cNvPr id="971" name="Group 971"/>
            <p:cNvGrpSpPr/>
            <p:nvPr/>
          </p:nvGrpSpPr>
          <p:grpSpPr>
            <a:xfrm>
              <a:off x="685800" y="380999"/>
              <a:ext cx="304801" cy="332741"/>
              <a:chOff x="0" y="0"/>
              <a:chExt cx="304800" cy="332740"/>
            </a:xfrm>
          </p:grpSpPr>
          <p:sp>
            <p:nvSpPr>
              <p:cNvPr id="969" name="Shape 969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70" name="Shape 970"/>
              <p:cNvSpPr/>
              <p:nvPr/>
            </p:nvSpPr>
            <p:spPr>
              <a:xfrm>
                <a:off x="40451" y="-1"/>
                <a:ext cx="223898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B</a:t>
                </a:r>
              </a:p>
            </p:txBody>
          </p:sp>
        </p:grpSp>
        <p:sp>
          <p:nvSpPr>
            <p:cNvPr id="972" name="Shape 972"/>
            <p:cNvSpPr/>
            <p:nvPr/>
          </p:nvSpPr>
          <p:spPr>
            <a:xfrm>
              <a:off x="565150" y="274320"/>
              <a:ext cx="165101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975" name="Group 975"/>
            <p:cNvGrpSpPr/>
            <p:nvPr/>
          </p:nvGrpSpPr>
          <p:grpSpPr>
            <a:xfrm>
              <a:off x="0" y="425449"/>
              <a:ext cx="304801" cy="332741"/>
              <a:chOff x="0" y="0"/>
              <a:chExt cx="304800" cy="332740"/>
            </a:xfrm>
          </p:grpSpPr>
          <p:sp>
            <p:nvSpPr>
              <p:cNvPr id="973" name="Shape 973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74" name="Shape 974"/>
              <p:cNvSpPr/>
              <p:nvPr/>
            </p:nvSpPr>
            <p:spPr>
              <a:xfrm>
                <a:off x="39409" y="-1"/>
                <a:ext cx="225982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A</a:t>
                </a:r>
              </a:p>
            </p:txBody>
          </p:sp>
        </p:grpSp>
        <p:sp>
          <p:nvSpPr>
            <p:cNvPr id="976" name="Shape 976"/>
            <p:cNvSpPr/>
            <p:nvPr/>
          </p:nvSpPr>
          <p:spPr>
            <a:xfrm flipH="1">
              <a:off x="260349" y="274320"/>
              <a:ext cx="88902" cy="2095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057" name="Shape 1057"/>
          <p:cNvSpPr/>
          <p:nvPr/>
        </p:nvSpPr>
        <p:spPr>
          <a:xfrm>
            <a:off x="5294620" y="5690794"/>
            <a:ext cx="329890" cy="4673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79" name="Shape 979"/>
          <p:cNvSpPr/>
          <p:nvPr/>
        </p:nvSpPr>
        <p:spPr>
          <a:xfrm>
            <a:off x="685800" y="6248400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8" name="Shape 1058"/>
          <p:cNvSpPr/>
          <p:nvPr/>
        </p:nvSpPr>
        <p:spPr>
          <a:xfrm>
            <a:off x="1604962" y="5589691"/>
            <a:ext cx="3955230" cy="6921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81" name="Shape 981"/>
          <p:cNvSpPr/>
          <p:nvPr/>
        </p:nvSpPr>
        <p:spPr>
          <a:xfrm flipV="1">
            <a:off x="3838575" y="4648200"/>
            <a:ext cx="0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84" name="Group 984"/>
          <p:cNvGrpSpPr/>
          <p:nvPr/>
        </p:nvGrpSpPr>
        <p:grpSpPr>
          <a:xfrm>
            <a:off x="1905000" y="5777229"/>
            <a:ext cx="304801" cy="332741"/>
            <a:chOff x="0" y="0"/>
            <a:chExt cx="304800" cy="332740"/>
          </a:xfrm>
        </p:grpSpPr>
        <p:sp>
          <p:nvSpPr>
            <p:cNvPr id="982" name="Shape 982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83" name="Shape 983"/>
            <p:cNvSpPr/>
            <p:nvPr/>
          </p:nvSpPr>
          <p:spPr>
            <a:xfrm>
              <a:off x="31720" y="-1"/>
              <a:ext cx="24136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H</a:t>
              </a:r>
            </a:p>
          </p:txBody>
        </p:sp>
      </p:grpSp>
      <p:sp>
        <p:nvSpPr>
          <p:cNvPr id="985" name="Shape 985"/>
          <p:cNvSpPr/>
          <p:nvPr/>
        </p:nvSpPr>
        <p:spPr>
          <a:xfrm>
            <a:off x="685800" y="6019800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9" name="Shape 1059"/>
          <p:cNvSpPr/>
          <p:nvPr/>
        </p:nvSpPr>
        <p:spPr>
          <a:xfrm>
            <a:off x="1604962" y="5975653"/>
            <a:ext cx="298579" cy="62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87" name="Shape 987"/>
          <p:cNvSpPr/>
          <p:nvPr/>
        </p:nvSpPr>
        <p:spPr>
          <a:xfrm flipV="1">
            <a:off x="4038600" y="4648200"/>
            <a:ext cx="0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95" name="Group 995"/>
          <p:cNvGrpSpPr/>
          <p:nvPr/>
        </p:nvGrpSpPr>
        <p:grpSpPr>
          <a:xfrm>
            <a:off x="685800" y="5029200"/>
            <a:ext cx="914400" cy="1447801"/>
            <a:chOff x="0" y="0"/>
            <a:chExt cx="914400" cy="1447800"/>
          </a:xfrm>
        </p:grpSpPr>
        <p:sp>
          <p:nvSpPr>
            <p:cNvPr id="988" name="Shape 988"/>
            <p:cNvSpPr/>
            <p:nvPr/>
          </p:nvSpPr>
          <p:spPr>
            <a:xfrm>
              <a:off x="0" y="9906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94" name="Group 994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89" name="Shape 989"/>
              <p:cNvSpPr/>
              <p:nvPr/>
            </p:nvSpPr>
            <p:spPr>
              <a:xfrm>
                <a:off x="0" y="7620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993" name="Group 993"/>
              <p:cNvGrpSpPr/>
              <p:nvPr/>
            </p:nvGrpSpPr>
            <p:grpSpPr>
              <a:xfrm>
                <a:off x="-1" y="0"/>
                <a:ext cx="914402" cy="1447800"/>
                <a:chOff x="0" y="0"/>
                <a:chExt cx="914400" cy="1447799"/>
              </a:xfrm>
            </p:grpSpPr>
            <p:sp>
              <p:nvSpPr>
                <p:cNvPr id="990" name="Shape 990"/>
                <p:cNvSpPr/>
                <p:nvPr/>
              </p:nvSpPr>
              <p:spPr>
                <a:xfrm flipH="1">
                  <a:off x="-1" y="76200"/>
                  <a:ext cx="2" cy="13716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91" name="Shape 991"/>
                <p:cNvSpPr/>
                <p:nvPr/>
              </p:nvSpPr>
              <p:spPr>
                <a:xfrm>
                  <a:off x="0" y="1447800"/>
                  <a:ext cx="914400" cy="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92" name="Shape 992"/>
                <p:cNvSpPr/>
                <p:nvPr/>
              </p:nvSpPr>
              <p:spPr>
                <a:xfrm flipV="1">
                  <a:off x="914399" y="0"/>
                  <a:ext cx="1" cy="14478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1005" name="Group 1005"/>
          <p:cNvGrpSpPr/>
          <p:nvPr/>
        </p:nvGrpSpPr>
        <p:grpSpPr>
          <a:xfrm>
            <a:off x="685800" y="5029200"/>
            <a:ext cx="914400" cy="1447801"/>
            <a:chOff x="0" y="0"/>
            <a:chExt cx="914400" cy="1447800"/>
          </a:xfrm>
        </p:grpSpPr>
        <p:sp>
          <p:nvSpPr>
            <p:cNvPr id="996" name="Shape 996"/>
            <p:cNvSpPr/>
            <p:nvPr/>
          </p:nvSpPr>
          <p:spPr>
            <a:xfrm>
              <a:off x="0" y="12192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004" name="Group 1004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97" name="Shape 997"/>
              <p:cNvSpPr/>
              <p:nvPr/>
            </p:nvSpPr>
            <p:spPr>
              <a:xfrm>
                <a:off x="0" y="9906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1003" name="Group 1003"/>
              <p:cNvGrpSpPr/>
              <p:nvPr/>
            </p:nvGrpSpPr>
            <p:grpSpPr>
              <a:xfrm>
                <a:off x="0" y="0"/>
                <a:ext cx="914400" cy="1447801"/>
                <a:chOff x="0" y="0"/>
                <a:chExt cx="914400" cy="1447800"/>
              </a:xfrm>
            </p:grpSpPr>
            <p:sp>
              <p:nvSpPr>
                <p:cNvPr id="998" name="Shape 998"/>
                <p:cNvSpPr/>
                <p:nvPr/>
              </p:nvSpPr>
              <p:spPr>
                <a:xfrm>
                  <a:off x="0" y="762000"/>
                  <a:ext cx="914400" cy="2286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grpSp>
              <p:nvGrpSpPr>
                <p:cNvPr id="1002" name="Group 1002"/>
                <p:cNvGrpSpPr/>
                <p:nvPr/>
              </p:nvGrpSpPr>
              <p:grpSpPr>
                <a:xfrm>
                  <a:off x="-1" y="0"/>
                  <a:ext cx="914402" cy="1447800"/>
                  <a:chOff x="0" y="0"/>
                  <a:chExt cx="914400" cy="1447799"/>
                </a:xfrm>
              </p:grpSpPr>
              <p:sp>
                <p:nvSpPr>
                  <p:cNvPr id="999" name="Shape 999"/>
                  <p:cNvSpPr/>
                  <p:nvPr/>
                </p:nvSpPr>
                <p:spPr>
                  <a:xfrm flipH="1">
                    <a:off x="-1" y="76200"/>
                    <a:ext cx="2" cy="137160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1000" name="Shape 1000"/>
                  <p:cNvSpPr/>
                  <p:nvPr/>
                </p:nvSpPr>
                <p:spPr>
                  <a:xfrm>
                    <a:off x="0" y="1447800"/>
                    <a:ext cx="914400" cy="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1001" name="Shape 1001"/>
                  <p:cNvSpPr/>
                  <p:nvPr/>
                </p:nvSpPr>
                <p:spPr>
                  <a:xfrm flipV="1">
                    <a:off x="914399" y="0"/>
                    <a:ext cx="1" cy="144780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008" name="Group 1008"/>
          <p:cNvGrpSpPr/>
          <p:nvPr/>
        </p:nvGrpSpPr>
        <p:grpSpPr>
          <a:xfrm>
            <a:off x="7620000" y="4329429"/>
            <a:ext cx="304801" cy="332741"/>
            <a:chOff x="0" y="0"/>
            <a:chExt cx="304800" cy="332740"/>
          </a:xfrm>
        </p:grpSpPr>
        <p:sp>
          <p:nvSpPr>
            <p:cNvPr id="1006" name="Shape 1006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07" name="Shape 1007"/>
            <p:cNvSpPr/>
            <p:nvPr/>
          </p:nvSpPr>
          <p:spPr>
            <a:xfrm>
              <a:off x="26412" y="-1"/>
              <a:ext cx="251976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+</a:t>
              </a:r>
            </a:p>
          </p:txBody>
        </p:sp>
      </p:grpSp>
      <p:grpSp>
        <p:nvGrpSpPr>
          <p:cNvPr id="1038" name="Group 1038"/>
          <p:cNvGrpSpPr/>
          <p:nvPr/>
        </p:nvGrpSpPr>
        <p:grpSpPr>
          <a:xfrm>
            <a:off x="6096000" y="4786629"/>
            <a:ext cx="1905001" cy="1247141"/>
            <a:chOff x="0" y="0"/>
            <a:chExt cx="1905000" cy="1247140"/>
          </a:xfrm>
        </p:grpSpPr>
        <p:grpSp>
          <p:nvGrpSpPr>
            <p:cNvPr id="1011" name="Group 1011"/>
            <p:cNvGrpSpPr/>
            <p:nvPr/>
          </p:nvGrpSpPr>
          <p:grpSpPr>
            <a:xfrm>
              <a:off x="838200" y="-1"/>
              <a:ext cx="304801" cy="332741"/>
              <a:chOff x="0" y="0"/>
              <a:chExt cx="304800" cy="332740"/>
            </a:xfrm>
          </p:grpSpPr>
          <p:sp>
            <p:nvSpPr>
              <p:cNvPr id="1009" name="Shape 1009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10" name="Shape 1010"/>
              <p:cNvSpPr/>
              <p:nvPr/>
            </p:nvSpPr>
            <p:spPr>
              <a:xfrm>
                <a:off x="63420" y="-1"/>
                <a:ext cx="177960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-</a:t>
                </a:r>
              </a:p>
            </p:txBody>
          </p:sp>
        </p:grpSp>
        <p:grpSp>
          <p:nvGrpSpPr>
            <p:cNvPr id="1023" name="Group 1023"/>
            <p:cNvGrpSpPr/>
            <p:nvPr/>
          </p:nvGrpSpPr>
          <p:grpSpPr>
            <a:xfrm>
              <a:off x="1066800" y="457199"/>
              <a:ext cx="838201" cy="789941"/>
              <a:chOff x="0" y="0"/>
              <a:chExt cx="838200" cy="789940"/>
            </a:xfrm>
          </p:grpSpPr>
          <p:grpSp>
            <p:nvGrpSpPr>
              <p:cNvPr id="1014" name="Group 1014"/>
              <p:cNvGrpSpPr/>
              <p:nvPr/>
            </p:nvGrpSpPr>
            <p:grpSpPr>
              <a:xfrm>
                <a:off x="228600" y="-1"/>
                <a:ext cx="304801" cy="332741"/>
                <a:chOff x="0" y="0"/>
                <a:chExt cx="304800" cy="332740"/>
              </a:xfrm>
            </p:grpSpPr>
            <p:sp>
              <p:nvSpPr>
                <p:cNvPr id="1012" name="Shape 1012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9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13" name="Shape 1013"/>
                <p:cNvSpPr/>
                <p:nvPr/>
              </p:nvSpPr>
              <p:spPr>
                <a:xfrm>
                  <a:off x="44866" y="-1"/>
                  <a:ext cx="215068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*</a:t>
                  </a:r>
                </a:p>
              </p:txBody>
            </p:sp>
          </p:grpSp>
          <p:grpSp>
            <p:nvGrpSpPr>
              <p:cNvPr id="1017" name="Group 1017"/>
              <p:cNvGrpSpPr/>
              <p:nvPr/>
            </p:nvGrpSpPr>
            <p:grpSpPr>
              <a:xfrm>
                <a:off x="533400" y="457199"/>
                <a:ext cx="304801" cy="332741"/>
                <a:chOff x="0" y="0"/>
                <a:chExt cx="304800" cy="332740"/>
              </a:xfrm>
            </p:grpSpPr>
            <p:sp>
              <p:nvSpPr>
                <p:cNvPr id="1015" name="Shape 1015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16" name="Shape 1016"/>
                <p:cNvSpPr/>
                <p:nvPr/>
              </p:nvSpPr>
              <p:spPr>
                <a:xfrm>
                  <a:off x="31422" y="-1"/>
                  <a:ext cx="241956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D</a:t>
                  </a:r>
                </a:p>
              </p:txBody>
            </p:sp>
          </p:grpSp>
          <p:grpSp>
            <p:nvGrpSpPr>
              <p:cNvPr id="1020" name="Group 1020"/>
              <p:cNvGrpSpPr/>
              <p:nvPr/>
            </p:nvGrpSpPr>
            <p:grpSpPr>
              <a:xfrm>
                <a:off x="0" y="457199"/>
                <a:ext cx="304801" cy="332741"/>
                <a:chOff x="0" y="0"/>
                <a:chExt cx="304800" cy="332740"/>
              </a:xfrm>
            </p:grpSpPr>
            <p:sp>
              <p:nvSpPr>
                <p:cNvPr id="1018" name="Shape 1018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19" name="Shape 1019"/>
                <p:cNvSpPr/>
                <p:nvPr/>
              </p:nvSpPr>
              <p:spPr>
                <a:xfrm>
                  <a:off x="39310" y="-1"/>
                  <a:ext cx="226180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C</a:t>
                  </a:r>
                </a:p>
              </p:txBody>
            </p:sp>
          </p:grpSp>
          <p:sp>
            <p:nvSpPr>
              <p:cNvPr id="1021" name="Shape 1021"/>
              <p:cNvSpPr/>
              <p:nvPr/>
            </p:nvSpPr>
            <p:spPr>
              <a:xfrm>
                <a:off x="488949" y="274320"/>
                <a:ext cx="196852" cy="1968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022" name="Shape 1022"/>
              <p:cNvSpPr/>
              <p:nvPr/>
            </p:nvSpPr>
            <p:spPr>
              <a:xfrm flipH="1">
                <a:off x="152399" y="274320"/>
                <a:ext cx="120652" cy="19685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1024" name="Shape 1024"/>
            <p:cNvSpPr/>
            <p:nvPr/>
          </p:nvSpPr>
          <p:spPr>
            <a:xfrm>
              <a:off x="1098550" y="274319"/>
              <a:ext cx="349251" cy="19685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036" name="Group 1036"/>
            <p:cNvGrpSpPr/>
            <p:nvPr/>
          </p:nvGrpSpPr>
          <p:grpSpPr>
            <a:xfrm>
              <a:off x="0" y="488949"/>
              <a:ext cx="990601" cy="758191"/>
              <a:chOff x="0" y="0"/>
              <a:chExt cx="990600" cy="758190"/>
            </a:xfrm>
          </p:grpSpPr>
          <p:grpSp>
            <p:nvGrpSpPr>
              <p:cNvPr id="1027" name="Group 1027"/>
              <p:cNvGrpSpPr/>
              <p:nvPr/>
            </p:nvGrpSpPr>
            <p:grpSpPr>
              <a:xfrm>
                <a:off x="304800" y="-1"/>
                <a:ext cx="304801" cy="332741"/>
                <a:chOff x="0" y="0"/>
                <a:chExt cx="304800" cy="332740"/>
              </a:xfrm>
            </p:grpSpPr>
            <p:sp>
              <p:nvSpPr>
                <p:cNvPr id="1025" name="Shape 1025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9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26" name="Shape 1026"/>
                <p:cNvSpPr/>
                <p:nvPr/>
              </p:nvSpPr>
              <p:spPr>
                <a:xfrm>
                  <a:off x="44866" y="-1"/>
                  <a:ext cx="215068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*</a:t>
                  </a:r>
                </a:p>
              </p:txBody>
            </p:sp>
          </p:grpSp>
          <p:grpSp>
            <p:nvGrpSpPr>
              <p:cNvPr id="1030" name="Group 1030"/>
              <p:cNvGrpSpPr/>
              <p:nvPr/>
            </p:nvGrpSpPr>
            <p:grpSpPr>
              <a:xfrm>
                <a:off x="685800" y="380999"/>
                <a:ext cx="304801" cy="332741"/>
                <a:chOff x="0" y="0"/>
                <a:chExt cx="304800" cy="332740"/>
              </a:xfrm>
            </p:grpSpPr>
            <p:sp>
              <p:nvSpPr>
                <p:cNvPr id="1028" name="Shape 1028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29" name="Shape 1029"/>
                <p:cNvSpPr/>
                <p:nvPr/>
              </p:nvSpPr>
              <p:spPr>
                <a:xfrm>
                  <a:off x="40451" y="-1"/>
                  <a:ext cx="223898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B</a:t>
                  </a:r>
                </a:p>
              </p:txBody>
            </p:sp>
          </p:grpSp>
          <p:sp>
            <p:nvSpPr>
              <p:cNvPr id="1031" name="Shape 1031"/>
              <p:cNvSpPr/>
              <p:nvPr/>
            </p:nvSpPr>
            <p:spPr>
              <a:xfrm>
                <a:off x="565150" y="274320"/>
                <a:ext cx="165101" cy="1651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grpSp>
            <p:nvGrpSpPr>
              <p:cNvPr id="1034" name="Group 1034"/>
              <p:cNvGrpSpPr/>
              <p:nvPr/>
            </p:nvGrpSpPr>
            <p:grpSpPr>
              <a:xfrm>
                <a:off x="0" y="425449"/>
                <a:ext cx="304801" cy="332741"/>
                <a:chOff x="0" y="0"/>
                <a:chExt cx="304800" cy="332740"/>
              </a:xfrm>
            </p:grpSpPr>
            <p:sp>
              <p:nvSpPr>
                <p:cNvPr id="1032" name="Shape 1032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33" name="Shape 1033"/>
                <p:cNvSpPr/>
                <p:nvPr/>
              </p:nvSpPr>
              <p:spPr>
                <a:xfrm>
                  <a:off x="39409" y="-1"/>
                  <a:ext cx="225982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A</a:t>
                  </a:r>
                </a:p>
              </p:txBody>
            </p:sp>
          </p:grpSp>
          <p:sp>
            <p:nvSpPr>
              <p:cNvPr id="1035" name="Shape 1035"/>
              <p:cNvSpPr/>
              <p:nvPr/>
            </p:nvSpPr>
            <p:spPr>
              <a:xfrm flipH="1">
                <a:off x="260349" y="274320"/>
                <a:ext cx="88902" cy="2095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1037" name="Shape 1037"/>
            <p:cNvSpPr/>
            <p:nvPr/>
          </p:nvSpPr>
          <p:spPr>
            <a:xfrm flipH="1">
              <a:off x="457200" y="274319"/>
              <a:ext cx="425450" cy="2286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1041" name="Group 1041"/>
          <p:cNvGrpSpPr/>
          <p:nvPr/>
        </p:nvGrpSpPr>
        <p:grpSpPr>
          <a:xfrm>
            <a:off x="8153400" y="4786629"/>
            <a:ext cx="304801" cy="332741"/>
            <a:chOff x="0" y="0"/>
            <a:chExt cx="304800" cy="332740"/>
          </a:xfrm>
        </p:grpSpPr>
        <p:sp>
          <p:nvSpPr>
            <p:cNvPr id="1039" name="Shape 1039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40" name="Shape 1040"/>
            <p:cNvSpPr/>
            <p:nvPr/>
          </p:nvSpPr>
          <p:spPr>
            <a:xfrm>
              <a:off x="31720" y="-1"/>
              <a:ext cx="24136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H</a:t>
              </a:r>
            </a:p>
          </p:txBody>
        </p:sp>
      </p:grpSp>
      <p:sp>
        <p:nvSpPr>
          <p:cNvPr id="1060" name="Shape 1060"/>
          <p:cNvSpPr/>
          <p:nvPr/>
        </p:nvSpPr>
        <p:spPr>
          <a:xfrm>
            <a:off x="7287694" y="4654717"/>
            <a:ext cx="358897" cy="4533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061" name="Shape 1061"/>
          <p:cNvSpPr/>
          <p:nvPr/>
        </p:nvSpPr>
        <p:spPr>
          <a:xfrm>
            <a:off x="7898606" y="4603976"/>
            <a:ext cx="286545" cy="2456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044" name="Shape 1044"/>
          <p:cNvSpPr/>
          <p:nvPr/>
        </p:nvSpPr>
        <p:spPr>
          <a:xfrm>
            <a:off x="685800" y="6248400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62" name="Shape 1062"/>
          <p:cNvSpPr/>
          <p:nvPr/>
        </p:nvSpPr>
        <p:spPr>
          <a:xfrm>
            <a:off x="1565793" y="4538402"/>
            <a:ext cx="6055325" cy="1705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8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2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2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3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5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1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7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8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2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6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2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3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7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5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1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6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7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1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6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1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7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8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2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6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7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3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4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8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9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5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6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6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7"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1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2" dur="5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5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5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9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5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6" dur="500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1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2"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6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0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50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4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0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9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0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5" fill="hold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6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1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7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8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2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8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9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4" grpId="0" build="p" animBg="1" advAuto="0"/>
      <p:bldP spid="845" grpId="0" animBg="1" advAuto="0"/>
      <p:bldP spid="846" grpId="0" animBg="1" advAuto="0"/>
      <p:bldP spid="847" grpId="0" animBg="1" advAuto="0"/>
      <p:bldP spid="850" grpId="0" animBg="1" advAuto="0"/>
      <p:bldP spid="850" grpId="1" animBg="1" advAuto="0"/>
      <p:bldP spid="854" grpId="0" animBg="1" advAuto="0"/>
      <p:bldP spid="855" grpId="0" animBg="1" advAuto="0"/>
      <p:bldP spid="1046" grpId="0" animBg="1" advAuto="0"/>
      <p:bldP spid="1046" grpId="1" animBg="1" advAuto="0"/>
      <p:bldP spid="857" grpId="0" animBg="1" advAuto="0"/>
      <p:bldP spid="860" grpId="0" animBg="1" advAuto="0"/>
      <p:bldP spid="860" grpId="1" animBg="1" advAuto="0"/>
      <p:bldP spid="861" grpId="0" animBg="1" advAuto="0"/>
      <p:bldP spid="1047" grpId="0" animBg="1" advAuto="0"/>
      <p:bldP spid="1047" grpId="1" animBg="1" advAuto="0"/>
      <p:bldP spid="863" grpId="0" animBg="1" advAuto="0"/>
      <p:bldP spid="869" grpId="0" animBg="1" advAuto="0"/>
      <p:bldP spid="877" grpId="0" animBg="1" advAuto="0"/>
      <p:bldP spid="880" grpId="0" animBg="1" advAuto="0"/>
      <p:bldP spid="880" grpId="1" animBg="1" advAuto="0"/>
      <p:bldP spid="883" grpId="0" animBg="1" advAuto="0"/>
      <p:bldP spid="883" grpId="1" animBg="1" advAuto="0"/>
      <p:bldP spid="1048" grpId="0" animBg="1" advAuto="0"/>
      <p:bldP spid="1048" grpId="1" animBg="1" advAuto="0"/>
      <p:bldP spid="887" grpId="0" animBg="1" advAuto="0"/>
      <p:bldP spid="887" grpId="1" animBg="1" advAuto="0"/>
      <p:bldP spid="1049" grpId="0" animBg="1" advAuto="0"/>
      <p:bldP spid="1049" grpId="1" animBg="1" advAuto="0"/>
      <p:bldP spid="889" grpId="0" animBg="1" advAuto="0"/>
      <p:bldP spid="1050" grpId="0" animBg="1" advAuto="0"/>
      <p:bldP spid="1050" grpId="1" animBg="1" advAuto="0"/>
      <p:bldP spid="891" grpId="0" animBg="1" advAuto="0"/>
      <p:bldP spid="894" grpId="0" animBg="1" advAuto="0"/>
      <p:bldP spid="894" grpId="1" animBg="1" advAuto="0"/>
      <p:bldP spid="895" grpId="0" animBg="1" advAuto="0"/>
      <p:bldP spid="1051" grpId="0" animBg="1" advAuto="0"/>
      <p:bldP spid="1051" grpId="1" animBg="1" advAuto="0"/>
      <p:bldP spid="897" grpId="0" animBg="1" advAuto="0"/>
      <p:bldP spid="900" grpId="0" animBg="1" advAuto="0"/>
      <p:bldP spid="900" grpId="1" animBg="1" advAuto="0"/>
      <p:bldP spid="901" grpId="0" animBg="1" advAuto="0"/>
      <p:bldP spid="1052" grpId="0" animBg="1" advAuto="0"/>
      <p:bldP spid="1052" grpId="1" animBg="1" advAuto="0"/>
      <p:bldP spid="903" grpId="0" animBg="1" advAuto="0"/>
      <p:bldP spid="909" grpId="0" animBg="1" advAuto="0"/>
      <p:bldP spid="917" grpId="0" animBg="1" advAuto="0"/>
      <p:bldP spid="920" grpId="0" animBg="1" advAuto="0"/>
      <p:bldP spid="920" grpId="1" animBg="1" advAuto="0"/>
      <p:bldP spid="923" grpId="0" animBg="1" advAuto="0"/>
      <p:bldP spid="923" grpId="1" animBg="1" advAuto="0"/>
      <p:bldP spid="926" grpId="0" animBg="1" advAuto="0"/>
      <p:bldP spid="926" grpId="1" animBg="1" advAuto="0"/>
      <p:bldP spid="1053" grpId="0" animBg="1" advAuto="0"/>
      <p:bldP spid="1053" grpId="1" animBg="1" advAuto="0"/>
      <p:bldP spid="1054" grpId="0" animBg="1" advAuto="0"/>
      <p:bldP spid="1054" grpId="1" animBg="1" advAuto="0"/>
      <p:bldP spid="929" grpId="0" animBg="1" advAuto="0"/>
      <p:bldP spid="1055" grpId="0" animBg="1" advAuto="0"/>
      <p:bldP spid="1055" grpId="1" animBg="1" advAuto="0"/>
      <p:bldP spid="931" grpId="0" animBg="1" advAuto="0"/>
      <p:bldP spid="939" grpId="0" animBg="1" advAuto="0"/>
      <p:bldP spid="949" grpId="0" animBg="1" advAuto="0"/>
      <p:bldP spid="952" grpId="0" animBg="1" advAuto="0"/>
      <p:bldP spid="952" grpId="1" animBg="1" advAuto="0"/>
      <p:bldP spid="964" grpId="0" animBg="1" advAuto="0"/>
      <p:bldP spid="964" grpId="1" animBg="1" advAuto="0"/>
      <p:bldP spid="1056" grpId="0" animBg="1" advAuto="0"/>
      <p:bldP spid="1056" grpId="1" animBg="1" advAuto="0"/>
      <p:bldP spid="977" grpId="0" animBg="1" advAuto="0"/>
      <p:bldP spid="977" grpId="1" animBg="1" advAuto="0"/>
      <p:bldP spid="1057" grpId="0" animBg="1" advAuto="0"/>
      <p:bldP spid="1057" grpId="1" animBg="1" advAuto="0"/>
      <p:bldP spid="979" grpId="0" animBg="1" advAuto="0"/>
      <p:bldP spid="1058" grpId="0" animBg="1" advAuto="0"/>
      <p:bldP spid="1058" grpId="1" animBg="1" advAuto="0"/>
      <p:bldP spid="981" grpId="0" animBg="1" advAuto="0"/>
      <p:bldP spid="984" grpId="0" animBg="1" advAuto="0"/>
      <p:bldP spid="984" grpId="1" animBg="1" advAuto="0"/>
      <p:bldP spid="985" grpId="0" animBg="1" advAuto="0"/>
      <p:bldP spid="1059" grpId="0" animBg="1" advAuto="0"/>
      <p:bldP spid="1059" grpId="1" animBg="1" advAuto="0"/>
      <p:bldP spid="987" grpId="0" animBg="1" advAuto="0"/>
      <p:bldP spid="995" grpId="0" animBg="1" advAuto="0"/>
      <p:bldP spid="1005" grpId="0" animBg="1" advAuto="0"/>
      <p:bldP spid="1008" grpId="0" animBg="1" advAuto="0"/>
      <p:bldP spid="1038" grpId="0" animBg="1" advAuto="0"/>
      <p:bldP spid="1041" grpId="0" animBg="1" advAuto="0"/>
      <p:bldP spid="1060" grpId="0" animBg="1" advAuto="0"/>
      <p:bldP spid="1061" grpId="0" animBg="1" advAuto="0"/>
      <p:bldP spid="1044" grpId="0" animBg="1" advAuto="0"/>
      <p:bldP spid="1062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Shape 1064"/>
          <p:cNvSpPr/>
          <p:nvPr/>
        </p:nvSpPr>
        <p:spPr>
          <a:xfrm>
            <a:off x="478122" y="4144301"/>
            <a:ext cx="2093938" cy="1764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67" h="20011" extrusionOk="0">
                <a:moveTo>
                  <a:pt x="2603" y="1139"/>
                </a:moveTo>
                <a:cubicBezTo>
                  <a:pt x="4907" y="-1199"/>
                  <a:pt x="11723" y="471"/>
                  <a:pt x="14699" y="2475"/>
                </a:cubicBezTo>
                <a:cubicBezTo>
                  <a:pt x="17675" y="4479"/>
                  <a:pt x="20651" y="10269"/>
                  <a:pt x="20459" y="13164"/>
                </a:cubicBezTo>
                <a:cubicBezTo>
                  <a:pt x="20267" y="16059"/>
                  <a:pt x="16811" y="19288"/>
                  <a:pt x="13547" y="19844"/>
                </a:cubicBezTo>
                <a:cubicBezTo>
                  <a:pt x="10283" y="20401"/>
                  <a:pt x="2699" y="19622"/>
                  <a:pt x="875" y="16504"/>
                </a:cubicBezTo>
                <a:cubicBezTo>
                  <a:pt x="-949" y="13387"/>
                  <a:pt x="299" y="3477"/>
                  <a:pt x="2603" y="1139"/>
                </a:cubicBezTo>
                <a:close/>
              </a:path>
            </a:pathLst>
          </a:custGeom>
          <a:solidFill>
            <a:srgbClr val="EEE800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65" name="Shape 1065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740663">
              <a:defRPr sz="3888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3888" i="1">
                <a:solidFill>
                  <a:srgbClr val="008080"/>
                </a:solidFill>
              </a:rPr>
              <a:t>EVALUACION DE LA EXP. POSTFIJA</a:t>
            </a:r>
          </a:p>
        </p:txBody>
      </p:sp>
      <p:sp>
        <p:nvSpPr>
          <p:cNvPr id="1066" name="Shape 1066"/>
          <p:cNvSpPr/>
          <p:nvPr/>
        </p:nvSpPr>
        <p:spPr>
          <a:xfrm>
            <a:off x="2421266" y="4091556"/>
            <a:ext cx="608076" cy="699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52" h="19198" extrusionOk="0">
                <a:moveTo>
                  <a:pt x="540" y="4818"/>
                </a:moveTo>
                <a:cubicBezTo>
                  <a:pt x="2540" y="2031"/>
                  <a:pt x="14540" y="-1453"/>
                  <a:pt x="17340" y="637"/>
                </a:cubicBezTo>
                <a:cubicBezTo>
                  <a:pt x="20140" y="2728"/>
                  <a:pt x="19340" y="14573"/>
                  <a:pt x="17340" y="17360"/>
                </a:cubicBezTo>
                <a:cubicBezTo>
                  <a:pt x="15340" y="20147"/>
                  <a:pt x="8140" y="19450"/>
                  <a:pt x="5340" y="17360"/>
                </a:cubicBezTo>
                <a:cubicBezTo>
                  <a:pt x="2540" y="15270"/>
                  <a:pt x="-1460" y="7605"/>
                  <a:pt x="540" y="4818"/>
                </a:cubicBezTo>
                <a:close/>
              </a:path>
            </a:pathLst>
          </a:custGeom>
          <a:solidFill>
            <a:srgbClr val="99CCFF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67" name="Shape 1067"/>
          <p:cNvSpPr>
            <a:spLocks noGrp="1"/>
          </p:cNvSpPr>
          <p:nvPr>
            <p:ph type="body" idx="4294967295"/>
          </p:nvPr>
        </p:nvSpPr>
        <p:spPr>
          <a:xfrm>
            <a:off x="457200" y="1798637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192881" lvl="0" indent="-192881"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Lo ideal es recuperar los dos operandos, el operador, y ejecutar la opcion</a:t>
            </a:r>
          </a:p>
          <a:p>
            <a:pPr marL="192881" lvl="0" indent="-192881"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Que recorrido es el ideal?</a:t>
            </a:r>
          </a:p>
          <a:p>
            <a:pPr marL="696685" lvl="1" indent="-163285">
              <a:spcBef>
                <a:spcPts val="3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600" b="1">
                <a:solidFill>
                  <a:srgbClr val="002850"/>
                </a:solidFill>
              </a:rPr>
              <a:t>PostOrden</a:t>
            </a:r>
          </a:p>
        </p:txBody>
      </p:sp>
      <p:sp>
        <p:nvSpPr>
          <p:cNvPr id="1068" name="Shape 1068"/>
          <p:cNvSpPr/>
          <p:nvPr/>
        </p:nvSpPr>
        <p:spPr>
          <a:xfrm>
            <a:off x="489405" y="4571679"/>
            <a:ext cx="1077458" cy="1092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61" h="20424" extrusionOk="0">
                <a:moveTo>
                  <a:pt x="831" y="11400"/>
                </a:moveTo>
                <a:cubicBezTo>
                  <a:pt x="-609" y="14011"/>
                  <a:pt x="111" y="14485"/>
                  <a:pt x="831" y="15672"/>
                </a:cubicBezTo>
                <a:cubicBezTo>
                  <a:pt x="1551" y="16859"/>
                  <a:pt x="2271" y="17809"/>
                  <a:pt x="5151" y="18521"/>
                </a:cubicBezTo>
                <a:cubicBezTo>
                  <a:pt x="8031" y="19233"/>
                  <a:pt x="15711" y="21369"/>
                  <a:pt x="18111" y="19945"/>
                </a:cubicBezTo>
                <a:cubicBezTo>
                  <a:pt x="20511" y="18521"/>
                  <a:pt x="20991" y="13299"/>
                  <a:pt x="19551" y="9976"/>
                </a:cubicBezTo>
                <a:cubicBezTo>
                  <a:pt x="18111" y="6653"/>
                  <a:pt x="12591" y="-231"/>
                  <a:pt x="9471" y="6"/>
                </a:cubicBezTo>
                <a:cubicBezTo>
                  <a:pt x="6351" y="244"/>
                  <a:pt x="2271" y="8789"/>
                  <a:pt x="831" y="11400"/>
                </a:cubicBezTo>
                <a:close/>
              </a:path>
            </a:pathLst>
          </a:custGeom>
          <a:solidFill>
            <a:srgbClr val="FFFF99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69" name="Shape 1069"/>
          <p:cNvSpPr/>
          <p:nvPr/>
        </p:nvSpPr>
        <p:spPr>
          <a:xfrm>
            <a:off x="441911" y="5102225"/>
            <a:ext cx="482014" cy="473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19" h="20133" extrusionOk="0">
                <a:moveTo>
                  <a:pt x="3705" y="3375"/>
                </a:moveTo>
                <a:cubicBezTo>
                  <a:pt x="5248" y="675"/>
                  <a:pt x="7305" y="-405"/>
                  <a:pt x="9876" y="135"/>
                </a:cubicBezTo>
                <a:cubicBezTo>
                  <a:pt x="12448" y="675"/>
                  <a:pt x="18105" y="3375"/>
                  <a:pt x="19133" y="6615"/>
                </a:cubicBezTo>
                <a:cubicBezTo>
                  <a:pt x="20162" y="9855"/>
                  <a:pt x="19133" y="17955"/>
                  <a:pt x="16048" y="19575"/>
                </a:cubicBezTo>
                <a:cubicBezTo>
                  <a:pt x="12962" y="21195"/>
                  <a:pt x="2676" y="19035"/>
                  <a:pt x="619" y="16335"/>
                </a:cubicBezTo>
                <a:cubicBezTo>
                  <a:pt x="-1438" y="13635"/>
                  <a:pt x="2162" y="6075"/>
                  <a:pt x="3705" y="3375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70" name="Shape 1070"/>
          <p:cNvSpPr/>
          <p:nvPr/>
        </p:nvSpPr>
        <p:spPr>
          <a:xfrm>
            <a:off x="1104322" y="5024909"/>
            <a:ext cx="454429" cy="558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22" h="20197" extrusionOk="0">
                <a:moveTo>
                  <a:pt x="1645" y="2913"/>
                </a:moveTo>
                <a:cubicBezTo>
                  <a:pt x="3265" y="156"/>
                  <a:pt x="8665" y="-304"/>
                  <a:pt x="11365" y="156"/>
                </a:cubicBezTo>
                <a:cubicBezTo>
                  <a:pt x="14065" y="615"/>
                  <a:pt x="16765" y="2453"/>
                  <a:pt x="17845" y="5670"/>
                </a:cubicBezTo>
                <a:cubicBezTo>
                  <a:pt x="18925" y="8887"/>
                  <a:pt x="20545" y="17619"/>
                  <a:pt x="17845" y="19458"/>
                </a:cubicBezTo>
                <a:cubicBezTo>
                  <a:pt x="15145" y="21296"/>
                  <a:pt x="4345" y="19458"/>
                  <a:pt x="1645" y="16700"/>
                </a:cubicBezTo>
                <a:cubicBezTo>
                  <a:pt x="-1055" y="13943"/>
                  <a:pt x="25" y="5670"/>
                  <a:pt x="1645" y="2913"/>
                </a:cubicBezTo>
                <a:close/>
              </a:path>
            </a:pathLst>
          </a:custGeom>
          <a:solidFill>
            <a:srgbClr val="D5FFD5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71" name="Shape 1071"/>
          <p:cNvSpPr/>
          <p:nvPr/>
        </p:nvSpPr>
        <p:spPr>
          <a:xfrm>
            <a:off x="1545336" y="4567556"/>
            <a:ext cx="974824" cy="11479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9" h="20771" extrusionOk="0">
                <a:moveTo>
                  <a:pt x="1138" y="15246"/>
                </a:moveTo>
                <a:cubicBezTo>
                  <a:pt x="-969" y="13408"/>
                  <a:pt x="348" y="12259"/>
                  <a:pt x="1138" y="9731"/>
                </a:cubicBezTo>
                <a:cubicBezTo>
                  <a:pt x="1929" y="7204"/>
                  <a:pt x="3246" y="770"/>
                  <a:pt x="5880" y="80"/>
                </a:cubicBezTo>
                <a:cubicBezTo>
                  <a:pt x="8514" y="-609"/>
                  <a:pt x="14572" y="3297"/>
                  <a:pt x="16943" y="5595"/>
                </a:cubicBezTo>
                <a:cubicBezTo>
                  <a:pt x="19314" y="7893"/>
                  <a:pt x="20631" y="11340"/>
                  <a:pt x="20104" y="13868"/>
                </a:cubicBezTo>
                <a:cubicBezTo>
                  <a:pt x="19577" y="16395"/>
                  <a:pt x="16943" y="20531"/>
                  <a:pt x="13782" y="20761"/>
                </a:cubicBezTo>
                <a:cubicBezTo>
                  <a:pt x="10621" y="20991"/>
                  <a:pt x="3246" y="17085"/>
                  <a:pt x="1138" y="15246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72" name="Shape 1072"/>
          <p:cNvSpPr/>
          <p:nvPr/>
        </p:nvSpPr>
        <p:spPr>
          <a:xfrm>
            <a:off x="1517243" y="5092275"/>
            <a:ext cx="540850" cy="5477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42" h="20252" extrusionOk="0">
                <a:moveTo>
                  <a:pt x="3135" y="3303"/>
                </a:moveTo>
                <a:cubicBezTo>
                  <a:pt x="5055" y="955"/>
                  <a:pt x="8895" y="-923"/>
                  <a:pt x="11775" y="486"/>
                </a:cubicBezTo>
                <a:cubicBezTo>
                  <a:pt x="14655" y="1894"/>
                  <a:pt x="20895" y="8468"/>
                  <a:pt x="20415" y="11755"/>
                </a:cubicBezTo>
                <a:cubicBezTo>
                  <a:pt x="19935" y="15042"/>
                  <a:pt x="12255" y="19738"/>
                  <a:pt x="8895" y="20207"/>
                </a:cubicBezTo>
                <a:cubicBezTo>
                  <a:pt x="5535" y="20677"/>
                  <a:pt x="1215" y="17390"/>
                  <a:pt x="255" y="14573"/>
                </a:cubicBezTo>
                <a:cubicBezTo>
                  <a:pt x="-705" y="11755"/>
                  <a:pt x="1215" y="5651"/>
                  <a:pt x="3135" y="3303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73" name="Shape 1073"/>
          <p:cNvSpPr/>
          <p:nvPr/>
        </p:nvSpPr>
        <p:spPr>
          <a:xfrm>
            <a:off x="2055410" y="5076070"/>
            <a:ext cx="465947" cy="5638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20" h="20403" extrusionOk="0">
                <a:moveTo>
                  <a:pt x="87" y="6576"/>
                </a:moveTo>
                <a:cubicBezTo>
                  <a:pt x="641" y="4278"/>
                  <a:pt x="3964" y="1980"/>
                  <a:pt x="6733" y="1061"/>
                </a:cubicBezTo>
                <a:cubicBezTo>
                  <a:pt x="9502" y="142"/>
                  <a:pt x="14487" y="-777"/>
                  <a:pt x="16702" y="1061"/>
                </a:cubicBezTo>
                <a:cubicBezTo>
                  <a:pt x="18918" y="2900"/>
                  <a:pt x="21133" y="8874"/>
                  <a:pt x="20025" y="12091"/>
                </a:cubicBezTo>
                <a:cubicBezTo>
                  <a:pt x="18918" y="15308"/>
                  <a:pt x="12825" y="19904"/>
                  <a:pt x="10056" y="20363"/>
                </a:cubicBezTo>
                <a:cubicBezTo>
                  <a:pt x="7287" y="20823"/>
                  <a:pt x="5071" y="17146"/>
                  <a:pt x="3410" y="14849"/>
                </a:cubicBezTo>
                <a:cubicBezTo>
                  <a:pt x="1748" y="12551"/>
                  <a:pt x="-467" y="8874"/>
                  <a:pt x="87" y="6576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112" name="Group 1112"/>
          <p:cNvGrpSpPr/>
          <p:nvPr/>
        </p:nvGrpSpPr>
        <p:grpSpPr>
          <a:xfrm>
            <a:off x="533400" y="3796029"/>
            <a:ext cx="2362201" cy="1704341"/>
            <a:chOff x="0" y="0"/>
            <a:chExt cx="2362200" cy="1704339"/>
          </a:xfrm>
        </p:grpSpPr>
        <p:grpSp>
          <p:nvGrpSpPr>
            <p:cNvPr id="1076" name="Group 1076"/>
            <p:cNvGrpSpPr/>
            <p:nvPr/>
          </p:nvGrpSpPr>
          <p:grpSpPr>
            <a:xfrm>
              <a:off x="1524000" y="-1"/>
              <a:ext cx="304801" cy="332741"/>
              <a:chOff x="0" y="0"/>
              <a:chExt cx="304800" cy="332740"/>
            </a:xfrm>
          </p:grpSpPr>
          <p:sp>
            <p:nvSpPr>
              <p:cNvPr id="1074" name="Shape 1074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75" name="Shape 1075"/>
              <p:cNvSpPr/>
              <p:nvPr/>
            </p:nvSpPr>
            <p:spPr>
              <a:xfrm>
                <a:off x="26412" y="-1"/>
                <a:ext cx="251976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+</a:t>
                </a:r>
              </a:p>
            </p:txBody>
          </p:sp>
        </p:grpSp>
        <p:grpSp>
          <p:nvGrpSpPr>
            <p:cNvPr id="1106" name="Group 1106"/>
            <p:cNvGrpSpPr/>
            <p:nvPr/>
          </p:nvGrpSpPr>
          <p:grpSpPr>
            <a:xfrm>
              <a:off x="0" y="457199"/>
              <a:ext cx="1905001" cy="1247141"/>
              <a:chOff x="0" y="0"/>
              <a:chExt cx="1905000" cy="1247140"/>
            </a:xfrm>
          </p:grpSpPr>
          <p:grpSp>
            <p:nvGrpSpPr>
              <p:cNvPr id="1079" name="Group 1079"/>
              <p:cNvGrpSpPr/>
              <p:nvPr/>
            </p:nvGrpSpPr>
            <p:grpSpPr>
              <a:xfrm>
                <a:off x="838200" y="-1"/>
                <a:ext cx="304801" cy="332741"/>
                <a:chOff x="0" y="0"/>
                <a:chExt cx="304800" cy="332740"/>
              </a:xfrm>
            </p:grpSpPr>
            <p:sp>
              <p:nvSpPr>
                <p:cNvPr id="1077" name="Shape 1077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9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78" name="Shape 1078"/>
                <p:cNvSpPr/>
                <p:nvPr/>
              </p:nvSpPr>
              <p:spPr>
                <a:xfrm>
                  <a:off x="63420" y="-1"/>
                  <a:ext cx="177960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-</a:t>
                  </a:r>
                </a:p>
              </p:txBody>
            </p:sp>
          </p:grpSp>
          <p:grpSp>
            <p:nvGrpSpPr>
              <p:cNvPr id="1091" name="Group 1091"/>
              <p:cNvGrpSpPr/>
              <p:nvPr/>
            </p:nvGrpSpPr>
            <p:grpSpPr>
              <a:xfrm>
                <a:off x="1066800" y="457199"/>
                <a:ext cx="838201" cy="789941"/>
                <a:chOff x="0" y="0"/>
                <a:chExt cx="838200" cy="789940"/>
              </a:xfrm>
            </p:grpSpPr>
            <p:grpSp>
              <p:nvGrpSpPr>
                <p:cNvPr id="1082" name="Group 1082"/>
                <p:cNvGrpSpPr/>
                <p:nvPr/>
              </p:nvGrpSpPr>
              <p:grpSpPr>
                <a:xfrm>
                  <a:off x="228600" y="-1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80" name="Shape 1080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FFFF99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81" name="Shape 1081"/>
                  <p:cNvSpPr/>
                  <p:nvPr/>
                </p:nvSpPr>
                <p:spPr>
                  <a:xfrm>
                    <a:off x="44866" y="-1"/>
                    <a:ext cx="215068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*</a:t>
                    </a:r>
                  </a:p>
                </p:txBody>
              </p:sp>
            </p:grpSp>
            <p:grpSp>
              <p:nvGrpSpPr>
                <p:cNvPr id="1085" name="Group 1085"/>
                <p:cNvGrpSpPr/>
                <p:nvPr/>
              </p:nvGrpSpPr>
              <p:grpSpPr>
                <a:xfrm>
                  <a:off x="533400" y="457199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83" name="Shape 1083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84" name="Shape 1084"/>
                  <p:cNvSpPr/>
                  <p:nvPr/>
                </p:nvSpPr>
                <p:spPr>
                  <a:xfrm>
                    <a:off x="31422" y="-1"/>
                    <a:ext cx="241956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D</a:t>
                    </a:r>
                  </a:p>
                </p:txBody>
              </p:sp>
            </p:grpSp>
            <p:grpSp>
              <p:nvGrpSpPr>
                <p:cNvPr id="1088" name="Group 1088"/>
                <p:cNvGrpSpPr/>
                <p:nvPr/>
              </p:nvGrpSpPr>
              <p:grpSpPr>
                <a:xfrm>
                  <a:off x="0" y="457199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86" name="Shape 1086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87" name="Shape 1087"/>
                  <p:cNvSpPr/>
                  <p:nvPr/>
                </p:nvSpPr>
                <p:spPr>
                  <a:xfrm>
                    <a:off x="39310" y="-1"/>
                    <a:ext cx="226180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C</a:t>
                    </a:r>
                  </a:p>
                </p:txBody>
              </p:sp>
            </p:grpSp>
            <p:sp>
              <p:nvSpPr>
                <p:cNvPr id="1089" name="Shape 1089"/>
                <p:cNvSpPr/>
                <p:nvPr/>
              </p:nvSpPr>
              <p:spPr>
                <a:xfrm>
                  <a:off x="488949" y="274320"/>
                  <a:ext cx="196852" cy="19685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90" name="Shape 1090"/>
                <p:cNvSpPr/>
                <p:nvPr/>
              </p:nvSpPr>
              <p:spPr>
                <a:xfrm flipH="1">
                  <a:off x="152399" y="274320"/>
                  <a:ext cx="120652" cy="19685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  <p:sp>
            <p:nvSpPr>
              <p:cNvPr id="1092" name="Shape 1092"/>
              <p:cNvSpPr/>
              <p:nvPr/>
            </p:nvSpPr>
            <p:spPr>
              <a:xfrm>
                <a:off x="1098550" y="274319"/>
                <a:ext cx="349251" cy="19685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grpSp>
            <p:nvGrpSpPr>
              <p:cNvPr id="1104" name="Group 1104"/>
              <p:cNvGrpSpPr/>
              <p:nvPr/>
            </p:nvGrpSpPr>
            <p:grpSpPr>
              <a:xfrm>
                <a:off x="0" y="488949"/>
                <a:ext cx="990601" cy="758191"/>
                <a:chOff x="0" y="0"/>
                <a:chExt cx="990600" cy="758190"/>
              </a:xfrm>
            </p:grpSpPr>
            <p:grpSp>
              <p:nvGrpSpPr>
                <p:cNvPr id="1095" name="Group 1095"/>
                <p:cNvGrpSpPr/>
                <p:nvPr/>
              </p:nvGrpSpPr>
              <p:grpSpPr>
                <a:xfrm>
                  <a:off x="304800" y="-1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93" name="Shape 1093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FFFF99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94" name="Shape 1094"/>
                  <p:cNvSpPr/>
                  <p:nvPr/>
                </p:nvSpPr>
                <p:spPr>
                  <a:xfrm>
                    <a:off x="44866" y="-1"/>
                    <a:ext cx="215068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*</a:t>
                    </a:r>
                  </a:p>
                </p:txBody>
              </p:sp>
            </p:grpSp>
            <p:grpSp>
              <p:nvGrpSpPr>
                <p:cNvPr id="1098" name="Group 1098"/>
                <p:cNvGrpSpPr/>
                <p:nvPr/>
              </p:nvGrpSpPr>
              <p:grpSpPr>
                <a:xfrm>
                  <a:off x="685800" y="380999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96" name="Shape 1096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97" name="Shape 1097"/>
                  <p:cNvSpPr/>
                  <p:nvPr/>
                </p:nvSpPr>
                <p:spPr>
                  <a:xfrm>
                    <a:off x="40451" y="-1"/>
                    <a:ext cx="223898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B</a:t>
                    </a:r>
                  </a:p>
                </p:txBody>
              </p:sp>
            </p:grpSp>
            <p:sp>
              <p:nvSpPr>
                <p:cNvPr id="1099" name="Shape 1099"/>
                <p:cNvSpPr/>
                <p:nvPr/>
              </p:nvSpPr>
              <p:spPr>
                <a:xfrm>
                  <a:off x="565150" y="274320"/>
                  <a:ext cx="165101" cy="16510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grpSp>
              <p:nvGrpSpPr>
                <p:cNvPr id="1102" name="Group 1102"/>
                <p:cNvGrpSpPr/>
                <p:nvPr/>
              </p:nvGrpSpPr>
              <p:grpSpPr>
                <a:xfrm>
                  <a:off x="0" y="425449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100" name="Shape 1100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101" name="Shape 1101"/>
                  <p:cNvSpPr/>
                  <p:nvPr/>
                </p:nvSpPr>
                <p:spPr>
                  <a:xfrm>
                    <a:off x="39409" y="-1"/>
                    <a:ext cx="225982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A</a:t>
                    </a:r>
                  </a:p>
                </p:txBody>
              </p:sp>
            </p:grpSp>
            <p:sp>
              <p:nvSpPr>
                <p:cNvPr id="1103" name="Shape 1103"/>
                <p:cNvSpPr/>
                <p:nvPr/>
              </p:nvSpPr>
              <p:spPr>
                <a:xfrm flipH="1">
                  <a:off x="260349" y="274320"/>
                  <a:ext cx="88902" cy="20955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  <p:sp>
            <p:nvSpPr>
              <p:cNvPr id="1105" name="Shape 1105"/>
              <p:cNvSpPr/>
              <p:nvPr/>
            </p:nvSpPr>
            <p:spPr>
              <a:xfrm flipH="1">
                <a:off x="457200" y="274319"/>
                <a:ext cx="425450" cy="2286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1109" name="Group 1109"/>
            <p:cNvGrpSpPr/>
            <p:nvPr/>
          </p:nvGrpSpPr>
          <p:grpSpPr>
            <a:xfrm>
              <a:off x="2057400" y="457199"/>
              <a:ext cx="304801" cy="332741"/>
              <a:chOff x="0" y="0"/>
              <a:chExt cx="304800" cy="332740"/>
            </a:xfrm>
          </p:grpSpPr>
          <p:sp>
            <p:nvSpPr>
              <p:cNvPr id="1107" name="Shape 1107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08" name="Shape 1108"/>
              <p:cNvSpPr/>
              <p:nvPr/>
            </p:nvSpPr>
            <p:spPr>
              <a:xfrm>
                <a:off x="31720" y="-1"/>
                <a:ext cx="241360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H</a:t>
                </a:r>
              </a:p>
            </p:txBody>
          </p:sp>
        </p:grpSp>
        <p:sp>
          <p:nvSpPr>
            <p:cNvPr id="1110" name="Shape 1110"/>
            <p:cNvSpPr/>
            <p:nvPr/>
          </p:nvSpPr>
          <p:spPr>
            <a:xfrm flipH="1">
              <a:off x="1098549" y="274320"/>
              <a:ext cx="469901" cy="2413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111" name="Shape 1111"/>
            <p:cNvSpPr/>
            <p:nvPr/>
          </p:nvSpPr>
          <p:spPr>
            <a:xfrm>
              <a:off x="1784350" y="274320"/>
              <a:ext cx="317501" cy="2413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113" name="Shape 1113"/>
          <p:cNvSpPr/>
          <p:nvPr/>
        </p:nvSpPr>
        <p:spPr>
          <a:xfrm>
            <a:off x="3554412" y="2349500"/>
            <a:ext cx="5410201" cy="3245486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Para evaluar el arbol: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 b="1">
                <a:latin typeface="Tahoma"/>
                <a:ea typeface="Tahoma"/>
                <a:cs typeface="Tahoma"/>
                <a:sym typeface="Tahoma"/>
              </a:rPr>
              <a:t>Si el arbol tiene un solo nodo</a:t>
            </a:r>
            <a:r>
              <a:rPr sz="1600">
                <a:latin typeface="Tahoma"/>
                <a:ea typeface="Tahoma"/>
                <a:cs typeface="Tahoma"/>
                <a:sym typeface="Tahoma"/>
              </a:rPr>
              <a:t> y este almacena un operando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	El resultado de la evaluacion es el valor de ese 	operando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 b="1">
                <a:latin typeface="Tahoma"/>
                <a:ea typeface="Tahoma"/>
                <a:cs typeface="Tahoma"/>
                <a:sym typeface="Tahoma"/>
              </a:rPr>
              <a:t>Si no</a:t>
            </a:r>
            <a:endParaRPr sz="1600" b="1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	1. Res1 = Evaluo subarbol izquierdo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	2. Res2 = Evaluo subarbol derecho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	3. Recupero la info de la raiz y efectuo la operación alli indicada, entre Res1 y Res2</a:t>
            </a:r>
          </a:p>
        </p:txBody>
      </p:sp>
      <p:grpSp>
        <p:nvGrpSpPr>
          <p:cNvPr id="1116" name="Group 1116"/>
          <p:cNvGrpSpPr/>
          <p:nvPr/>
        </p:nvGrpSpPr>
        <p:grpSpPr>
          <a:xfrm>
            <a:off x="380999" y="6018529"/>
            <a:ext cx="3048001" cy="459741"/>
            <a:chOff x="0" y="0"/>
            <a:chExt cx="3048000" cy="459740"/>
          </a:xfrm>
        </p:grpSpPr>
        <p:sp>
          <p:nvSpPr>
            <p:cNvPr id="1114" name="Shape 1114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15" name="Shape 1115"/>
            <p:cNvSpPr/>
            <p:nvPr/>
          </p:nvSpPr>
          <p:spPr>
            <a:xfrm>
              <a:off x="0" y="-1"/>
              <a:ext cx="286901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A</a:t>
              </a:r>
            </a:p>
          </p:txBody>
        </p:sp>
      </p:grpSp>
      <p:grpSp>
        <p:nvGrpSpPr>
          <p:cNvPr id="1119" name="Group 1119"/>
          <p:cNvGrpSpPr/>
          <p:nvPr/>
        </p:nvGrpSpPr>
        <p:grpSpPr>
          <a:xfrm>
            <a:off x="380999" y="6018529"/>
            <a:ext cx="3048001" cy="459741"/>
            <a:chOff x="0" y="0"/>
            <a:chExt cx="3048000" cy="459740"/>
          </a:xfrm>
        </p:grpSpPr>
        <p:sp>
          <p:nvSpPr>
            <p:cNvPr id="1117" name="Shape 1117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18" name="Shape 1118"/>
            <p:cNvSpPr/>
            <p:nvPr/>
          </p:nvSpPr>
          <p:spPr>
            <a:xfrm>
              <a:off x="0" y="-1"/>
              <a:ext cx="808842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A y B</a:t>
              </a:r>
            </a:p>
          </p:txBody>
        </p:sp>
      </p:grpSp>
      <p:grpSp>
        <p:nvGrpSpPr>
          <p:cNvPr id="1122" name="Group 1122"/>
          <p:cNvGrpSpPr/>
          <p:nvPr/>
        </p:nvGrpSpPr>
        <p:grpSpPr>
          <a:xfrm>
            <a:off x="381000" y="6018529"/>
            <a:ext cx="3048000" cy="459741"/>
            <a:chOff x="0" y="0"/>
            <a:chExt cx="3048000" cy="459740"/>
          </a:xfrm>
        </p:grpSpPr>
        <p:sp>
          <p:nvSpPr>
            <p:cNvPr id="1120" name="Shape 1120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21" name="Shape 1121"/>
            <p:cNvSpPr/>
            <p:nvPr/>
          </p:nvSpPr>
          <p:spPr>
            <a:xfrm>
              <a:off x="0" y="-1"/>
              <a:ext cx="82342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A * B</a:t>
              </a:r>
            </a:p>
          </p:txBody>
        </p:sp>
      </p:grpSp>
      <p:grpSp>
        <p:nvGrpSpPr>
          <p:cNvPr id="1125" name="Group 1125"/>
          <p:cNvGrpSpPr/>
          <p:nvPr/>
        </p:nvGrpSpPr>
        <p:grpSpPr>
          <a:xfrm>
            <a:off x="381000" y="6018529"/>
            <a:ext cx="3048000" cy="459741"/>
            <a:chOff x="0" y="0"/>
            <a:chExt cx="3048000" cy="459740"/>
          </a:xfrm>
        </p:grpSpPr>
        <p:sp>
          <p:nvSpPr>
            <p:cNvPr id="1123" name="Shape 1123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24" name="Shape 1124"/>
            <p:cNvSpPr/>
            <p:nvPr/>
          </p:nvSpPr>
          <p:spPr>
            <a:xfrm>
              <a:off x="0" y="-1"/>
              <a:ext cx="1582153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y C</a:t>
              </a:r>
            </a:p>
          </p:txBody>
        </p:sp>
      </p:grpSp>
      <p:grpSp>
        <p:nvGrpSpPr>
          <p:cNvPr id="1128" name="Group 1128"/>
          <p:cNvGrpSpPr/>
          <p:nvPr/>
        </p:nvGrpSpPr>
        <p:grpSpPr>
          <a:xfrm>
            <a:off x="381000" y="6018529"/>
            <a:ext cx="3048000" cy="459741"/>
            <a:chOff x="0" y="0"/>
            <a:chExt cx="3048000" cy="459740"/>
          </a:xfrm>
        </p:grpSpPr>
        <p:sp>
          <p:nvSpPr>
            <p:cNvPr id="1126" name="Shape 1126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27" name="Shape 1127"/>
            <p:cNvSpPr/>
            <p:nvPr/>
          </p:nvSpPr>
          <p:spPr>
            <a:xfrm>
              <a:off x="0" y="-1"/>
              <a:ext cx="2131180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y C y D</a:t>
              </a:r>
            </a:p>
          </p:txBody>
        </p:sp>
      </p:grpSp>
      <p:grpSp>
        <p:nvGrpSpPr>
          <p:cNvPr id="1131" name="Group 1131"/>
          <p:cNvGrpSpPr/>
          <p:nvPr/>
        </p:nvGrpSpPr>
        <p:grpSpPr>
          <a:xfrm>
            <a:off x="381000" y="6018529"/>
            <a:ext cx="3048000" cy="459741"/>
            <a:chOff x="0" y="0"/>
            <a:chExt cx="3048000" cy="459740"/>
          </a:xfrm>
        </p:grpSpPr>
        <p:sp>
          <p:nvSpPr>
            <p:cNvPr id="1129" name="Shape 1129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30" name="Shape 1130"/>
            <p:cNvSpPr/>
            <p:nvPr/>
          </p:nvSpPr>
          <p:spPr>
            <a:xfrm>
              <a:off x="0" y="-1"/>
              <a:ext cx="218862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y (C*D)</a:t>
              </a:r>
            </a:p>
          </p:txBody>
        </p:sp>
      </p:grpSp>
      <p:grpSp>
        <p:nvGrpSpPr>
          <p:cNvPr id="1134" name="Group 1134"/>
          <p:cNvGrpSpPr/>
          <p:nvPr/>
        </p:nvGrpSpPr>
        <p:grpSpPr>
          <a:xfrm>
            <a:off x="381000" y="6018529"/>
            <a:ext cx="3048000" cy="459741"/>
            <a:chOff x="0" y="0"/>
            <a:chExt cx="3048000" cy="459740"/>
          </a:xfrm>
        </p:grpSpPr>
        <p:sp>
          <p:nvSpPr>
            <p:cNvPr id="1132" name="Shape 1132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33" name="Shape 1133"/>
            <p:cNvSpPr/>
            <p:nvPr/>
          </p:nvSpPr>
          <p:spPr>
            <a:xfrm>
              <a:off x="0" y="-1"/>
              <a:ext cx="2147551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- (C*D)</a:t>
              </a:r>
            </a:p>
          </p:txBody>
        </p:sp>
      </p:grpSp>
      <p:grpSp>
        <p:nvGrpSpPr>
          <p:cNvPr id="1137" name="Group 1137"/>
          <p:cNvGrpSpPr/>
          <p:nvPr/>
        </p:nvGrpSpPr>
        <p:grpSpPr>
          <a:xfrm>
            <a:off x="381000" y="6018529"/>
            <a:ext cx="3048000" cy="459741"/>
            <a:chOff x="0" y="0"/>
            <a:chExt cx="3048000" cy="459740"/>
          </a:xfrm>
        </p:grpSpPr>
        <p:sp>
          <p:nvSpPr>
            <p:cNvPr id="1135" name="Shape 1135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36" name="Shape 1136"/>
            <p:cNvSpPr/>
            <p:nvPr/>
          </p:nvSpPr>
          <p:spPr>
            <a:xfrm>
              <a:off x="0" y="-1"/>
              <a:ext cx="269568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- (C*D) y H</a:t>
              </a:r>
            </a:p>
          </p:txBody>
        </p:sp>
      </p:grpSp>
      <p:grpSp>
        <p:nvGrpSpPr>
          <p:cNvPr id="1140" name="Group 1140"/>
          <p:cNvGrpSpPr/>
          <p:nvPr/>
        </p:nvGrpSpPr>
        <p:grpSpPr>
          <a:xfrm>
            <a:off x="381000" y="6018529"/>
            <a:ext cx="3048000" cy="459741"/>
            <a:chOff x="0" y="0"/>
            <a:chExt cx="3048000" cy="459740"/>
          </a:xfrm>
        </p:grpSpPr>
        <p:sp>
          <p:nvSpPr>
            <p:cNvPr id="1138" name="Shape 1138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39" name="Shape 1139"/>
            <p:cNvSpPr/>
            <p:nvPr/>
          </p:nvSpPr>
          <p:spPr>
            <a:xfrm>
              <a:off x="0" y="-1"/>
              <a:ext cx="276563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- (C*D) + H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" grpId="0" animBg="1" advAuto="0"/>
      <p:bldP spid="1066" grpId="0" animBg="1" advAuto="0"/>
      <p:bldP spid="1067" grpId="0" build="p" animBg="1" advAuto="0"/>
      <p:bldP spid="1068" grpId="0" animBg="1" advAuto="0"/>
      <p:bldP spid="1069" grpId="0" animBg="1" advAuto="0"/>
      <p:bldP spid="1070" grpId="0" animBg="1" advAuto="0"/>
      <p:bldP spid="1071" grpId="0" animBg="1" advAuto="0"/>
      <p:bldP spid="1072" grpId="0" animBg="1" advAuto="0"/>
      <p:bldP spid="1073" grpId="0" animBg="1" advAuto="0"/>
      <p:bldP spid="1112" grpId="0" animBg="1" advAuto="0"/>
      <p:bldP spid="1113" grpId="0" animBg="1" advAuto="0"/>
      <p:bldP spid="1116" grpId="0" animBg="1" advAuto="0"/>
      <p:bldP spid="1119" grpId="0" animBg="1" advAuto="0"/>
      <p:bldP spid="1122" grpId="0" animBg="1" advAuto="0"/>
      <p:bldP spid="1125" grpId="0" animBg="1" advAuto="0"/>
      <p:bldP spid="1128" grpId="0" animBg="1" advAuto="0"/>
      <p:bldP spid="1131" grpId="0" animBg="1" advAuto="0"/>
      <p:bldP spid="1134" grpId="0" animBg="1" advAuto="0"/>
      <p:bldP spid="1137" grpId="0" animBg="1" advAuto="0"/>
      <p:bldP spid="1140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AD938-AD10-134D-BAB3-CB50ECDBC01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100000">
                <a:srgbClr val="005199"/>
              </a:gs>
              <a:gs pos="0">
                <a:srgbClr val="00529B"/>
              </a:gs>
              <a:gs pos="50000">
                <a:srgbClr val="003A7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GB" sz="1350" kern="12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B579-24DF-C54F-86FD-2222CDE2D99B}"/>
              </a:ext>
            </a:extLst>
          </p:cNvPr>
          <p:cNvSpPr txBox="1">
            <a:spLocks noChangeArrowheads="1"/>
          </p:cNvSpPr>
          <p:nvPr/>
        </p:nvSpPr>
        <p:spPr>
          <a:xfrm>
            <a:off x="1023784" y="3124302"/>
            <a:ext cx="7096494" cy="6093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/>
            <a:r>
              <a:rPr lang="en-US" altLang="en-US" b="1" dirty="0">
                <a:solidFill>
                  <a:prstClr val="white"/>
                </a:solidFill>
                <a:latin typeface="Gill Sans MT" panose="020B0502020104020203" pitchFamily="34" charset="0"/>
              </a:rPr>
              <a:t>Árbol </a:t>
            </a:r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Binario</a:t>
            </a:r>
            <a:r>
              <a:rPr lang="en-US" altLang="en-US" b="1" dirty="0">
                <a:solidFill>
                  <a:prstClr val="white"/>
                </a:solidFill>
                <a:latin typeface="Gill Sans MT" panose="020B0502020104020203" pitchFamily="34" charset="0"/>
              </a:rPr>
              <a:t> de </a:t>
            </a:r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Búsqueda</a:t>
            </a:r>
            <a:endParaRPr lang="en-US" altLang="en-US" dirty="0">
              <a:solidFill>
                <a:prstClr val="white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026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Shape 1142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4368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368" i="1">
                <a:solidFill>
                  <a:srgbClr val="008080"/>
                </a:solidFill>
              </a:rPr>
              <a:t>ARBOL BINARIO DE BUSQUEDA</a:t>
            </a:r>
          </a:p>
        </p:txBody>
      </p:sp>
      <p:sp>
        <p:nvSpPr>
          <p:cNvPr id="1143" name="Shape 1143"/>
          <p:cNvSpPr>
            <a:spLocks noGrp="1"/>
          </p:cNvSpPr>
          <p:nvPr>
            <p:ph type="body" idx="4294967295"/>
          </p:nvPr>
        </p:nvSpPr>
        <p:spPr>
          <a:xfrm>
            <a:off x="323850" y="2051050"/>
            <a:ext cx="6335713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Los elementos en un arbol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Hasta ahora no han guardado un orden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No sirven para buscar elementos</a:t>
            </a:r>
          </a:p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Los arboles de busqueda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Permiten ejecutar en ellos busqueda binaria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Dado un nodo:</a:t>
            </a:r>
          </a:p>
          <a:p>
            <a:pPr marL="1104900" lvl="2" indent="-17145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Todos los nodos del sub. Izq. Tienen una clave menor que la clave de la raiz</a:t>
            </a:r>
          </a:p>
          <a:p>
            <a:pPr marL="1104900" lvl="2" indent="-17145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Todos los nodos del sub. Der. Tienen una clave mayor que la clave de la raiz</a:t>
            </a:r>
          </a:p>
        </p:txBody>
      </p:sp>
      <p:grpSp>
        <p:nvGrpSpPr>
          <p:cNvPr id="1159" name="Group 1159"/>
          <p:cNvGrpSpPr/>
          <p:nvPr/>
        </p:nvGrpSpPr>
        <p:grpSpPr>
          <a:xfrm>
            <a:off x="6781799" y="4494529"/>
            <a:ext cx="1905001" cy="1831341"/>
            <a:chOff x="0" y="0"/>
            <a:chExt cx="1905000" cy="1831340"/>
          </a:xfrm>
        </p:grpSpPr>
        <p:grpSp>
          <p:nvGrpSpPr>
            <p:cNvPr id="1146" name="Group 1146"/>
            <p:cNvGrpSpPr/>
            <p:nvPr/>
          </p:nvGrpSpPr>
          <p:grpSpPr>
            <a:xfrm>
              <a:off x="-1" y="685799"/>
              <a:ext cx="457201" cy="459742"/>
              <a:chOff x="0" y="0"/>
              <a:chExt cx="457200" cy="459740"/>
            </a:xfrm>
          </p:grpSpPr>
          <p:sp>
            <p:nvSpPr>
              <p:cNvPr id="1144" name="Shape 1144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45" name="Shape 1145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4</a:t>
                </a:r>
              </a:p>
            </p:txBody>
          </p:sp>
        </p:grpSp>
        <p:grpSp>
          <p:nvGrpSpPr>
            <p:cNvPr id="1149" name="Group 1149"/>
            <p:cNvGrpSpPr/>
            <p:nvPr/>
          </p:nvGrpSpPr>
          <p:grpSpPr>
            <a:xfrm>
              <a:off x="685799" y="1371599"/>
              <a:ext cx="457201" cy="459742"/>
              <a:chOff x="0" y="0"/>
              <a:chExt cx="457200" cy="459740"/>
            </a:xfrm>
          </p:grpSpPr>
          <p:sp>
            <p:nvSpPr>
              <p:cNvPr id="1147" name="Shape 1147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48" name="Shape 1148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5</a:t>
                </a:r>
              </a:p>
            </p:txBody>
          </p:sp>
        </p:grpSp>
        <p:sp>
          <p:nvSpPr>
            <p:cNvPr id="1150" name="Shape 1150"/>
            <p:cNvSpPr/>
            <p:nvPr/>
          </p:nvSpPr>
          <p:spPr>
            <a:xfrm>
              <a:off x="390525" y="1077594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153" name="Group 1153"/>
            <p:cNvGrpSpPr/>
            <p:nvPr/>
          </p:nvGrpSpPr>
          <p:grpSpPr>
            <a:xfrm>
              <a:off x="1447799" y="685799"/>
              <a:ext cx="457201" cy="459742"/>
              <a:chOff x="0" y="0"/>
              <a:chExt cx="457200" cy="459740"/>
            </a:xfrm>
          </p:grpSpPr>
          <p:sp>
            <p:nvSpPr>
              <p:cNvPr id="1151" name="Shape 1151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52" name="Shape 1152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9</a:t>
                </a:r>
              </a:p>
            </p:txBody>
          </p:sp>
        </p:grpSp>
        <p:grpSp>
          <p:nvGrpSpPr>
            <p:cNvPr id="1156" name="Group 1156"/>
            <p:cNvGrpSpPr/>
            <p:nvPr/>
          </p:nvGrpSpPr>
          <p:grpSpPr>
            <a:xfrm>
              <a:off x="761999" y="-1"/>
              <a:ext cx="457201" cy="459742"/>
              <a:chOff x="0" y="0"/>
              <a:chExt cx="457200" cy="459740"/>
            </a:xfrm>
          </p:grpSpPr>
          <p:sp>
            <p:nvSpPr>
              <p:cNvPr id="1154" name="Shape 1154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55" name="Shape 1155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6</a:t>
                </a:r>
              </a:p>
            </p:txBody>
          </p:sp>
        </p:grpSp>
        <p:sp>
          <p:nvSpPr>
            <p:cNvPr id="1157" name="Shape 1157"/>
            <p:cNvSpPr/>
            <p:nvPr/>
          </p:nvSpPr>
          <p:spPr>
            <a:xfrm flipH="1">
              <a:off x="390525" y="391795"/>
              <a:ext cx="438151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158" name="Shape 1158"/>
            <p:cNvSpPr/>
            <p:nvPr/>
          </p:nvSpPr>
          <p:spPr>
            <a:xfrm>
              <a:off x="1152525" y="391795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160" name="Shape 1160"/>
          <p:cNvSpPr/>
          <p:nvPr/>
        </p:nvSpPr>
        <p:spPr>
          <a:xfrm>
            <a:off x="7467600" y="4038600"/>
            <a:ext cx="547648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2400"/>
              <a:t>&lt;&gt;</a:t>
            </a:r>
          </a:p>
        </p:txBody>
      </p:sp>
      <p:grpSp>
        <p:nvGrpSpPr>
          <p:cNvPr id="1163" name="Group 1163"/>
          <p:cNvGrpSpPr/>
          <p:nvPr/>
        </p:nvGrpSpPr>
        <p:grpSpPr>
          <a:xfrm>
            <a:off x="6553199" y="1827529"/>
            <a:ext cx="457201" cy="459741"/>
            <a:chOff x="0" y="0"/>
            <a:chExt cx="457200" cy="459740"/>
          </a:xfrm>
        </p:grpSpPr>
        <p:sp>
          <p:nvSpPr>
            <p:cNvPr id="1161" name="Shape 1161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62" name="Shape 1162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30</a:t>
              </a:r>
            </a:p>
          </p:txBody>
        </p:sp>
      </p:grpSp>
      <p:grpSp>
        <p:nvGrpSpPr>
          <p:cNvPr id="1166" name="Group 1166"/>
          <p:cNvGrpSpPr/>
          <p:nvPr/>
        </p:nvGrpSpPr>
        <p:grpSpPr>
          <a:xfrm>
            <a:off x="7238999" y="2513329"/>
            <a:ext cx="457201" cy="459741"/>
            <a:chOff x="0" y="0"/>
            <a:chExt cx="457200" cy="459740"/>
          </a:xfrm>
        </p:grpSpPr>
        <p:sp>
          <p:nvSpPr>
            <p:cNvPr id="1164" name="Shape 1164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65" name="Shape 1165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41</a:t>
              </a:r>
            </a:p>
          </p:txBody>
        </p:sp>
      </p:grpSp>
      <p:sp>
        <p:nvSpPr>
          <p:cNvPr id="1185" name="Shape 1185"/>
          <p:cNvSpPr/>
          <p:nvPr/>
        </p:nvSpPr>
        <p:spPr>
          <a:xfrm>
            <a:off x="7000478" y="2276078"/>
            <a:ext cx="248841" cy="248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170" name="Group 1170"/>
          <p:cNvGrpSpPr/>
          <p:nvPr/>
        </p:nvGrpSpPr>
        <p:grpSpPr>
          <a:xfrm>
            <a:off x="8000999" y="1827529"/>
            <a:ext cx="457201" cy="459741"/>
            <a:chOff x="0" y="0"/>
            <a:chExt cx="457200" cy="459740"/>
          </a:xfrm>
        </p:grpSpPr>
        <p:sp>
          <p:nvSpPr>
            <p:cNvPr id="1168" name="Shape 1168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69" name="Shape 1169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75</a:t>
              </a:r>
            </a:p>
          </p:txBody>
        </p:sp>
      </p:grpSp>
      <p:grpSp>
        <p:nvGrpSpPr>
          <p:cNvPr id="1173" name="Group 1173"/>
          <p:cNvGrpSpPr/>
          <p:nvPr/>
        </p:nvGrpSpPr>
        <p:grpSpPr>
          <a:xfrm>
            <a:off x="7315199" y="1141730"/>
            <a:ext cx="457201" cy="459741"/>
            <a:chOff x="0" y="0"/>
            <a:chExt cx="457200" cy="459740"/>
          </a:xfrm>
        </p:grpSpPr>
        <p:sp>
          <p:nvSpPr>
            <p:cNvPr id="1171" name="Shape 1171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72" name="Shape 1172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55</a:t>
              </a:r>
            </a:p>
          </p:txBody>
        </p:sp>
      </p:grpSp>
      <p:sp>
        <p:nvSpPr>
          <p:cNvPr id="1186" name="Shape 1186"/>
          <p:cNvSpPr/>
          <p:nvPr/>
        </p:nvSpPr>
        <p:spPr>
          <a:xfrm>
            <a:off x="7000478" y="1568053"/>
            <a:ext cx="325041" cy="292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187" name="Shape 1187"/>
          <p:cNvSpPr/>
          <p:nvPr/>
        </p:nvSpPr>
        <p:spPr>
          <a:xfrm>
            <a:off x="7762478" y="1590278"/>
            <a:ext cx="248841" cy="248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178" name="Group 1178"/>
          <p:cNvGrpSpPr/>
          <p:nvPr/>
        </p:nvGrpSpPr>
        <p:grpSpPr>
          <a:xfrm>
            <a:off x="6019799" y="2513329"/>
            <a:ext cx="457201" cy="459741"/>
            <a:chOff x="0" y="0"/>
            <a:chExt cx="457200" cy="459740"/>
          </a:xfrm>
        </p:grpSpPr>
        <p:sp>
          <p:nvSpPr>
            <p:cNvPr id="1176" name="Shape 1176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77" name="Shape 1177"/>
            <p:cNvSpPr/>
            <p:nvPr/>
          </p:nvSpPr>
          <p:spPr>
            <a:xfrm>
              <a:off x="93335" y="0"/>
              <a:ext cx="27053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4</a:t>
              </a:r>
            </a:p>
          </p:txBody>
        </p:sp>
      </p:grpSp>
      <p:grpSp>
        <p:nvGrpSpPr>
          <p:cNvPr id="1181" name="Group 1181"/>
          <p:cNvGrpSpPr/>
          <p:nvPr/>
        </p:nvGrpSpPr>
        <p:grpSpPr>
          <a:xfrm>
            <a:off x="8458199" y="2437129"/>
            <a:ext cx="457201" cy="459741"/>
            <a:chOff x="0" y="0"/>
            <a:chExt cx="457200" cy="459740"/>
          </a:xfrm>
        </p:grpSpPr>
        <p:sp>
          <p:nvSpPr>
            <p:cNvPr id="1179" name="Shape 1179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80" name="Shape 1180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85</a:t>
              </a:r>
            </a:p>
          </p:txBody>
        </p:sp>
      </p:grpSp>
      <p:sp>
        <p:nvSpPr>
          <p:cNvPr id="1188" name="Shape 1188"/>
          <p:cNvSpPr/>
          <p:nvPr/>
        </p:nvSpPr>
        <p:spPr>
          <a:xfrm>
            <a:off x="6391391" y="2287111"/>
            <a:ext cx="211745" cy="2722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189" name="Shape 1189"/>
          <p:cNvSpPr/>
          <p:nvPr/>
        </p:nvSpPr>
        <p:spPr>
          <a:xfrm>
            <a:off x="8401883" y="2287111"/>
            <a:ext cx="112515" cy="150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184" name="Shape 1184"/>
          <p:cNvSpPr/>
          <p:nvPr/>
        </p:nvSpPr>
        <p:spPr>
          <a:xfrm>
            <a:off x="7239000" y="685800"/>
            <a:ext cx="547648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2400" dirty="0"/>
              <a:t>&lt;&gt;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" grpId="0" build="p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Shape 1191"/>
          <p:cNvSpPr>
            <a:spLocks noGrp="1"/>
          </p:cNvSpPr>
          <p:nvPr>
            <p:ph type="title" idx="4294967295"/>
          </p:nvPr>
        </p:nvSpPr>
        <p:spPr>
          <a:xfrm>
            <a:off x="381000" y="1984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TDA ABB: DEFINICION</a:t>
            </a:r>
          </a:p>
        </p:txBody>
      </p:sp>
      <p:sp>
        <p:nvSpPr>
          <p:cNvPr id="1192" name="Shape 1192"/>
          <p:cNvSpPr>
            <a:spLocks noGrp="1"/>
          </p:cNvSpPr>
          <p:nvPr>
            <p:ph type="body" idx="4294967295"/>
          </p:nvPr>
        </p:nvSpPr>
        <p:spPr>
          <a:xfrm>
            <a:off x="457200" y="21336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Valores</a:t>
            </a:r>
            <a:r>
              <a:rPr sz="2400" dirty="0">
                <a:solidFill>
                  <a:srgbClr val="002850"/>
                </a:solidFill>
              </a:rPr>
              <a:t>: </a:t>
            </a:r>
          </a:p>
          <a:p>
            <a:pPr marL="6613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Conjunto de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r>
              <a:rPr sz="2000" dirty="0">
                <a:solidFill>
                  <a:srgbClr val="002850"/>
                </a:solidFill>
              </a:rPr>
              <a:t> </a:t>
            </a:r>
          </a:p>
          <a:p>
            <a:pPr marL="6613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Dado un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p, 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Los </a:t>
            </a:r>
            <a:r>
              <a:rPr i="1" dirty="0" err="1">
                <a:solidFill>
                  <a:srgbClr val="002850"/>
                </a:solidFill>
              </a:rPr>
              <a:t>nodos</a:t>
            </a:r>
            <a:r>
              <a:rPr i="1" dirty="0">
                <a:solidFill>
                  <a:srgbClr val="002850"/>
                </a:solidFill>
              </a:rPr>
              <a:t> del </a:t>
            </a:r>
            <a:r>
              <a:rPr i="1" dirty="0" err="1">
                <a:solidFill>
                  <a:srgbClr val="002850"/>
                </a:solidFill>
              </a:rPr>
              <a:t>árbol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izquierdo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almacenan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valores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menores</a:t>
            </a:r>
            <a:r>
              <a:rPr i="1" dirty="0">
                <a:solidFill>
                  <a:srgbClr val="002850"/>
                </a:solidFill>
              </a:rPr>
              <a:t> al de p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Los </a:t>
            </a:r>
            <a:r>
              <a:rPr i="1" dirty="0" err="1">
                <a:solidFill>
                  <a:srgbClr val="002850"/>
                </a:solidFill>
              </a:rPr>
              <a:t>nodos</a:t>
            </a:r>
            <a:r>
              <a:rPr i="1" dirty="0">
                <a:solidFill>
                  <a:srgbClr val="002850"/>
                </a:solidFill>
              </a:rPr>
              <a:t> del </a:t>
            </a:r>
            <a:r>
              <a:rPr i="1" dirty="0" err="1">
                <a:solidFill>
                  <a:srgbClr val="002850"/>
                </a:solidFill>
              </a:rPr>
              <a:t>árbol</a:t>
            </a:r>
            <a:r>
              <a:rPr i="1" dirty="0">
                <a:solidFill>
                  <a:srgbClr val="002850"/>
                </a:solidFill>
              </a:rPr>
              <a:t> derecho </a:t>
            </a:r>
            <a:r>
              <a:rPr i="1" dirty="0" err="1">
                <a:solidFill>
                  <a:srgbClr val="002850"/>
                </a:solidFill>
              </a:rPr>
              <a:t>almacenan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valores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mayores</a:t>
            </a:r>
            <a:r>
              <a:rPr i="1" dirty="0">
                <a:solidFill>
                  <a:srgbClr val="002850"/>
                </a:solidFill>
              </a:rPr>
              <a:t> al de p</a:t>
            </a:r>
          </a:p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Operaciones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Son las </a:t>
            </a:r>
            <a:r>
              <a:rPr sz="2000" dirty="0" err="1">
                <a:solidFill>
                  <a:srgbClr val="002850"/>
                </a:solidFill>
              </a:rPr>
              <a:t>mismas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operaciones</a:t>
            </a:r>
            <a:r>
              <a:rPr sz="2000" dirty="0">
                <a:solidFill>
                  <a:srgbClr val="002850"/>
                </a:solidFill>
              </a:rPr>
              <a:t> que para un AB</a:t>
            </a:r>
          </a:p>
          <a:p>
            <a:pPr marL="6613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Pero </a:t>
            </a: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este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caso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ya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tenemos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reglas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suficientes</a:t>
            </a:r>
            <a:r>
              <a:rPr sz="2000" dirty="0">
                <a:solidFill>
                  <a:srgbClr val="002850"/>
                </a:solidFill>
              </a:rPr>
              <a:t> que </a:t>
            </a:r>
            <a:r>
              <a:rPr sz="2000" dirty="0" err="1">
                <a:solidFill>
                  <a:srgbClr val="002850"/>
                </a:solidFill>
              </a:rPr>
              <a:t>nos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indican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como</a:t>
            </a:r>
            <a:r>
              <a:rPr sz="2000" dirty="0">
                <a:solidFill>
                  <a:srgbClr val="002850"/>
                </a:solidFill>
              </a:rPr>
              <a:t>: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b="1" i="1" dirty="0" err="1">
                <a:solidFill>
                  <a:srgbClr val="002850"/>
                </a:solidFill>
              </a:rPr>
              <a:t>Insertar</a:t>
            </a:r>
            <a:endParaRPr b="1" i="1" dirty="0">
              <a:solidFill>
                <a:srgbClr val="002850"/>
              </a:solidFill>
            </a:endParaRP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b="1" i="1" dirty="0" err="1">
                <a:solidFill>
                  <a:srgbClr val="002850"/>
                </a:solidFill>
              </a:rPr>
              <a:t>Sacar</a:t>
            </a:r>
            <a:r>
              <a:rPr b="1" i="1" dirty="0">
                <a:solidFill>
                  <a:srgbClr val="002850"/>
                </a:solidFill>
              </a:rPr>
              <a:t> y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b="1" i="1" dirty="0" err="1">
                <a:solidFill>
                  <a:srgbClr val="002850"/>
                </a:solidFill>
              </a:rPr>
              <a:t>Buscar</a:t>
            </a:r>
            <a:endParaRPr b="1" i="1" dirty="0">
              <a:solidFill>
                <a:srgbClr val="00285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2" grpId="0" build="p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CREAR CON CLAVE</a:t>
            </a:r>
          </a:p>
        </p:txBody>
      </p:sp>
      <p:sp>
        <p:nvSpPr>
          <p:cNvPr id="1197" name="Shape 1197"/>
          <p:cNvSpPr>
            <a:spLocks noGrp="1"/>
          </p:cNvSpPr>
          <p:nvPr>
            <p:ph type="body" idx="4294967295"/>
          </p:nvPr>
        </p:nvSpPr>
        <p:spPr>
          <a:xfrm>
            <a:off x="457200" y="1798637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Como el nodo ahora tiene un campo clave</a:t>
            </a:r>
          </a:p>
          <a:p>
            <a:pPr marL="742950" lvl="1" indent="-285750"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Cambian un poco las operaciones del nodo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Ejemplo</a:t>
            </a:r>
          </a:p>
        </p:txBody>
      </p:sp>
      <p:sp>
        <p:nvSpPr>
          <p:cNvPr id="1198" name="Shape 1198"/>
          <p:cNvSpPr/>
          <p:nvPr/>
        </p:nvSpPr>
        <p:spPr>
          <a:xfrm>
            <a:off x="1547812" y="3644900"/>
            <a:ext cx="6553201" cy="172656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/>
            <a:r>
              <a:rPr sz="1200">
                <a:latin typeface="Arial"/>
                <a:ea typeface="Arial"/>
                <a:cs typeface="Arial"/>
                <a:sym typeface="Arial"/>
              </a:rPr>
              <a:t>/* constructor */</a:t>
            </a:r>
          </a:p>
          <a:p>
            <a:pPr lvl="0"/>
            <a:r>
              <a:rPr sz="1600">
                <a:latin typeface="Verdana"/>
                <a:ea typeface="Verdana"/>
                <a:cs typeface="Verdana"/>
                <a:sym typeface="Verdana"/>
              </a:rPr>
              <a:t>public NodeAB(Object clave, Object contenido){</a:t>
            </a:r>
            <a:endParaRPr sz="160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>
                <a:latin typeface="Verdana"/>
                <a:ea typeface="Verdana"/>
                <a:cs typeface="Verdana"/>
                <a:sym typeface="Verdana"/>
              </a:rPr>
              <a:t>	this.clave = clave;</a:t>
            </a:r>
            <a:endParaRPr sz="160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>
                <a:latin typeface="Verdana"/>
                <a:ea typeface="Verdana"/>
                <a:cs typeface="Verdana"/>
                <a:sym typeface="Verdana"/>
              </a:rPr>
              <a:t>	this.contenido = contenido;</a:t>
            </a:r>
            <a:endParaRPr sz="160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>
                <a:latin typeface="Verdana"/>
                <a:ea typeface="Verdana"/>
                <a:cs typeface="Verdana"/>
                <a:sym typeface="Verdana"/>
              </a:rPr>
              <a:t>	this.izq = NULL;</a:t>
            </a:r>
            <a:endParaRPr sz="160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>
                <a:latin typeface="Verdana"/>
                <a:ea typeface="Verdana"/>
                <a:cs typeface="Verdana"/>
                <a:sym typeface="Verdana"/>
              </a:rPr>
              <a:t>	this.der= NULL;</a:t>
            </a:r>
            <a:endParaRPr sz="1600">
              <a:solidFill>
                <a:srgbClr val="0028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sz="1600">
                <a:latin typeface="Verdana"/>
                <a:ea typeface="Verdana"/>
                <a:cs typeface="Verdana"/>
                <a:sym typeface="Verdana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Shape 1200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CREACION DE UN ABB</a:t>
            </a:r>
          </a:p>
        </p:txBody>
      </p:sp>
      <p:sp>
        <p:nvSpPr>
          <p:cNvPr id="1201" name="Shape 1201"/>
          <p:cNvSpPr>
            <a:spLocks noGrp="1"/>
          </p:cNvSpPr>
          <p:nvPr>
            <p:ph type="body" idx="4294967295"/>
          </p:nvPr>
        </p:nvSpPr>
        <p:spPr>
          <a:xfrm>
            <a:off x="457200" y="1927225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Un arbol de </a:t>
            </a:r>
            <a:r>
              <a:rPr sz="2400" dirty="0" err="1">
                <a:solidFill>
                  <a:srgbClr val="002850"/>
                </a:solidFill>
              </a:rPr>
              <a:t>busqueda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debe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mantener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A la </a:t>
            </a:r>
            <a:r>
              <a:rPr sz="2000" dirty="0" err="1">
                <a:solidFill>
                  <a:srgbClr val="002850"/>
                </a:solidFill>
              </a:rPr>
              <a:t>derecha</a:t>
            </a:r>
            <a:r>
              <a:rPr sz="2000" dirty="0">
                <a:solidFill>
                  <a:srgbClr val="002850"/>
                </a:solidFill>
              </a:rPr>
              <a:t> mayor a </a:t>
            </a:r>
            <a:r>
              <a:rPr sz="2000" dirty="0" err="1">
                <a:solidFill>
                  <a:srgbClr val="002850"/>
                </a:solidFill>
              </a:rPr>
              <a:t>raiz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A la </a:t>
            </a:r>
            <a:r>
              <a:rPr sz="2000" dirty="0" err="1">
                <a:solidFill>
                  <a:srgbClr val="002850"/>
                </a:solidFill>
              </a:rPr>
              <a:t>izq</a:t>
            </a:r>
            <a:r>
              <a:rPr sz="2000" dirty="0">
                <a:solidFill>
                  <a:srgbClr val="002850"/>
                </a:solidFill>
              </a:rPr>
              <a:t>. </a:t>
            </a:r>
            <a:r>
              <a:rPr sz="2000" dirty="0" err="1">
                <a:solidFill>
                  <a:srgbClr val="002850"/>
                </a:solidFill>
              </a:rPr>
              <a:t>Menor</a:t>
            </a:r>
            <a:r>
              <a:rPr sz="2000" dirty="0">
                <a:solidFill>
                  <a:srgbClr val="002850"/>
                </a:solidFill>
              </a:rPr>
              <a:t> a </a:t>
            </a:r>
            <a:r>
              <a:rPr sz="2000" dirty="0" err="1">
                <a:solidFill>
                  <a:srgbClr val="002850"/>
                </a:solidFill>
              </a:rPr>
              <a:t>raiz</a:t>
            </a:r>
            <a:endParaRPr sz="20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Ejemplo</a:t>
            </a:r>
            <a:r>
              <a:rPr sz="2400" dirty="0">
                <a:solidFill>
                  <a:srgbClr val="002850"/>
                </a:solidFill>
              </a:rPr>
              <a:t>: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Construya</a:t>
            </a:r>
            <a:r>
              <a:rPr sz="2000" dirty="0">
                <a:solidFill>
                  <a:srgbClr val="002850"/>
                </a:solidFill>
              </a:rPr>
              <a:t> arbol con </a:t>
            </a:r>
            <a:r>
              <a:rPr sz="2000" dirty="0" err="1">
                <a:solidFill>
                  <a:srgbClr val="002850"/>
                </a:solidFill>
              </a:rPr>
              <a:t>los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siguientes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r>
              <a:rPr sz="2000" dirty="0">
                <a:solidFill>
                  <a:srgbClr val="002850"/>
                </a:solidFill>
              </a:rPr>
              <a:t>: 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8, 3, 1, 20, 10, 5, 4</a:t>
            </a:r>
          </a:p>
        </p:txBody>
      </p:sp>
      <p:grpSp>
        <p:nvGrpSpPr>
          <p:cNvPr id="1204" name="Group 1204"/>
          <p:cNvGrpSpPr/>
          <p:nvPr/>
        </p:nvGrpSpPr>
        <p:grpSpPr>
          <a:xfrm>
            <a:off x="3962400" y="4419600"/>
            <a:ext cx="381000" cy="381000"/>
            <a:chOff x="0" y="0"/>
            <a:chExt cx="381000" cy="381000"/>
          </a:xfrm>
        </p:grpSpPr>
        <p:sp>
          <p:nvSpPr>
            <p:cNvPr id="1202" name="Shape 1202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dirty="0"/>
            </a:p>
          </p:txBody>
        </p:sp>
        <p:sp>
          <p:nvSpPr>
            <p:cNvPr id="1203" name="Shape 1203"/>
            <p:cNvSpPr/>
            <p:nvPr/>
          </p:nvSpPr>
          <p:spPr>
            <a:xfrm>
              <a:off x="127181" y="52001"/>
              <a:ext cx="126638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rPr dirty="0"/>
                <a:t>8</a:t>
              </a:r>
            </a:p>
          </p:txBody>
        </p:sp>
      </p:grpSp>
      <p:grpSp>
        <p:nvGrpSpPr>
          <p:cNvPr id="1207" name="Group 1207"/>
          <p:cNvGrpSpPr/>
          <p:nvPr/>
        </p:nvGrpSpPr>
        <p:grpSpPr>
          <a:xfrm>
            <a:off x="3200400" y="4953000"/>
            <a:ext cx="381000" cy="381000"/>
            <a:chOff x="0" y="0"/>
            <a:chExt cx="381000" cy="381000"/>
          </a:xfrm>
        </p:grpSpPr>
        <p:sp>
          <p:nvSpPr>
            <p:cNvPr id="1205" name="Shape 120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06" name="Shape 1206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3</a:t>
              </a:r>
            </a:p>
          </p:txBody>
        </p:sp>
      </p:grpSp>
      <p:sp>
        <p:nvSpPr>
          <p:cNvPr id="1229" name="Shape 1229"/>
          <p:cNvSpPr/>
          <p:nvPr/>
        </p:nvSpPr>
        <p:spPr>
          <a:xfrm>
            <a:off x="3550912" y="4722108"/>
            <a:ext cx="441976" cy="309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11" name="Group 1211"/>
          <p:cNvGrpSpPr/>
          <p:nvPr/>
        </p:nvGrpSpPr>
        <p:grpSpPr>
          <a:xfrm>
            <a:off x="2667000" y="5410200"/>
            <a:ext cx="381000" cy="381000"/>
            <a:chOff x="0" y="0"/>
            <a:chExt cx="381000" cy="381000"/>
          </a:xfrm>
        </p:grpSpPr>
        <p:sp>
          <p:nvSpPr>
            <p:cNvPr id="1209" name="Shape 120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10" name="Shape 1210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1</a:t>
              </a:r>
            </a:p>
          </p:txBody>
        </p:sp>
      </p:grpSp>
      <p:sp>
        <p:nvSpPr>
          <p:cNvPr id="1230" name="Shape 1230"/>
          <p:cNvSpPr/>
          <p:nvPr/>
        </p:nvSpPr>
        <p:spPr>
          <a:xfrm>
            <a:off x="3005799" y="5270613"/>
            <a:ext cx="236802" cy="202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15" name="Group 1215"/>
          <p:cNvGrpSpPr/>
          <p:nvPr/>
        </p:nvGrpSpPr>
        <p:grpSpPr>
          <a:xfrm>
            <a:off x="4800600" y="4953000"/>
            <a:ext cx="381000" cy="381000"/>
            <a:chOff x="0" y="0"/>
            <a:chExt cx="381000" cy="381000"/>
          </a:xfrm>
        </p:grpSpPr>
        <p:sp>
          <p:nvSpPr>
            <p:cNvPr id="1213" name="Shape 1213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14" name="Shape 1214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20</a:t>
              </a:r>
            </a:p>
          </p:txBody>
        </p:sp>
      </p:grpSp>
      <p:sp>
        <p:nvSpPr>
          <p:cNvPr id="1231" name="Shape 1231"/>
          <p:cNvSpPr/>
          <p:nvPr/>
        </p:nvSpPr>
        <p:spPr>
          <a:xfrm>
            <a:off x="4317681" y="4714960"/>
            <a:ext cx="496413" cy="315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19" name="Group 1219"/>
          <p:cNvGrpSpPr/>
          <p:nvPr/>
        </p:nvGrpSpPr>
        <p:grpSpPr>
          <a:xfrm>
            <a:off x="4267200" y="5410200"/>
            <a:ext cx="381000" cy="381000"/>
            <a:chOff x="0" y="0"/>
            <a:chExt cx="381000" cy="381000"/>
          </a:xfrm>
        </p:grpSpPr>
        <p:sp>
          <p:nvSpPr>
            <p:cNvPr id="1217" name="Shape 1217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18" name="Shape 1218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10</a:t>
              </a:r>
            </a:p>
          </p:txBody>
        </p:sp>
      </p:grpSp>
      <p:sp>
        <p:nvSpPr>
          <p:cNvPr id="1232" name="Shape 1232"/>
          <p:cNvSpPr/>
          <p:nvPr/>
        </p:nvSpPr>
        <p:spPr>
          <a:xfrm>
            <a:off x="4634309" y="5295219"/>
            <a:ext cx="179785" cy="15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23" name="Group 1223"/>
          <p:cNvGrpSpPr/>
          <p:nvPr/>
        </p:nvGrpSpPr>
        <p:grpSpPr>
          <a:xfrm>
            <a:off x="3733800" y="5410200"/>
            <a:ext cx="381000" cy="381000"/>
            <a:chOff x="0" y="0"/>
            <a:chExt cx="381000" cy="381000"/>
          </a:xfrm>
        </p:grpSpPr>
        <p:sp>
          <p:nvSpPr>
            <p:cNvPr id="1221" name="Shape 1221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22" name="Shape 1222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5</a:t>
              </a:r>
            </a:p>
          </p:txBody>
        </p:sp>
      </p:grpSp>
      <p:sp>
        <p:nvSpPr>
          <p:cNvPr id="1233" name="Shape 1233"/>
          <p:cNvSpPr/>
          <p:nvPr/>
        </p:nvSpPr>
        <p:spPr>
          <a:xfrm>
            <a:off x="3539199" y="5270613"/>
            <a:ext cx="236802" cy="202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27" name="Group 1227"/>
          <p:cNvGrpSpPr/>
          <p:nvPr/>
        </p:nvGrpSpPr>
        <p:grpSpPr>
          <a:xfrm>
            <a:off x="3352800" y="5943600"/>
            <a:ext cx="381000" cy="381000"/>
            <a:chOff x="0" y="0"/>
            <a:chExt cx="381000" cy="381000"/>
          </a:xfrm>
        </p:grpSpPr>
        <p:sp>
          <p:nvSpPr>
            <p:cNvPr id="1225" name="Shape 122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26" name="Shape 1226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4</a:t>
              </a:r>
            </a:p>
          </p:txBody>
        </p:sp>
      </p:grpSp>
      <p:sp>
        <p:nvSpPr>
          <p:cNvPr id="1234" name="Shape 1234"/>
          <p:cNvSpPr/>
          <p:nvPr/>
        </p:nvSpPr>
        <p:spPr>
          <a:xfrm>
            <a:off x="3657996" y="5760720"/>
            <a:ext cx="152004" cy="212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1" grpId="0" build="p" animBg="1" advAuto="0"/>
      <p:bldP spid="1204" grpId="0" animBg="1" advAuto="0"/>
      <p:bldP spid="1207" grpId="0" animBg="1" advAuto="0"/>
      <p:bldP spid="1229" grpId="0" animBg="1" advAuto="0"/>
      <p:bldP spid="1211" grpId="0" animBg="1" advAuto="0"/>
      <p:bldP spid="1230" grpId="0" animBg="1" advAuto="0"/>
      <p:bldP spid="1215" grpId="0" animBg="1" advAuto="0"/>
      <p:bldP spid="1231" grpId="0" animBg="1" advAuto="0"/>
      <p:bldP spid="1219" grpId="0" animBg="1" advAuto="0"/>
      <p:bldP spid="1232" grpId="0" animBg="1" advAuto="0"/>
      <p:bldP spid="1223" grpId="0" animBg="1" advAuto="0"/>
      <p:bldP spid="1233" grpId="0" animBg="1" advAuto="0"/>
      <p:bldP spid="1227" grpId="0" animBg="1" advAuto="0"/>
      <p:bldP spid="1234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Shape 1236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EJERCICIO EN CLASE</a:t>
            </a:r>
          </a:p>
        </p:txBody>
      </p:sp>
      <p:sp>
        <p:nvSpPr>
          <p:cNvPr id="1237" name="Shape 1237"/>
          <p:cNvSpPr>
            <a:spLocks noGrp="1"/>
          </p:cNvSpPr>
          <p:nvPr>
            <p:ph type="body" idx="4294967295"/>
          </p:nvPr>
        </p:nvSpPr>
        <p:spPr>
          <a:xfrm>
            <a:off x="457200" y="1798637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2pPr marL="742950" indent="-285750">
              <a:spcBef>
                <a:spcPts val="600"/>
              </a:spcBef>
              <a:buClr>
                <a:srgbClr val="0066FF"/>
              </a:buClr>
              <a:defRPr sz="2800"/>
            </a:lvl2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Construya el arbol para almacenar: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12, 8, 7, 16, 11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7" grpId="0" build="p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Shape 1239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BUSQUEDA DE UN NODO</a:t>
            </a:r>
          </a:p>
        </p:txBody>
      </p:sp>
      <p:sp>
        <p:nvSpPr>
          <p:cNvPr id="1240" name="Shape 1240"/>
          <p:cNvSpPr>
            <a:spLocks noGrp="1"/>
          </p:cNvSpPr>
          <p:nvPr>
            <p:ph type="body" idx="4294967295"/>
          </p:nvPr>
        </p:nvSpPr>
        <p:spPr>
          <a:xfrm>
            <a:off x="457200" y="1844675"/>
            <a:ext cx="7354888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Dada una clave, devolver el nodo que la contiene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Se comienza en la raiz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Si el arbol esta vacio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No se encontro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Si clave buscada es igual a la clave del nodo evaluado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BINGO, LO ENCONTRE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Si no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Si la clave buscada es mayor a la del nodo evaluado</a:t>
            </a:r>
          </a:p>
          <a:p>
            <a:pPr marL="1539239" lvl="3" indent="-205739">
              <a:spcBef>
                <a:spcPts val="400"/>
              </a:spcBef>
              <a:buClr>
                <a:srgbClr val="00CCFF"/>
              </a:buClr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Buscar en el subarbol derecho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Si no</a:t>
            </a:r>
          </a:p>
          <a:p>
            <a:pPr marL="1539239" lvl="3" indent="-205739">
              <a:spcBef>
                <a:spcPts val="400"/>
              </a:spcBef>
              <a:buClr>
                <a:srgbClr val="00CCFF"/>
              </a:buClr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Buscar en el subarbol izquierdo</a:t>
            </a:r>
          </a:p>
        </p:txBody>
      </p:sp>
      <p:grpSp>
        <p:nvGrpSpPr>
          <p:cNvPr id="1268" name="Group 1268"/>
          <p:cNvGrpSpPr/>
          <p:nvPr/>
        </p:nvGrpSpPr>
        <p:grpSpPr>
          <a:xfrm>
            <a:off x="5943600" y="4343400"/>
            <a:ext cx="2514600" cy="1905000"/>
            <a:chOff x="0" y="0"/>
            <a:chExt cx="2514600" cy="1905000"/>
          </a:xfrm>
        </p:grpSpPr>
        <p:grpSp>
          <p:nvGrpSpPr>
            <p:cNvPr id="1243" name="Group 1243"/>
            <p:cNvGrpSpPr/>
            <p:nvPr/>
          </p:nvGrpSpPr>
          <p:grpSpPr>
            <a:xfrm>
              <a:off x="1295400" y="0"/>
              <a:ext cx="381000" cy="381000"/>
              <a:chOff x="0" y="0"/>
              <a:chExt cx="381000" cy="381000"/>
            </a:xfrm>
          </p:grpSpPr>
          <p:sp>
            <p:nvSpPr>
              <p:cNvPr id="1241" name="Shape 1241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42" name="Shape 1242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8</a:t>
                </a:r>
              </a:p>
            </p:txBody>
          </p:sp>
        </p:grpSp>
        <p:grpSp>
          <p:nvGrpSpPr>
            <p:cNvPr id="1246" name="Group 1246"/>
            <p:cNvGrpSpPr/>
            <p:nvPr/>
          </p:nvGrpSpPr>
          <p:grpSpPr>
            <a:xfrm>
              <a:off x="533400" y="533400"/>
              <a:ext cx="381000" cy="381000"/>
              <a:chOff x="0" y="0"/>
              <a:chExt cx="381000" cy="381000"/>
            </a:xfrm>
          </p:grpSpPr>
          <p:sp>
            <p:nvSpPr>
              <p:cNvPr id="1244" name="Shape 124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45" name="Shape 1245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sp>
          <p:nvSpPr>
            <p:cNvPr id="1247" name="Shape 1247"/>
            <p:cNvSpPr/>
            <p:nvPr/>
          </p:nvSpPr>
          <p:spPr>
            <a:xfrm flipH="1">
              <a:off x="858837" y="325437"/>
              <a:ext cx="4921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50" name="Group 1250"/>
            <p:cNvGrpSpPr/>
            <p:nvPr/>
          </p:nvGrpSpPr>
          <p:grpSpPr>
            <a:xfrm>
              <a:off x="0" y="990600"/>
              <a:ext cx="381000" cy="381000"/>
              <a:chOff x="0" y="0"/>
              <a:chExt cx="381000" cy="381000"/>
            </a:xfrm>
          </p:grpSpPr>
          <p:sp>
            <p:nvSpPr>
              <p:cNvPr id="1248" name="Shape 124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49" name="Shape 1249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sp>
          <p:nvSpPr>
            <p:cNvPr id="1251" name="Shape 1251"/>
            <p:cNvSpPr/>
            <p:nvPr/>
          </p:nvSpPr>
          <p:spPr>
            <a:xfrm flipH="1">
              <a:off x="3254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54" name="Group 1254"/>
            <p:cNvGrpSpPr/>
            <p:nvPr/>
          </p:nvGrpSpPr>
          <p:grpSpPr>
            <a:xfrm>
              <a:off x="2133600" y="533400"/>
              <a:ext cx="381000" cy="381000"/>
              <a:chOff x="0" y="0"/>
              <a:chExt cx="381000" cy="381000"/>
            </a:xfrm>
          </p:grpSpPr>
          <p:sp>
            <p:nvSpPr>
              <p:cNvPr id="1252" name="Shape 125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53" name="Shape 1253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20</a:t>
                </a:r>
              </a:p>
            </p:txBody>
          </p:sp>
        </p:grpSp>
        <p:sp>
          <p:nvSpPr>
            <p:cNvPr id="1255" name="Shape 1255"/>
            <p:cNvSpPr/>
            <p:nvPr/>
          </p:nvSpPr>
          <p:spPr>
            <a:xfrm>
              <a:off x="1620837" y="325437"/>
              <a:ext cx="5683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58" name="Group 1258"/>
            <p:cNvGrpSpPr/>
            <p:nvPr/>
          </p:nvGrpSpPr>
          <p:grpSpPr>
            <a:xfrm>
              <a:off x="1600200" y="990600"/>
              <a:ext cx="381000" cy="381000"/>
              <a:chOff x="0" y="0"/>
              <a:chExt cx="381000" cy="381000"/>
            </a:xfrm>
          </p:grpSpPr>
          <p:sp>
            <p:nvSpPr>
              <p:cNvPr id="1256" name="Shape 125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57" name="Shape 1257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10</a:t>
                </a:r>
              </a:p>
            </p:txBody>
          </p:sp>
        </p:grpSp>
        <p:sp>
          <p:nvSpPr>
            <p:cNvPr id="1259" name="Shape 1259"/>
            <p:cNvSpPr/>
            <p:nvPr/>
          </p:nvSpPr>
          <p:spPr>
            <a:xfrm flipH="1">
              <a:off x="19256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62" name="Group 1262"/>
            <p:cNvGrpSpPr/>
            <p:nvPr/>
          </p:nvGrpSpPr>
          <p:grpSpPr>
            <a:xfrm>
              <a:off x="1066800" y="990600"/>
              <a:ext cx="381000" cy="381000"/>
              <a:chOff x="0" y="0"/>
              <a:chExt cx="381000" cy="381000"/>
            </a:xfrm>
          </p:grpSpPr>
          <p:sp>
            <p:nvSpPr>
              <p:cNvPr id="1260" name="Shape 126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61" name="Shape 1261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5</a:t>
                </a:r>
              </a:p>
            </p:txBody>
          </p:sp>
        </p:grpSp>
        <p:sp>
          <p:nvSpPr>
            <p:cNvPr id="1263" name="Shape 1263"/>
            <p:cNvSpPr/>
            <p:nvPr/>
          </p:nvSpPr>
          <p:spPr>
            <a:xfrm>
              <a:off x="8588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66" name="Group 1266"/>
            <p:cNvGrpSpPr/>
            <p:nvPr/>
          </p:nvGrpSpPr>
          <p:grpSpPr>
            <a:xfrm>
              <a:off x="685800" y="1524000"/>
              <a:ext cx="381000" cy="381000"/>
              <a:chOff x="0" y="0"/>
              <a:chExt cx="381000" cy="381000"/>
            </a:xfrm>
          </p:grpSpPr>
          <p:sp>
            <p:nvSpPr>
              <p:cNvPr id="1264" name="Shape 126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65" name="Shape 1265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  <p:sp>
          <p:nvSpPr>
            <p:cNvPr id="1267" name="Shape 1267"/>
            <p:cNvSpPr/>
            <p:nvPr/>
          </p:nvSpPr>
          <p:spPr>
            <a:xfrm flipH="1">
              <a:off x="876299" y="1316037"/>
              <a:ext cx="246064" cy="2079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269" name="Shape 1269"/>
          <p:cNvSpPr/>
          <p:nvPr/>
        </p:nvSpPr>
        <p:spPr>
          <a:xfrm>
            <a:off x="7467600" y="3886200"/>
            <a:ext cx="0" cy="3810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70" name="Shape 1270"/>
          <p:cNvSpPr/>
          <p:nvPr/>
        </p:nvSpPr>
        <p:spPr>
          <a:xfrm>
            <a:off x="6650037" y="3200400"/>
            <a:ext cx="1731242" cy="3708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b="1"/>
              <a:t>Buscar(raiz,5)</a:t>
            </a:r>
          </a:p>
        </p:txBody>
      </p:sp>
      <p:sp>
        <p:nvSpPr>
          <p:cNvPr id="1271" name="Shape 1271"/>
          <p:cNvSpPr/>
          <p:nvPr/>
        </p:nvSpPr>
        <p:spPr>
          <a:xfrm>
            <a:off x="7010400" y="3581400"/>
            <a:ext cx="7620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72" name="Shape 1272"/>
          <p:cNvSpPr/>
          <p:nvPr/>
        </p:nvSpPr>
        <p:spPr>
          <a:xfrm>
            <a:off x="6629400" y="4481512"/>
            <a:ext cx="0" cy="3810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73" name="Shape 1273"/>
          <p:cNvSpPr/>
          <p:nvPr/>
        </p:nvSpPr>
        <p:spPr>
          <a:xfrm>
            <a:off x="6305550" y="4175125"/>
            <a:ext cx="609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74" name="Shape 1274"/>
          <p:cNvSpPr/>
          <p:nvPr/>
        </p:nvSpPr>
        <p:spPr>
          <a:xfrm>
            <a:off x="7239000" y="4953000"/>
            <a:ext cx="0" cy="3810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1277" name="Group 1277"/>
          <p:cNvGrpSpPr/>
          <p:nvPr/>
        </p:nvGrpSpPr>
        <p:grpSpPr>
          <a:xfrm>
            <a:off x="7010400" y="5334000"/>
            <a:ext cx="381000" cy="381000"/>
            <a:chOff x="0" y="0"/>
            <a:chExt cx="381000" cy="381000"/>
          </a:xfrm>
        </p:grpSpPr>
        <p:sp>
          <p:nvSpPr>
            <p:cNvPr id="1275" name="Shape 127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76" name="Shape 1276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5</a:t>
              </a:r>
            </a:p>
          </p:txBody>
        </p:sp>
      </p:grpSp>
      <p:sp>
        <p:nvSpPr>
          <p:cNvPr id="1278" name="Shape 1278"/>
          <p:cNvSpPr/>
          <p:nvPr/>
        </p:nvSpPr>
        <p:spPr>
          <a:xfrm>
            <a:off x="7010400" y="4937125"/>
            <a:ext cx="4572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281" name="Group 1281"/>
          <p:cNvGrpSpPr/>
          <p:nvPr/>
        </p:nvGrpSpPr>
        <p:grpSpPr>
          <a:xfrm>
            <a:off x="7010400" y="5334000"/>
            <a:ext cx="381000" cy="381000"/>
            <a:chOff x="0" y="0"/>
            <a:chExt cx="381000" cy="381000"/>
          </a:xfrm>
        </p:grpSpPr>
        <p:sp>
          <p:nvSpPr>
            <p:cNvPr id="1279" name="Shape 127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80" name="Shape 1280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5</a:t>
              </a:r>
            </a:p>
          </p:txBody>
        </p:sp>
      </p:grpSp>
      <p:sp>
        <p:nvSpPr>
          <p:cNvPr id="1282" name="Shape 1282"/>
          <p:cNvSpPr/>
          <p:nvPr/>
        </p:nvSpPr>
        <p:spPr>
          <a:xfrm>
            <a:off x="6629400" y="3200400"/>
            <a:ext cx="1876795" cy="3708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b="1"/>
              <a:t>Buscar(raiz,25)</a:t>
            </a:r>
          </a:p>
        </p:txBody>
      </p:sp>
      <p:sp>
        <p:nvSpPr>
          <p:cNvPr id="1283" name="Shape 1283"/>
          <p:cNvSpPr/>
          <p:nvPr/>
        </p:nvSpPr>
        <p:spPr>
          <a:xfrm>
            <a:off x="7467600" y="3962400"/>
            <a:ext cx="0" cy="3810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84" name="Shape 1284"/>
          <p:cNvSpPr/>
          <p:nvPr/>
        </p:nvSpPr>
        <p:spPr>
          <a:xfrm>
            <a:off x="7086600" y="3644900"/>
            <a:ext cx="7620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85" name="Shape 1285"/>
          <p:cNvSpPr/>
          <p:nvPr/>
        </p:nvSpPr>
        <p:spPr>
          <a:xfrm>
            <a:off x="8305800" y="4419600"/>
            <a:ext cx="0" cy="4572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86" name="Shape 1286"/>
          <p:cNvSpPr/>
          <p:nvPr/>
        </p:nvSpPr>
        <p:spPr>
          <a:xfrm>
            <a:off x="8077200" y="4162425"/>
            <a:ext cx="609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292" name="Group 1292"/>
          <p:cNvGrpSpPr/>
          <p:nvPr/>
        </p:nvGrpSpPr>
        <p:grpSpPr>
          <a:xfrm>
            <a:off x="8458200" y="5334000"/>
            <a:ext cx="381000" cy="400050"/>
            <a:chOff x="0" y="0"/>
            <a:chExt cx="381000" cy="400050"/>
          </a:xfrm>
        </p:grpSpPr>
        <p:sp>
          <p:nvSpPr>
            <p:cNvPr id="1287" name="Shape 1287"/>
            <p:cNvSpPr/>
            <p:nvPr/>
          </p:nvSpPr>
          <p:spPr>
            <a:xfrm flipH="1">
              <a:off x="188912" y="0"/>
              <a:ext cx="1" cy="304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88" name="Shape 1288"/>
            <p:cNvSpPr/>
            <p:nvPr/>
          </p:nvSpPr>
          <p:spPr>
            <a:xfrm>
              <a:off x="0" y="304800"/>
              <a:ext cx="3810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89" name="Shape 1289"/>
            <p:cNvSpPr/>
            <p:nvPr/>
          </p:nvSpPr>
          <p:spPr>
            <a:xfrm>
              <a:off x="79375" y="333375"/>
              <a:ext cx="2286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90" name="Shape 1290"/>
            <p:cNvSpPr/>
            <p:nvPr/>
          </p:nvSpPr>
          <p:spPr>
            <a:xfrm>
              <a:off x="117475" y="371475"/>
              <a:ext cx="1524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91" name="Shape 1291"/>
            <p:cNvSpPr/>
            <p:nvPr/>
          </p:nvSpPr>
          <p:spPr>
            <a:xfrm>
              <a:off x="160337" y="400050"/>
              <a:ext cx="762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296" name="Shape 1296"/>
          <p:cNvSpPr/>
          <p:nvPr/>
        </p:nvSpPr>
        <p:spPr>
          <a:xfrm>
            <a:off x="8361362" y="5163186"/>
            <a:ext cx="287337" cy="3708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294" name="Shape 1294"/>
          <p:cNvSpPr/>
          <p:nvPr/>
        </p:nvSpPr>
        <p:spPr>
          <a:xfrm flipH="1">
            <a:off x="8686800" y="4495799"/>
            <a:ext cx="76201" cy="685802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95" name="Shape 1295"/>
          <p:cNvSpPr/>
          <p:nvPr/>
        </p:nvSpPr>
        <p:spPr>
          <a:xfrm>
            <a:off x="8077200" y="5867400"/>
            <a:ext cx="93321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9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600"/>
              <a:t>No existe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2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2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0" dur="5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3"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0" grpId="0" build="p" bldLvl="5" animBg="1" advAuto="0"/>
      <p:bldP spid="1268" grpId="0" animBg="1" advAuto="0"/>
      <p:bldP spid="1269" grpId="0" animBg="1" advAuto="0"/>
      <p:bldP spid="1270" grpId="0" animBg="1" advAuto="0"/>
      <p:bldP spid="1271" grpId="0" animBg="1" advAuto="0"/>
      <p:bldP spid="1272" grpId="0" animBg="1" advAuto="0"/>
      <p:bldP spid="1273" grpId="0" animBg="1" advAuto="0"/>
      <p:bldP spid="1274" grpId="0" animBg="1" advAuto="0"/>
      <p:bldP spid="1277" grpId="0" animBg="1" advAuto="0"/>
      <p:bldP spid="1278" grpId="0" animBg="1" advAuto="0"/>
      <p:bldP spid="1281" grpId="0" animBg="1" advAuto="0"/>
      <p:bldP spid="1282" grpId="0" animBg="1" advAuto="0"/>
      <p:bldP spid="1283" grpId="0" animBg="1" advAuto="0"/>
      <p:bldP spid="1284" grpId="0" animBg="1" advAuto="0"/>
      <p:bldP spid="1285" grpId="0" animBg="1" advAuto="0"/>
      <p:bldP spid="1286" grpId="0" animBg="1" advAuto="0"/>
      <p:bldP spid="1292" grpId="0" animBg="1" advAuto="0"/>
      <p:bldP spid="1296" grpId="0" animBg="1" advAuto="0"/>
      <p:bldP spid="1294" grpId="0" animBg="1" advAuto="0"/>
      <p:bldP spid="1295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Shape 1298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704087">
              <a:defRPr sz="3696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3696" i="1">
                <a:solidFill>
                  <a:srgbClr val="008080"/>
                </a:solidFill>
              </a:rPr>
              <a:t>IMPLEMENTACION DE LA BUSQUEDA</a:t>
            </a:r>
          </a:p>
        </p:txBody>
      </p:sp>
      <p:sp>
        <p:nvSpPr>
          <p:cNvPr id="1299" name="Shape 1299"/>
          <p:cNvSpPr/>
          <p:nvPr/>
        </p:nvSpPr>
        <p:spPr>
          <a:xfrm>
            <a:off x="107949" y="2133600"/>
            <a:ext cx="5772346" cy="4082713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spcBef>
                <a:spcPts val="1200"/>
              </a:spcBef>
            </a:pP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NodoABB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buscar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NodoABB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arbol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s-MX" sz="2000" dirty="0">
                <a:latin typeface="Tahoma"/>
                <a:ea typeface="Tahoma"/>
                <a:cs typeface="Tahoma"/>
                <a:sym typeface="Tahoma"/>
              </a:rPr>
              <a:t>E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 clave){</a:t>
            </a:r>
            <a:endParaRPr sz="2000" dirty="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just">
              <a:spcBef>
                <a:spcPts val="1200"/>
              </a:spcBef>
            </a:pPr>
            <a:r>
              <a:rPr sz="2000" dirty="0">
                <a:latin typeface="Tahoma"/>
                <a:ea typeface="Tahoma"/>
                <a:cs typeface="Tahoma"/>
                <a:sym typeface="Tahoma"/>
              </a:rPr>
              <a:t>	if(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estaVacio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arbol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)) return null;</a:t>
            </a:r>
            <a:endParaRPr sz="2000" dirty="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just">
              <a:spcBef>
                <a:spcPts val="1200"/>
              </a:spcBef>
            </a:pPr>
            <a:r>
              <a:rPr sz="2000" dirty="0">
                <a:latin typeface="Tahoma"/>
                <a:ea typeface="Tahoma"/>
                <a:cs typeface="Tahoma"/>
                <a:sym typeface="Tahoma"/>
              </a:rPr>
              <a:t>	if(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clave.compareTo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s-MX" sz="2000" dirty="0">
                <a:latin typeface="Arial"/>
                <a:ea typeface="Tahoma"/>
                <a:cs typeface="Arial"/>
                <a:sym typeface="Arial"/>
              </a:rPr>
              <a:t>a</a:t>
            </a:r>
            <a:r>
              <a:rPr sz="2000" dirty="0" err="1">
                <a:latin typeface="Arial"/>
                <a:ea typeface="Arial"/>
                <a:cs typeface="Arial"/>
                <a:sym typeface="Arial"/>
              </a:rPr>
              <a:t>rbol.clave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) == 0) </a:t>
            </a:r>
            <a:endParaRPr sz="2000" dirty="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just">
              <a:spcBef>
                <a:spcPts val="1200"/>
              </a:spcBef>
            </a:pPr>
            <a:r>
              <a:rPr sz="2000" dirty="0">
                <a:latin typeface="Tahoma"/>
                <a:ea typeface="Tahoma"/>
                <a:cs typeface="Tahoma"/>
                <a:sym typeface="Tahoma"/>
              </a:rPr>
              <a:t>		return 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arbol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;</a:t>
            </a:r>
            <a:endParaRPr sz="2000" dirty="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just">
              <a:spcBef>
                <a:spcPts val="1200"/>
              </a:spcBef>
            </a:pPr>
            <a:r>
              <a:rPr sz="2000" dirty="0">
                <a:latin typeface="Tahoma"/>
                <a:ea typeface="Tahoma"/>
                <a:cs typeface="Tahoma"/>
                <a:sym typeface="Tahoma"/>
              </a:rPr>
              <a:t>	if(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clave.compareTo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s-MX" sz="2000" dirty="0">
                <a:latin typeface="Arial"/>
                <a:ea typeface="Tahoma"/>
                <a:cs typeface="Arial"/>
                <a:sym typeface="Arial"/>
              </a:rPr>
              <a:t>a</a:t>
            </a:r>
            <a:r>
              <a:rPr sz="2000" dirty="0" err="1">
                <a:latin typeface="Arial"/>
                <a:ea typeface="Arial"/>
                <a:cs typeface="Arial"/>
                <a:sym typeface="Arial"/>
              </a:rPr>
              <a:t>rbol.clave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) &gt; 0)</a:t>
            </a:r>
            <a:endParaRPr sz="2000" dirty="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just">
              <a:spcBef>
                <a:spcPts val="1200"/>
              </a:spcBef>
            </a:pPr>
            <a:r>
              <a:rPr sz="2000" dirty="0">
                <a:latin typeface="Tahoma"/>
                <a:ea typeface="Tahoma"/>
                <a:cs typeface="Tahoma"/>
                <a:sym typeface="Tahoma"/>
              </a:rPr>
              <a:t>		return 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buscar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s-MX" sz="2000" dirty="0"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rbol.der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, clave);</a:t>
            </a:r>
            <a:endParaRPr sz="2000" dirty="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just">
              <a:spcBef>
                <a:spcPts val="1200"/>
              </a:spcBef>
            </a:pPr>
            <a:r>
              <a:rPr sz="2000" dirty="0">
                <a:latin typeface="Tahoma"/>
                <a:ea typeface="Tahoma"/>
                <a:cs typeface="Tahoma"/>
                <a:sym typeface="Tahoma"/>
              </a:rPr>
              <a:t>	else</a:t>
            </a:r>
            <a:endParaRPr sz="2000" dirty="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just">
              <a:spcBef>
                <a:spcPts val="1200"/>
              </a:spcBef>
            </a:pPr>
            <a:r>
              <a:rPr sz="2000" dirty="0">
                <a:latin typeface="Tahoma"/>
                <a:ea typeface="Tahoma"/>
                <a:cs typeface="Tahoma"/>
                <a:sym typeface="Tahoma"/>
              </a:rPr>
              <a:t>		return 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buscar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s-MX" sz="2000" dirty="0"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sz="2000" dirty="0" err="1">
                <a:latin typeface="Tahoma"/>
                <a:ea typeface="Tahoma"/>
                <a:cs typeface="Tahoma"/>
                <a:sym typeface="Tahoma"/>
              </a:rPr>
              <a:t>rbol.izq</a:t>
            </a:r>
            <a:r>
              <a:rPr sz="2000" dirty="0">
                <a:latin typeface="Tahoma"/>
                <a:ea typeface="Tahoma"/>
                <a:cs typeface="Tahoma"/>
                <a:sym typeface="Tahoma"/>
              </a:rPr>
              <a:t>, clave);</a:t>
            </a:r>
            <a:endParaRPr sz="2000" dirty="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just">
              <a:spcBef>
                <a:spcPts val="1200"/>
              </a:spcBef>
            </a:pPr>
            <a:r>
              <a:rPr sz="2000" dirty="0">
                <a:latin typeface="Tahoma"/>
                <a:ea typeface="Tahoma"/>
                <a:cs typeface="Tahoma"/>
                <a:sym typeface="Tahoma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Shape 1301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INSERCION DE UN NODO</a:t>
            </a:r>
          </a:p>
        </p:txBody>
      </p:sp>
      <p:sp>
        <p:nvSpPr>
          <p:cNvPr id="1302" name="Shape 1302"/>
          <p:cNvSpPr>
            <a:spLocks noGrp="1"/>
          </p:cNvSpPr>
          <p:nvPr>
            <p:ph type="body" idx="4294967295"/>
          </p:nvPr>
        </p:nvSpPr>
        <p:spPr>
          <a:xfrm>
            <a:off x="457200" y="1798637"/>
            <a:ext cx="6707188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Muy parecido a la busqueda</a:t>
            </a: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Debo insertar en la posicion correcta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El arbol debe mantener sus propiedades</a:t>
            </a: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Pasos: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Crear una nueva hoja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Buscar en el arbol donde ponerla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Enlazar el nuevo nodo al arbol</a:t>
            </a:r>
          </a:p>
        </p:txBody>
      </p:sp>
      <p:grpSp>
        <p:nvGrpSpPr>
          <p:cNvPr id="1330" name="Group 1330"/>
          <p:cNvGrpSpPr/>
          <p:nvPr/>
        </p:nvGrpSpPr>
        <p:grpSpPr>
          <a:xfrm>
            <a:off x="5580062" y="3262312"/>
            <a:ext cx="2514601" cy="1905001"/>
            <a:chOff x="0" y="0"/>
            <a:chExt cx="2514600" cy="1905000"/>
          </a:xfrm>
        </p:grpSpPr>
        <p:grpSp>
          <p:nvGrpSpPr>
            <p:cNvPr id="1305" name="Group 1305"/>
            <p:cNvGrpSpPr/>
            <p:nvPr/>
          </p:nvGrpSpPr>
          <p:grpSpPr>
            <a:xfrm>
              <a:off x="1295400" y="0"/>
              <a:ext cx="381000" cy="381000"/>
              <a:chOff x="0" y="0"/>
              <a:chExt cx="381000" cy="381000"/>
            </a:xfrm>
          </p:grpSpPr>
          <p:sp>
            <p:nvSpPr>
              <p:cNvPr id="1303" name="Shape 1303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04" name="Shape 1304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8</a:t>
                </a:r>
              </a:p>
            </p:txBody>
          </p:sp>
        </p:grpSp>
        <p:grpSp>
          <p:nvGrpSpPr>
            <p:cNvPr id="1308" name="Group 1308"/>
            <p:cNvGrpSpPr/>
            <p:nvPr/>
          </p:nvGrpSpPr>
          <p:grpSpPr>
            <a:xfrm>
              <a:off x="533400" y="533400"/>
              <a:ext cx="381000" cy="381000"/>
              <a:chOff x="0" y="0"/>
              <a:chExt cx="381000" cy="381000"/>
            </a:xfrm>
          </p:grpSpPr>
          <p:sp>
            <p:nvSpPr>
              <p:cNvPr id="1306" name="Shape 130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07" name="Shape 1307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sp>
          <p:nvSpPr>
            <p:cNvPr id="1309" name="Shape 1309"/>
            <p:cNvSpPr/>
            <p:nvPr/>
          </p:nvSpPr>
          <p:spPr>
            <a:xfrm flipH="1">
              <a:off x="858837" y="325437"/>
              <a:ext cx="4921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12" name="Group 1312"/>
            <p:cNvGrpSpPr/>
            <p:nvPr/>
          </p:nvGrpSpPr>
          <p:grpSpPr>
            <a:xfrm>
              <a:off x="0" y="990600"/>
              <a:ext cx="381000" cy="381000"/>
              <a:chOff x="0" y="0"/>
              <a:chExt cx="381000" cy="381000"/>
            </a:xfrm>
          </p:grpSpPr>
          <p:sp>
            <p:nvSpPr>
              <p:cNvPr id="1310" name="Shape 131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11" name="Shape 1311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sp>
          <p:nvSpPr>
            <p:cNvPr id="1313" name="Shape 1313"/>
            <p:cNvSpPr/>
            <p:nvPr/>
          </p:nvSpPr>
          <p:spPr>
            <a:xfrm flipH="1">
              <a:off x="3254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16" name="Group 1316"/>
            <p:cNvGrpSpPr/>
            <p:nvPr/>
          </p:nvGrpSpPr>
          <p:grpSpPr>
            <a:xfrm>
              <a:off x="2133600" y="533400"/>
              <a:ext cx="381000" cy="381000"/>
              <a:chOff x="0" y="0"/>
              <a:chExt cx="381000" cy="381000"/>
            </a:xfrm>
          </p:grpSpPr>
          <p:sp>
            <p:nvSpPr>
              <p:cNvPr id="1314" name="Shape 131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15" name="Shape 1315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20</a:t>
                </a:r>
              </a:p>
            </p:txBody>
          </p:sp>
        </p:grpSp>
        <p:sp>
          <p:nvSpPr>
            <p:cNvPr id="1317" name="Shape 1317"/>
            <p:cNvSpPr/>
            <p:nvPr/>
          </p:nvSpPr>
          <p:spPr>
            <a:xfrm>
              <a:off x="1620837" y="325437"/>
              <a:ext cx="5683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20" name="Group 1320"/>
            <p:cNvGrpSpPr/>
            <p:nvPr/>
          </p:nvGrpSpPr>
          <p:grpSpPr>
            <a:xfrm>
              <a:off x="1600200" y="990600"/>
              <a:ext cx="381000" cy="381000"/>
              <a:chOff x="0" y="0"/>
              <a:chExt cx="381000" cy="381000"/>
            </a:xfrm>
          </p:grpSpPr>
          <p:sp>
            <p:nvSpPr>
              <p:cNvPr id="1318" name="Shape 131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19" name="Shape 1319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10</a:t>
                </a:r>
              </a:p>
            </p:txBody>
          </p:sp>
        </p:grpSp>
        <p:sp>
          <p:nvSpPr>
            <p:cNvPr id="1321" name="Shape 1321"/>
            <p:cNvSpPr/>
            <p:nvPr/>
          </p:nvSpPr>
          <p:spPr>
            <a:xfrm flipH="1">
              <a:off x="19256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24" name="Group 1324"/>
            <p:cNvGrpSpPr/>
            <p:nvPr/>
          </p:nvGrpSpPr>
          <p:grpSpPr>
            <a:xfrm>
              <a:off x="1066800" y="990600"/>
              <a:ext cx="381000" cy="381000"/>
              <a:chOff x="0" y="0"/>
              <a:chExt cx="381000" cy="381000"/>
            </a:xfrm>
          </p:grpSpPr>
          <p:sp>
            <p:nvSpPr>
              <p:cNvPr id="1322" name="Shape 132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23" name="Shape 1323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5</a:t>
                </a:r>
              </a:p>
            </p:txBody>
          </p:sp>
        </p:grpSp>
        <p:sp>
          <p:nvSpPr>
            <p:cNvPr id="1325" name="Shape 1325"/>
            <p:cNvSpPr/>
            <p:nvPr/>
          </p:nvSpPr>
          <p:spPr>
            <a:xfrm>
              <a:off x="8588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28" name="Group 1328"/>
            <p:cNvGrpSpPr/>
            <p:nvPr/>
          </p:nvGrpSpPr>
          <p:grpSpPr>
            <a:xfrm>
              <a:off x="685800" y="1524000"/>
              <a:ext cx="381000" cy="381000"/>
              <a:chOff x="0" y="0"/>
              <a:chExt cx="381000" cy="381000"/>
            </a:xfrm>
          </p:grpSpPr>
          <p:sp>
            <p:nvSpPr>
              <p:cNvPr id="1326" name="Shape 132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27" name="Shape 1327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  <p:sp>
          <p:nvSpPr>
            <p:cNvPr id="1329" name="Shape 1329"/>
            <p:cNvSpPr/>
            <p:nvPr/>
          </p:nvSpPr>
          <p:spPr>
            <a:xfrm flipH="1">
              <a:off x="876299" y="1316037"/>
              <a:ext cx="246064" cy="2079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331" name="Shape 1331"/>
          <p:cNvSpPr/>
          <p:nvPr/>
        </p:nvSpPr>
        <p:spPr>
          <a:xfrm>
            <a:off x="6108700" y="2133600"/>
            <a:ext cx="1754942" cy="38036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Insertar(raiz,15)</a:t>
            </a:r>
          </a:p>
        </p:txBody>
      </p:sp>
      <p:sp>
        <p:nvSpPr>
          <p:cNvPr id="1332" name="Shape 1332"/>
          <p:cNvSpPr/>
          <p:nvPr/>
        </p:nvSpPr>
        <p:spPr>
          <a:xfrm>
            <a:off x="7027862" y="2805112"/>
            <a:ext cx="1" cy="4572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333" name="Shape 1333"/>
          <p:cNvSpPr/>
          <p:nvPr/>
        </p:nvSpPr>
        <p:spPr>
          <a:xfrm>
            <a:off x="7027862" y="2576512"/>
            <a:ext cx="1219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400"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 b="0"/>
            </a:pPr>
            <a:r>
              <a:rPr sz="1400" b="1"/>
              <a:t>15&gt;8…der</a:t>
            </a:r>
          </a:p>
        </p:txBody>
      </p:sp>
      <p:sp>
        <p:nvSpPr>
          <p:cNvPr id="1334" name="Shape 1334"/>
          <p:cNvSpPr/>
          <p:nvPr/>
        </p:nvSpPr>
        <p:spPr>
          <a:xfrm>
            <a:off x="7942262" y="3338512"/>
            <a:ext cx="1" cy="4572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335" name="Shape 1335"/>
          <p:cNvSpPr/>
          <p:nvPr/>
        </p:nvSpPr>
        <p:spPr>
          <a:xfrm>
            <a:off x="7208837" y="3109912"/>
            <a:ext cx="1219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400"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 b="0"/>
            </a:pPr>
            <a:r>
              <a:rPr sz="1400" b="1"/>
              <a:t>15&lt;20…izq</a:t>
            </a:r>
          </a:p>
        </p:txBody>
      </p:sp>
      <p:sp>
        <p:nvSpPr>
          <p:cNvPr id="1336" name="Shape 1336"/>
          <p:cNvSpPr/>
          <p:nvPr/>
        </p:nvSpPr>
        <p:spPr>
          <a:xfrm>
            <a:off x="7383462" y="3795712"/>
            <a:ext cx="1" cy="4572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337" name="Shape 1337"/>
          <p:cNvSpPr/>
          <p:nvPr/>
        </p:nvSpPr>
        <p:spPr>
          <a:xfrm>
            <a:off x="6570662" y="3719512"/>
            <a:ext cx="9144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400"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 b="0"/>
            </a:pPr>
            <a:r>
              <a:rPr sz="1400" b="1"/>
              <a:t>15&gt;10…der</a:t>
            </a:r>
          </a:p>
        </p:txBody>
      </p:sp>
      <p:grpSp>
        <p:nvGrpSpPr>
          <p:cNvPr id="1343" name="Group 1343"/>
          <p:cNvGrpSpPr/>
          <p:nvPr/>
        </p:nvGrpSpPr>
        <p:grpSpPr>
          <a:xfrm>
            <a:off x="7485062" y="4786312"/>
            <a:ext cx="381001" cy="400051"/>
            <a:chOff x="0" y="0"/>
            <a:chExt cx="381000" cy="400050"/>
          </a:xfrm>
        </p:grpSpPr>
        <p:sp>
          <p:nvSpPr>
            <p:cNvPr id="1338" name="Shape 1338"/>
            <p:cNvSpPr/>
            <p:nvPr/>
          </p:nvSpPr>
          <p:spPr>
            <a:xfrm flipH="1">
              <a:off x="188912" y="0"/>
              <a:ext cx="1" cy="304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39" name="Shape 1339"/>
            <p:cNvSpPr/>
            <p:nvPr/>
          </p:nvSpPr>
          <p:spPr>
            <a:xfrm>
              <a:off x="0" y="304800"/>
              <a:ext cx="3810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40" name="Shape 1340"/>
            <p:cNvSpPr/>
            <p:nvPr/>
          </p:nvSpPr>
          <p:spPr>
            <a:xfrm>
              <a:off x="79375" y="333375"/>
              <a:ext cx="2286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41" name="Shape 1341"/>
            <p:cNvSpPr/>
            <p:nvPr/>
          </p:nvSpPr>
          <p:spPr>
            <a:xfrm>
              <a:off x="117475" y="371475"/>
              <a:ext cx="1524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42" name="Shape 1342"/>
            <p:cNvSpPr/>
            <p:nvPr/>
          </p:nvSpPr>
          <p:spPr>
            <a:xfrm>
              <a:off x="160337" y="400050"/>
              <a:ext cx="762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359" name="Shape 1359"/>
          <p:cNvSpPr/>
          <p:nvPr/>
        </p:nvSpPr>
        <p:spPr>
          <a:xfrm>
            <a:off x="6837362" y="4214812"/>
            <a:ext cx="838201" cy="7715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345" name="Shape 1345"/>
          <p:cNvSpPr/>
          <p:nvPr/>
        </p:nvSpPr>
        <p:spPr>
          <a:xfrm flipH="1">
            <a:off x="7637462" y="4329112"/>
            <a:ext cx="304801" cy="3048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346" name="Shape 1346"/>
          <p:cNvSpPr/>
          <p:nvPr/>
        </p:nvSpPr>
        <p:spPr>
          <a:xfrm>
            <a:off x="7789862" y="4329112"/>
            <a:ext cx="9906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400"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 b="0"/>
            </a:pPr>
            <a:r>
              <a:rPr sz="1400" b="1"/>
              <a:t>Insertar aqui</a:t>
            </a:r>
          </a:p>
        </p:txBody>
      </p:sp>
      <p:grpSp>
        <p:nvGrpSpPr>
          <p:cNvPr id="1349" name="Group 1349"/>
          <p:cNvGrpSpPr/>
          <p:nvPr/>
        </p:nvGrpSpPr>
        <p:grpSpPr>
          <a:xfrm>
            <a:off x="8094662" y="5091112"/>
            <a:ext cx="381001" cy="381001"/>
            <a:chOff x="0" y="0"/>
            <a:chExt cx="381000" cy="381000"/>
          </a:xfrm>
        </p:grpSpPr>
        <p:sp>
          <p:nvSpPr>
            <p:cNvPr id="1347" name="Shape 1347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348" name="Shape 1348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15</a:t>
              </a:r>
            </a:p>
          </p:txBody>
        </p:sp>
      </p:grpSp>
      <p:grpSp>
        <p:nvGrpSpPr>
          <p:cNvPr id="1357" name="Group 1357"/>
          <p:cNvGrpSpPr/>
          <p:nvPr/>
        </p:nvGrpSpPr>
        <p:grpSpPr>
          <a:xfrm>
            <a:off x="7485062" y="4578349"/>
            <a:ext cx="381001" cy="608014"/>
            <a:chOff x="0" y="0"/>
            <a:chExt cx="381000" cy="608012"/>
          </a:xfrm>
        </p:grpSpPr>
        <p:grpSp>
          <p:nvGrpSpPr>
            <p:cNvPr id="1355" name="Group 1355"/>
            <p:cNvGrpSpPr/>
            <p:nvPr/>
          </p:nvGrpSpPr>
          <p:grpSpPr>
            <a:xfrm>
              <a:off x="0" y="207962"/>
              <a:ext cx="381000" cy="400051"/>
              <a:chOff x="0" y="0"/>
              <a:chExt cx="381000" cy="400050"/>
            </a:xfrm>
          </p:grpSpPr>
          <p:sp>
            <p:nvSpPr>
              <p:cNvPr id="1350" name="Shape 1350"/>
              <p:cNvSpPr/>
              <p:nvPr/>
            </p:nvSpPr>
            <p:spPr>
              <a:xfrm flipH="1">
                <a:off x="188912" y="0"/>
                <a:ext cx="1" cy="30480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351" name="Shape 1351"/>
              <p:cNvSpPr/>
              <p:nvPr/>
            </p:nvSpPr>
            <p:spPr>
              <a:xfrm>
                <a:off x="0" y="304800"/>
                <a:ext cx="381000" cy="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352" name="Shape 1352"/>
              <p:cNvSpPr/>
              <p:nvPr/>
            </p:nvSpPr>
            <p:spPr>
              <a:xfrm>
                <a:off x="79375" y="333375"/>
                <a:ext cx="228600" cy="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353" name="Shape 1353"/>
              <p:cNvSpPr/>
              <p:nvPr/>
            </p:nvSpPr>
            <p:spPr>
              <a:xfrm>
                <a:off x="117475" y="371475"/>
                <a:ext cx="152400" cy="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354" name="Shape 1354"/>
              <p:cNvSpPr/>
              <p:nvPr/>
            </p:nvSpPr>
            <p:spPr>
              <a:xfrm>
                <a:off x="160337" y="400050"/>
                <a:ext cx="76201" cy="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1356" name="Shape 1356"/>
            <p:cNvSpPr/>
            <p:nvPr/>
          </p:nvSpPr>
          <p:spPr>
            <a:xfrm>
              <a:off x="20637" y="-1"/>
              <a:ext cx="168276" cy="207964"/>
            </a:xfrm>
            <a:prstGeom prst="line">
              <a:avLst/>
            </a:prstGeom>
            <a:noFill/>
            <a:ln w="952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360" name="Shape 1360"/>
          <p:cNvSpPr/>
          <p:nvPr/>
        </p:nvSpPr>
        <p:spPr>
          <a:xfrm>
            <a:off x="6837362" y="4214812"/>
            <a:ext cx="1270795" cy="93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  <a:tailEnd type="stealth"/>
          </a:ln>
        </p:spPr>
        <p:txBody>
          <a:bodyPr/>
          <a:lstStyle/>
          <a:p>
            <a:pPr lvl="0"/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1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3" dur="5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2" grpId="0" build="p" animBg="1" advAuto="0"/>
      <p:bldP spid="1330" grpId="0" animBg="1" advAuto="0"/>
      <p:bldP spid="1331" grpId="0" animBg="1" advAuto="0"/>
      <p:bldP spid="1332" grpId="0" animBg="1" advAuto="0"/>
      <p:bldP spid="1333" grpId="0" animBg="1" advAuto="0"/>
      <p:bldP spid="1334" grpId="0" animBg="1" advAuto="0"/>
      <p:bldP spid="1335" grpId="0" animBg="1" advAuto="0"/>
      <p:bldP spid="1336" grpId="0" animBg="1" advAuto="0"/>
      <p:bldP spid="1337" grpId="0" animBg="1" advAuto="0"/>
      <p:bldP spid="1343" grpId="0" animBg="1" advAuto="0"/>
      <p:bldP spid="1359" grpId="0" animBg="1" advAuto="0"/>
      <p:bldP spid="1345" grpId="0" animBg="1" advAuto="0"/>
      <p:bldP spid="1346" grpId="0" animBg="1" advAuto="0"/>
      <p:bldP spid="1349" grpId="0" animBg="1" advAuto="0"/>
      <p:bldP spid="1357" grpId="0" animBg="1" advAuto="0"/>
      <p:bldP spid="1360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Shape 1362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704087">
              <a:defRPr sz="3696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3696" i="1">
                <a:solidFill>
                  <a:srgbClr val="008080"/>
                </a:solidFill>
              </a:rPr>
              <a:t>IMPLEMENTACION DE LA INSERCION</a:t>
            </a:r>
          </a:p>
        </p:txBody>
      </p:sp>
      <p:sp>
        <p:nvSpPr>
          <p:cNvPr id="1363" name="Shape 1363"/>
          <p:cNvSpPr/>
          <p:nvPr/>
        </p:nvSpPr>
        <p:spPr>
          <a:xfrm>
            <a:off x="611187" y="1916112"/>
            <a:ext cx="7921626" cy="4016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/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NodoABB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insertar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NodoABB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 A, </a:t>
            </a:r>
            <a:r>
              <a:rPr lang="es-MX" sz="1500" dirty="0"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 nuevo){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sz="1500" b="1" dirty="0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(A == null) {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	return new 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NodoABB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(nuevo);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}</a:t>
            </a:r>
          </a:p>
          <a:p>
            <a:pPr lvl="0"/>
            <a:endParaRPr sz="1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sz="1500" b="1" dirty="0"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nuevo.compareTo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A.getContenido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()) == 0) {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	return A;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}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sz="1500" b="1" dirty="0">
                <a:latin typeface="Courier New"/>
                <a:ea typeface="Courier New"/>
                <a:cs typeface="Courier New"/>
                <a:sym typeface="Courier New"/>
              </a:rPr>
              <a:t>else if 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nuevo.compareTo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A.getContenido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()) &gt; 0) {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A.setDerecho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insertar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A.getDerecho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(), nuevo));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}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sz="1500" b="1" dirty="0"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A.setIzquierdo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insertar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1500" dirty="0" err="1">
                <a:latin typeface="Courier New"/>
                <a:ea typeface="Courier New"/>
                <a:cs typeface="Courier New"/>
                <a:sym typeface="Courier New"/>
              </a:rPr>
              <a:t>A.getIzquierdo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(), nuevo));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}</a:t>
            </a:r>
          </a:p>
          <a:p>
            <a:pPr lvl="0"/>
            <a:endParaRPr sz="1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sz="1500" b="1" dirty="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 A;</a:t>
            </a:r>
          </a:p>
          <a:p>
            <a:pPr lvl="0"/>
            <a:r>
              <a:rPr sz="150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Shape 1365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ELIMINACION DE UN NODO</a:t>
            </a:r>
          </a:p>
        </p:txBody>
      </p:sp>
      <p:sp>
        <p:nvSpPr>
          <p:cNvPr id="1366" name="Shape 1366"/>
          <p:cNvSpPr>
            <a:spLocks noGrp="1"/>
          </p:cNvSpPr>
          <p:nvPr>
            <p:ph type="body" idx="4294967295"/>
          </p:nvPr>
        </p:nvSpPr>
        <p:spPr>
          <a:xfrm>
            <a:off x="381000" y="1916112"/>
            <a:ext cx="6324600" cy="411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44316" lvl="0" indent="-244316" defTabSz="868680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280">
                <a:solidFill>
                  <a:srgbClr val="002850"/>
                </a:solidFill>
              </a:rPr>
              <a:t>Es mas compleja que la insercion</a:t>
            </a:r>
          </a:p>
          <a:p>
            <a:pPr marL="244316" lvl="0" indent="-244316" defTabSz="868680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280">
                <a:solidFill>
                  <a:srgbClr val="002850"/>
                </a:solidFill>
              </a:rPr>
              <a:t>Al sacar un nodo del arbol</a:t>
            </a:r>
          </a:p>
          <a:p>
            <a:pPr marL="628241" lvl="1" indent="-19390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002850"/>
                </a:solidFill>
              </a:rPr>
              <a:t>El arbol debe mantener sus propiedades</a:t>
            </a:r>
          </a:p>
          <a:p>
            <a:pPr marL="628241" lvl="1" indent="-19390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002850"/>
                </a:solidFill>
              </a:rPr>
              <a:t>El arbol debe reajustarse</a:t>
            </a:r>
          </a:p>
          <a:p>
            <a:pPr marL="244316" lvl="0" indent="-244316" defTabSz="868680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280">
                <a:solidFill>
                  <a:srgbClr val="002850"/>
                </a:solidFill>
              </a:rPr>
              <a:t>Pasos:</a:t>
            </a:r>
          </a:p>
          <a:p>
            <a:pPr marL="628241" lvl="1" indent="-19390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002850"/>
                </a:solidFill>
              </a:rPr>
              <a:t>Buscar el nodo </a:t>
            </a:r>
            <a:r>
              <a:rPr sz="1900" b="1">
                <a:solidFill>
                  <a:srgbClr val="002850"/>
                </a:solidFill>
              </a:rPr>
              <a:t>p</a:t>
            </a:r>
            <a:r>
              <a:rPr sz="1900">
                <a:solidFill>
                  <a:srgbClr val="002850"/>
                </a:solidFill>
              </a:rPr>
              <a:t> que se va a eliminar</a:t>
            </a:r>
          </a:p>
          <a:p>
            <a:pPr marL="608851" lvl="1" indent="-17451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710">
                <a:solidFill>
                  <a:srgbClr val="002850"/>
                </a:solidFill>
              </a:rPr>
              <a:t>Si el nodo a eliminar tiene menos de dos hijos</a:t>
            </a:r>
          </a:p>
          <a:p>
            <a:pPr marL="1049655" lvl="2" indent="-162877" defTabSz="86868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1710" i="1">
                <a:solidFill>
                  <a:srgbClr val="002850"/>
                </a:solidFill>
              </a:rPr>
              <a:t>Subir el nodo hijo a la pos. del nodo eliminado</a:t>
            </a:r>
          </a:p>
          <a:p>
            <a:pPr marL="628241" lvl="1" indent="-19390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002850"/>
                </a:solidFill>
              </a:rPr>
              <a:t>Si no</a:t>
            </a:r>
          </a:p>
          <a:p>
            <a:pPr marL="1049655" lvl="2" indent="-162877" defTabSz="86868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1710" i="1">
                <a:solidFill>
                  <a:srgbClr val="002850"/>
                </a:solidFill>
              </a:rPr>
              <a:t>Ubicar el nodo </a:t>
            </a:r>
            <a:r>
              <a:rPr sz="1710" b="1" i="1">
                <a:solidFill>
                  <a:srgbClr val="002850"/>
                </a:solidFill>
              </a:rPr>
              <a:t>q </a:t>
            </a:r>
            <a:r>
              <a:rPr sz="1710" i="1">
                <a:solidFill>
                  <a:srgbClr val="002850"/>
                </a:solidFill>
              </a:rPr>
              <a:t>con la mayor de las claves menores</a:t>
            </a:r>
          </a:p>
          <a:p>
            <a:pPr marL="1049655" lvl="2" indent="-162877" defTabSz="86868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1710" i="1">
                <a:solidFill>
                  <a:srgbClr val="002850"/>
                </a:solidFill>
              </a:rPr>
              <a:t>Reemplazar contenido de </a:t>
            </a:r>
            <a:r>
              <a:rPr sz="1710" b="1" i="1">
                <a:solidFill>
                  <a:srgbClr val="002850"/>
                </a:solidFill>
              </a:rPr>
              <a:t>p</a:t>
            </a:r>
            <a:r>
              <a:rPr sz="1710" i="1">
                <a:solidFill>
                  <a:srgbClr val="002850"/>
                </a:solidFill>
              </a:rPr>
              <a:t> con el del nodo </a:t>
            </a:r>
            <a:r>
              <a:rPr sz="1710" b="1" i="1">
                <a:solidFill>
                  <a:srgbClr val="002850"/>
                </a:solidFill>
              </a:rPr>
              <a:t>q</a:t>
            </a:r>
          </a:p>
          <a:p>
            <a:pPr marL="1049655" lvl="2" indent="-162877" defTabSz="86868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1710" i="1">
                <a:solidFill>
                  <a:srgbClr val="002850"/>
                </a:solidFill>
              </a:rPr>
              <a:t>Eliminar el nodo </a:t>
            </a:r>
            <a:r>
              <a:rPr sz="1710" b="1" i="1">
                <a:solidFill>
                  <a:srgbClr val="002850"/>
                </a:solidFill>
              </a:rPr>
              <a:t>q</a:t>
            </a:r>
            <a:r>
              <a:rPr sz="1710" i="1">
                <a:solidFill>
                  <a:srgbClr val="002850"/>
                </a:solidFill>
              </a:rPr>
              <a:t> que se encontro el el primer paso</a:t>
            </a:r>
          </a:p>
        </p:txBody>
      </p:sp>
      <p:grpSp>
        <p:nvGrpSpPr>
          <p:cNvPr id="1398" name="Group 1398"/>
          <p:cNvGrpSpPr/>
          <p:nvPr/>
        </p:nvGrpSpPr>
        <p:grpSpPr>
          <a:xfrm>
            <a:off x="5867400" y="2362200"/>
            <a:ext cx="3096759" cy="1905000"/>
            <a:chOff x="0" y="0"/>
            <a:chExt cx="3096758" cy="1905000"/>
          </a:xfrm>
        </p:grpSpPr>
        <p:grpSp>
          <p:nvGrpSpPr>
            <p:cNvPr id="1369" name="Group 1369"/>
            <p:cNvGrpSpPr/>
            <p:nvPr/>
          </p:nvGrpSpPr>
          <p:grpSpPr>
            <a:xfrm>
              <a:off x="1295400" y="0"/>
              <a:ext cx="381000" cy="381000"/>
              <a:chOff x="0" y="0"/>
              <a:chExt cx="381000" cy="381000"/>
            </a:xfrm>
          </p:grpSpPr>
          <p:sp>
            <p:nvSpPr>
              <p:cNvPr id="1367" name="Shape 1367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68" name="Shape 1368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34</a:t>
                </a:r>
              </a:p>
            </p:txBody>
          </p:sp>
        </p:grpSp>
        <p:grpSp>
          <p:nvGrpSpPr>
            <p:cNvPr id="1372" name="Group 1372"/>
            <p:cNvGrpSpPr/>
            <p:nvPr/>
          </p:nvGrpSpPr>
          <p:grpSpPr>
            <a:xfrm>
              <a:off x="533400" y="533400"/>
              <a:ext cx="381000" cy="381000"/>
              <a:chOff x="0" y="0"/>
              <a:chExt cx="381000" cy="381000"/>
            </a:xfrm>
          </p:grpSpPr>
          <p:sp>
            <p:nvSpPr>
              <p:cNvPr id="1370" name="Shape 137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71" name="Shape 1371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18</a:t>
                </a:r>
              </a:p>
            </p:txBody>
          </p:sp>
        </p:grpSp>
        <p:sp>
          <p:nvSpPr>
            <p:cNvPr id="1373" name="Shape 1373"/>
            <p:cNvSpPr/>
            <p:nvPr/>
          </p:nvSpPr>
          <p:spPr>
            <a:xfrm flipH="1">
              <a:off x="858837" y="325437"/>
              <a:ext cx="4921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76" name="Group 1376"/>
            <p:cNvGrpSpPr/>
            <p:nvPr/>
          </p:nvGrpSpPr>
          <p:grpSpPr>
            <a:xfrm>
              <a:off x="0" y="990600"/>
              <a:ext cx="381000" cy="381000"/>
              <a:chOff x="0" y="0"/>
              <a:chExt cx="381000" cy="381000"/>
            </a:xfrm>
          </p:grpSpPr>
          <p:sp>
            <p:nvSpPr>
              <p:cNvPr id="1374" name="Shape 137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75" name="Shape 1375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6</a:t>
                </a:r>
              </a:p>
            </p:txBody>
          </p:sp>
        </p:grpSp>
        <p:sp>
          <p:nvSpPr>
            <p:cNvPr id="1377" name="Shape 1377"/>
            <p:cNvSpPr/>
            <p:nvPr/>
          </p:nvSpPr>
          <p:spPr>
            <a:xfrm flipH="1">
              <a:off x="3254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80" name="Group 1380"/>
            <p:cNvGrpSpPr/>
            <p:nvPr/>
          </p:nvGrpSpPr>
          <p:grpSpPr>
            <a:xfrm>
              <a:off x="2133600" y="533400"/>
              <a:ext cx="381000" cy="381000"/>
              <a:chOff x="0" y="0"/>
              <a:chExt cx="381000" cy="381000"/>
            </a:xfrm>
          </p:grpSpPr>
          <p:sp>
            <p:nvSpPr>
              <p:cNvPr id="1378" name="Shape 137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79" name="Shape 1379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90</a:t>
                </a:r>
              </a:p>
            </p:txBody>
          </p:sp>
        </p:grpSp>
        <p:sp>
          <p:nvSpPr>
            <p:cNvPr id="1381" name="Shape 1381"/>
            <p:cNvSpPr/>
            <p:nvPr/>
          </p:nvSpPr>
          <p:spPr>
            <a:xfrm>
              <a:off x="1620837" y="325437"/>
              <a:ext cx="5683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84" name="Group 1384"/>
            <p:cNvGrpSpPr/>
            <p:nvPr/>
          </p:nvGrpSpPr>
          <p:grpSpPr>
            <a:xfrm>
              <a:off x="1524000" y="1524000"/>
              <a:ext cx="381000" cy="381000"/>
              <a:chOff x="0" y="0"/>
              <a:chExt cx="381000" cy="381000"/>
            </a:xfrm>
          </p:grpSpPr>
          <p:sp>
            <p:nvSpPr>
              <p:cNvPr id="1382" name="Shape 138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83" name="Shape 1383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28</a:t>
                </a:r>
              </a:p>
            </p:txBody>
          </p:sp>
        </p:grpSp>
        <p:sp>
          <p:nvSpPr>
            <p:cNvPr id="1385" name="Shape 1385"/>
            <p:cNvSpPr/>
            <p:nvPr/>
          </p:nvSpPr>
          <p:spPr>
            <a:xfrm>
              <a:off x="1392237" y="1316037"/>
              <a:ext cx="322263" cy="2079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88" name="Group 1388"/>
            <p:cNvGrpSpPr/>
            <p:nvPr/>
          </p:nvGrpSpPr>
          <p:grpSpPr>
            <a:xfrm>
              <a:off x="1066800" y="990600"/>
              <a:ext cx="381000" cy="381000"/>
              <a:chOff x="0" y="0"/>
              <a:chExt cx="381000" cy="381000"/>
            </a:xfrm>
          </p:grpSpPr>
          <p:sp>
            <p:nvSpPr>
              <p:cNvPr id="1386" name="Shape 138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87" name="Shape 1387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25</a:t>
                </a:r>
              </a:p>
            </p:txBody>
          </p:sp>
        </p:grpSp>
        <p:sp>
          <p:nvSpPr>
            <p:cNvPr id="1389" name="Shape 1389"/>
            <p:cNvSpPr/>
            <p:nvPr/>
          </p:nvSpPr>
          <p:spPr>
            <a:xfrm>
              <a:off x="8588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92" name="Group 1392"/>
            <p:cNvGrpSpPr/>
            <p:nvPr/>
          </p:nvGrpSpPr>
          <p:grpSpPr>
            <a:xfrm>
              <a:off x="685800" y="1524000"/>
              <a:ext cx="381000" cy="381000"/>
              <a:chOff x="0" y="0"/>
              <a:chExt cx="381000" cy="381000"/>
            </a:xfrm>
          </p:grpSpPr>
          <p:sp>
            <p:nvSpPr>
              <p:cNvPr id="1390" name="Shape 139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91" name="Shape 1391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20</a:t>
                </a:r>
              </a:p>
            </p:txBody>
          </p:sp>
        </p:grpSp>
        <p:sp>
          <p:nvSpPr>
            <p:cNvPr id="1393" name="Shape 1393"/>
            <p:cNvSpPr/>
            <p:nvPr/>
          </p:nvSpPr>
          <p:spPr>
            <a:xfrm flipH="1">
              <a:off x="876299" y="1316037"/>
              <a:ext cx="246064" cy="2079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96" name="Group 1396"/>
            <p:cNvGrpSpPr/>
            <p:nvPr/>
          </p:nvGrpSpPr>
          <p:grpSpPr>
            <a:xfrm>
              <a:off x="2618241" y="1066800"/>
              <a:ext cx="478518" cy="381000"/>
              <a:chOff x="0" y="0"/>
              <a:chExt cx="478517" cy="381000"/>
            </a:xfrm>
          </p:grpSpPr>
          <p:sp>
            <p:nvSpPr>
              <p:cNvPr id="1394" name="Shape 1394"/>
              <p:cNvSpPr/>
              <p:nvPr/>
            </p:nvSpPr>
            <p:spPr>
              <a:xfrm>
                <a:off x="48758" y="0"/>
                <a:ext cx="381001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95" name="Shape 1395"/>
              <p:cNvSpPr/>
              <p:nvPr/>
            </p:nvSpPr>
            <p:spPr>
              <a:xfrm>
                <a:off x="0" y="5080"/>
                <a:ext cx="47851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100</a:t>
                </a:r>
              </a:p>
            </p:txBody>
          </p:sp>
        </p:grpSp>
        <p:sp>
          <p:nvSpPr>
            <p:cNvPr id="1397" name="Shape 1397"/>
            <p:cNvSpPr/>
            <p:nvPr/>
          </p:nvSpPr>
          <p:spPr>
            <a:xfrm>
              <a:off x="2459037" y="858837"/>
              <a:ext cx="2635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399" name="Shape 1399"/>
          <p:cNvSpPr/>
          <p:nvPr/>
        </p:nvSpPr>
        <p:spPr>
          <a:xfrm>
            <a:off x="6019800" y="1828800"/>
            <a:ext cx="157357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9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600"/>
              <a:t>Eliminar(raiz,34)</a:t>
            </a:r>
          </a:p>
        </p:txBody>
      </p:sp>
      <p:sp>
        <p:nvSpPr>
          <p:cNvPr id="1400" name="Shape 1400"/>
          <p:cNvSpPr/>
          <p:nvPr/>
        </p:nvSpPr>
        <p:spPr>
          <a:xfrm>
            <a:off x="7315200" y="2133600"/>
            <a:ext cx="0" cy="228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1403" name="Group 1403"/>
          <p:cNvGrpSpPr/>
          <p:nvPr/>
        </p:nvGrpSpPr>
        <p:grpSpPr>
          <a:xfrm>
            <a:off x="7162800" y="2362200"/>
            <a:ext cx="381000" cy="381000"/>
            <a:chOff x="0" y="0"/>
            <a:chExt cx="381000" cy="381000"/>
          </a:xfrm>
        </p:grpSpPr>
        <p:sp>
          <p:nvSpPr>
            <p:cNvPr id="1401" name="Shape 1401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99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402" name="Shape 1402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34</a:t>
              </a:r>
            </a:p>
          </p:txBody>
        </p:sp>
      </p:grpSp>
      <p:sp>
        <p:nvSpPr>
          <p:cNvPr id="1404" name="Shape 1404"/>
          <p:cNvSpPr/>
          <p:nvPr/>
        </p:nvSpPr>
        <p:spPr>
          <a:xfrm flipV="1">
            <a:off x="7621269" y="4267200"/>
            <a:ext cx="1" cy="228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405" name="Shape 1405"/>
          <p:cNvSpPr/>
          <p:nvPr/>
        </p:nvSpPr>
        <p:spPr>
          <a:xfrm>
            <a:off x="7239000" y="4495800"/>
            <a:ext cx="776546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9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600"/>
              <a:t>nmayor</a:t>
            </a:r>
          </a:p>
        </p:txBody>
      </p:sp>
      <p:grpSp>
        <p:nvGrpSpPr>
          <p:cNvPr id="1408" name="Group 1408"/>
          <p:cNvGrpSpPr/>
          <p:nvPr/>
        </p:nvGrpSpPr>
        <p:grpSpPr>
          <a:xfrm>
            <a:off x="7391400" y="3886200"/>
            <a:ext cx="381000" cy="381000"/>
            <a:chOff x="0" y="0"/>
            <a:chExt cx="381000" cy="381000"/>
          </a:xfrm>
        </p:grpSpPr>
        <p:sp>
          <p:nvSpPr>
            <p:cNvPr id="1406" name="Shape 1406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407" name="Shape 1407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28</a:t>
              </a:r>
            </a:p>
          </p:txBody>
        </p:sp>
      </p:grpSp>
      <p:grpSp>
        <p:nvGrpSpPr>
          <p:cNvPr id="1411" name="Group 1411"/>
          <p:cNvGrpSpPr/>
          <p:nvPr/>
        </p:nvGrpSpPr>
        <p:grpSpPr>
          <a:xfrm>
            <a:off x="7162800" y="2362200"/>
            <a:ext cx="381000" cy="381000"/>
            <a:chOff x="0" y="0"/>
            <a:chExt cx="381000" cy="381000"/>
          </a:xfrm>
        </p:grpSpPr>
        <p:sp>
          <p:nvSpPr>
            <p:cNvPr id="1409" name="Shape 140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410" name="Shape 1410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28</a:t>
              </a:r>
            </a:p>
          </p:txBody>
        </p:sp>
      </p:grpSp>
      <p:sp>
        <p:nvSpPr>
          <p:cNvPr id="1412" name="Shape 1412"/>
          <p:cNvSpPr/>
          <p:nvPr/>
        </p:nvSpPr>
        <p:spPr>
          <a:xfrm>
            <a:off x="7315200" y="3810000"/>
            <a:ext cx="533400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3333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415" name="Shape 1415"/>
          <p:cNvSpPr/>
          <p:nvPr/>
        </p:nvSpPr>
        <p:spPr>
          <a:xfrm>
            <a:off x="7535032" y="3861716"/>
            <a:ext cx="5419" cy="24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>
              <a:srgbClr val="FFFFFF"/>
            </a:solidFill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414" name="Shape 1414"/>
          <p:cNvSpPr/>
          <p:nvPr/>
        </p:nvSpPr>
        <p:spPr>
          <a:xfrm>
            <a:off x="7239000" y="3810000"/>
            <a:ext cx="990600" cy="1143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3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3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3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3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3" dur="500"/>
                                        <p:tgtEl>
                                          <p:spTgt spid="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5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6" grpId="0" build="p" bldLvl="5" animBg="1" advAuto="0"/>
      <p:bldP spid="1398" grpId="0" animBg="1" advAuto="0"/>
      <p:bldP spid="1399" grpId="0" animBg="1" advAuto="0"/>
      <p:bldP spid="1400" grpId="0" animBg="1" advAuto="0"/>
      <p:bldP spid="1403" grpId="0" animBg="1" advAuto="0"/>
      <p:bldP spid="1404" grpId="0" animBg="1" advAuto="0"/>
      <p:bldP spid="1405" grpId="0" animBg="1" advAuto="0"/>
      <p:bldP spid="1408" grpId="0" animBg="1" advAuto="0"/>
      <p:bldP spid="1411" grpId="0" animBg="1" advAuto="0"/>
      <p:bldP spid="1412" grpId="0" animBg="1" advAuto="0"/>
      <p:bldP spid="1415" grpId="0" animBg="1" advAuto="0"/>
      <p:bldP spid="1414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Shape 1417"/>
          <p:cNvSpPr>
            <a:spLocks noGrp="1"/>
          </p:cNvSpPr>
          <p:nvPr>
            <p:ph type="title" idx="4294967295"/>
          </p:nvPr>
        </p:nvSpPr>
        <p:spPr>
          <a:xfrm>
            <a:off x="381000" y="4444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SACAR NODO: CODIGO</a:t>
            </a:r>
          </a:p>
        </p:txBody>
      </p:sp>
      <p:sp>
        <p:nvSpPr>
          <p:cNvPr id="1418" name="Shape 1418"/>
          <p:cNvSpPr/>
          <p:nvPr/>
        </p:nvSpPr>
        <p:spPr>
          <a:xfrm>
            <a:off x="684212" y="1052512"/>
            <a:ext cx="7651751" cy="5416868"/>
          </a:xfrm>
          <a:prstGeom prst="rect">
            <a:avLst/>
          </a:prstGeom>
          <a:noFill/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sz="1600" b="1" dirty="0" err="1">
                <a:latin typeface="Arial"/>
                <a:ea typeface="Arial"/>
                <a:cs typeface="Arial"/>
                <a:sym typeface="Arial"/>
              </a:rPr>
              <a:t>NodoABB</a:t>
            </a:r>
            <a:r>
              <a:rPr sz="1600" b="1" dirty="0">
                <a:latin typeface="Arial"/>
                <a:ea typeface="Arial"/>
                <a:cs typeface="Arial"/>
                <a:sym typeface="Arial"/>
              </a:rPr>
              <a:t> *</a:t>
            </a:r>
            <a:r>
              <a:rPr sz="1600" b="1" dirty="0" err="1">
                <a:latin typeface="Arial"/>
                <a:ea typeface="Arial"/>
                <a:cs typeface="Arial"/>
                <a:sym typeface="Arial"/>
              </a:rPr>
              <a:t>ABB_SacarNodoxContenido</a:t>
            </a:r>
            <a:r>
              <a:rPr sz="1600" b="1" dirty="0">
                <a:latin typeface="Arial"/>
                <a:ea typeface="Arial"/>
                <a:cs typeface="Arial"/>
                <a:sym typeface="Arial"/>
              </a:rPr>
              <a:t>(ABB *A, </a:t>
            </a:r>
            <a:r>
              <a:rPr sz="1600" b="1" dirty="0" err="1">
                <a:latin typeface="Arial"/>
                <a:ea typeface="Arial"/>
                <a:cs typeface="Arial"/>
                <a:sym typeface="Arial"/>
              </a:rPr>
              <a:t>Generico</a:t>
            </a:r>
            <a:r>
              <a:rPr sz="1600" b="1" dirty="0">
                <a:latin typeface="Arial"/>
                <a:ea typeface="Arial"/>
                <a:cs typeface="Arial"/>
                <a:sym typeface="Arial"/>
              </a:rPr>
              <a:t> clave, </a:t>
            </a:r>
            <a:endParaRPr sz="1600" b="1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b="1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sz="1600" b="1" dirty="0" err="1">
                <a:latin typeface="Arial"/>
                <a:ea typeface="Arial"/>
                <a:cs typeface="Arial"/>
                <a:sym typeface="Arial"/>
              </a:rPr>
              <a:t>Generico_fnComparar</a:t>
            </a:r>
            <a:r>
              <a:rPr sz="16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1600" b="1" dirty="0" err="1">
                <a:latin typeface="Arial"/>
                <a:ea typeface="Arial"/>
                <a:cs typeface="Arial"/>
                <a:sym typeface="Arial"/>
              </a:rPr>
              <a:t>fn</a:t>
            </a:r>
            <a:r>
              <a:rPr sz="1600" b="1" dirty="0">
                <a:latin typeface="Arial"/>
                <a:ea typeface="Arial"/>
                <a:cs typeface="Arial"/>
                <a:sym typeface="Arial"/>
              </a:rPr>
              <a:t>){</a:t>
            </a:r>
            <a:endParaRPr sz="1600" b="1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NodoABB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 *p, *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tmp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 = *A;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sz="1600" b="1" dirty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ABB_EstaVacio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(*A)) return NULL;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sz="1600" b="1" dirty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fn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((*A)-&gt;clave, clave) &lt; 0)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	return(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ABB_SacarNodoxContenido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(&amp;(*A)-&gt;der, clave, 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fn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));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sz="1600" b="1" dirty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else if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fn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((*A)-&gt;clave, clave) &gt;0)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	return(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ABB_SacarNodoxContenido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(&amp;(*A)-&gt;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izq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, clave, 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fn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));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sz="1600" b="1" dirty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((*A)-&gt;der == NULL)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	(*A) = (*A)-&gt;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izq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sz="1600" b="1" dirty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else if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((*A)-&gt;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izq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 == NULL)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	(*A) = (*A)-&gt;der;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sz="1600" b="1" dirty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tmp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ABB_SacarRaiz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(A);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sz="1600" b="1" dirty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1600" dirty="0" err="1">
                <a:latin typeface="Arial"/>
                <a:ea typeface="Arial"/>
                <a:cs typeface="Arial"/>
                <a:sym typeface="Arial"/>
              </a:rPr>
              <a:t>tmp</a:t>
            </a:r>
            <a:r>
              <a:rPr sz="16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600" dirty="0">
              <a:solidFill>
                <a:srgbClr val="00285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Aft>
                <a:spcPts val="600"/>
              </a:spcAft>
            </a:pPr>
            <a:r>
              <a:rPr sz="1600" dirty="0"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FF"/>
      </a:accent1>
      <a:accent2>
        <a:srgbClr val="CCCCFF"/>
      </a:accent2>
      <a:accent3>
        <a:srgbClr val="8F8F8F"/>
      </a:accent3>
      <a:accent4>
        <a:srgbClr val="707070"/>
      </a:accent4>
      <a:accent5>
        <a:srgbClr val="C9E0FF"/>
      </a:accent5>
      <a:accent6>
        <a:srgbClr val="B9B9E7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99CCFF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99CCFF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FF"/>
      </a:accent1>
      <a:accent2>
        <a:srgbClr val="CCCCFF"/>
      </a:accent2>
      <a:accent3>
        <a:srgbClr val="8F8F8F"/>
      </a:accent3>
      <a:accent4>
        <a:srgbClr val="707070"/>
      </a:accent4>
      <a:accent5>
        <a:srgbClr val="C9E0FF"/>
      </a:accent5>
      <a:accent6>
        <a:srgbClr val="B9B9E7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99CCFF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99CCFF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5133</TotalTime>
  <Words>1911</Words>
  <Application>Microsoft Office PowerPoint</Application>
  <PresentationFormat>Presentación en pantalla (4:3)</PresentationFormat>
  <Paragraphs>431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29</vt:i4>
      </vt:variant>
    </vt:vector>
  </HeadingPairs>
  <TitlesOfParts>
    <vt:vector size="42" baseType="lpstr">
      <vt:lpstr>Arial</vt:lpstr>
      <vt:lpstr>Arial Narrow</vt:lpstr>
      <vt:lpstr>Calibri</vt:lpstr>
      <vt:lpstr>Calibri Light</vt:lpstr>
      <vt:lpstr>Century Gothic</vt:lpstr>
      <vt:lpstr>Courier New</vt:lpstr>
      <vt:lpstr>Gill Sans MT</vt:lpstr>
      <vt:lpstr>Helvetica Neue</vt:lpstr>
      <vt:lpstr>Tahoma</vt:lpstr>
      <vt:lpstr>Verdana</vt:lpstr>
      <vt:lpstr>Wingdings</vt:lpstr>
      <vt:lpstr>Default</vt:lpstr>
      <vt:lpstr>Office Theme</vt:lpstr>
      <vt:lpstr>Presentación de PowerPoint</vt:lpstr>
      <vt:lpstr>Presentación de PowerPoint</vt:lpstr>
      <vt:lpstr>RECORRIDOS DE UN A.B.</vt:lpstr>
      <vt:lpstr>EJEMPLO PREORDEN</vt:lpstr>
      <vt:lpstr>RECORRIDOS: IMPLEMENTACION</vt:lpstr>
      <vt:lpstr>OPERACION ENORDEN</vt:lpstr>
      <vt:lpstr>Presentación de PowerPoint</vt:lpstr>
      <vt:lpstr>ARBOLES BINARIOS LLENOS</vt:lpstr>
      <vt:lpstr>ARBOLES BINARIOS COMPLETOS</vt:lpstr>
      <vt:lpstr>OTROS</vt:lpstr>
      <vt:lpstr>Presentación de PowerPoint</vt:lpstr>
      <vt:lpstr>APLICACIÓN: EVALUACION DE EXPRESIONES </vt:lpstr>
      <vt:lpstr>ARBOL DE EXPRESION</vt:lpstr>
      <vt:lpstr>EJERCICIO EN CLASE</vt:lpstr>
      <vt:lpstr>EVALUAR UNA EXPRESION ARTIMETICA EN INFIJA</vt:lpstr>
      <vt:lpstr>CREAR UN ARBOL DE EXPRESION</vt:lpstr>
      <vt:lpstr>EVALUACION DE LA EXP. POSTFIJA</vt:lpstr>
      <vt:lpstr>Presentación de PowerPoint</vt:lpstr>
      <vt:lpstr>ARBOL BINARIO DE BUSQUEDA</vt:lpstr>
      <vt:lpstr>TDA ABB: DEFINICION</vt:lpstr>
      <vt:lpstr>CREAR CON CLAVE</vt:lpstr>
      <vt:lpstr>CREACION DE UN ABB</vt:lpstr>
      <vt:lpstr>EJERCICIO EN CLASE</vt:lpstr>
      <vt:lpstr>BUSQUEDA DE UN NODO</vt:lpstr>
      <vt:lpstr>IMPLEMENTACION DE LA BUSQUEDA</vt:lpstr>
      <vt:lpstr>INSERCION DE UN NODO</vt:lpstr>
      <vt:lpstr>IMPLEMENTACION DE LA INSERCION</vt:lpstr>
      <vt:lpstr>ELIMINACION DE UN NODO</vt:lpstr>
      <vt:lpstr>SACAR NODO: CODIGO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ARBOLES</dc:title>
  <cp:lastModifiedBy>Steven Isaac Santillan Padilla</cp:lastModifiedBy>
  <cp:revision>39</cp:revision>
  <dcterms:modified xsi:type="dcterms:W3CDTF">2024-12-10T14:35:22Z</dcterms:modified>
</cp:coreProperties>
</file>