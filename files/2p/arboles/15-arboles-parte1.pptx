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13"/>
  </p:notesMasterIdLst>
  <p:sldIdLst>
    <p:sldId id="296" r:id="rId3"/>
    <p:sldId id="257" r:id="rId4"/>
    <p:sldId id="258" r:id="rId5"/>
    <p:sldId id="259" r:id="rId6"/>
    <p:sldId id="260" r:id="rId7"/>
    <p:sldId id="651" r:id="rId8"/>
    <p:sldId id="262" r:id="rId9"/>
    <p:sldId id="652" r:id="rId10"/>
    <p:sldId id="653" r:id="rId11"/>
    <p:sldId id="263" r:id="rId12"/>
  </p:sldIdLst>
  <p:sldSz cx="9144000" cy="6858000" type="screen4x3"/>
  <p:notesSz cx="6858000" cy="9144000"/>
  <p:defaultTextStyle>
    <a:lvl1pPr>
      <a:defRPr>
        <a:latin typeface="Arial Narrow"/>
        <a:ea typeface="Arial Narrow"/>
        <a:cs typeface="Arial Narrow"/>
        <a:sym typeface="Arial Narrow"/>
      </a:defRPr>
    </a:lvl1pPr>
    <a:lvl2pPr indent="457200">
      <a:defRPr>
        <a:latin typeface="Arial Narrow"/>
        <a:ea typeface="Arial Narrow"/>
        <a:cs typeface="Arial Narrow"/>
        <a:sym typeface="Arial Narrow"/>
      </a:defRPr>
    </a:lvl2pPr>
    <a:lvl3pPr indent="914400">
      <a:defRPr>
        <a:latin typeface="Arial Narrow"/>
        <a:ea typeface="Arial Narrow"/>
        <a:cs typeface="Arial Narrow"/>
        <a:sym typeface="Arial Narrow"/>
      </a:defRPr>
    </a:lvl3pPr>
    <a:lvl4pPr indent="1371600">
      <a:defRPr>
        <a:latin typeface="Arial Narrow"/>
        <a:ea typeface="Arial Narrow"/>
        <a:cs typeface="Arial Narrow"/>
        <a:sym typeface="Arial Narrow"/>
      </a:defRPr>
    </a:lvl4pPr>
    <a:lvl5pPr indent="1828800">
      <a:defRPr>
        <a:latin typeface="Arial Narrow"/>
        <a:ea typeface="Arial Narrow"/>
        <a:cs typeface="Arial Narrow"/>
        <a:sym typeface="Arial Narrow"/>
      </a:defRPr>
    </a:lvl5pPr>
    <a:lvl6pPr>
      <a:defRPr>
        <a:latin typeface="Arial Narrow"/>
        <a:ea typeface="Arial Narrow"/>
        <a:cs typeface="Arial Narrow"/>
        <a:sym typeface="Arial Narrow"/>
      </a:defRPr>
    </a:lvl6pPr>
    <a:lvl7pPr>
      <a:defRPr>
        <a:latin typeface="Arial Narrow"/>
        <a:ea typeface="Arial Narrow"/>
        <a:cs typeface="Arial Narrow"/>
        <a:sym typeface="Arial Narrow"/>
      </a:defRPr>
    </a:lvl7pPr>
    <a:lvl8pPr>
      <a:defRPr>
        <a:latin typeface="Arial Narrow"/>
        <a:ea typeface="Arial Narrow"/>
        <a:cs typeface="Arial Narrow"/>
        <a:sym typeface="Arial Narrow"/>
      </a:defRPr>
    </a:lvl8pPr>
    <a:lvl9pPr>
      <a:defRPr>
        <a:latin typeface="Arial Narrow"/>
        <a:ea typeface="Arial Narrow"/>
        <a:cs typeface="Arial Narrow"/>
        <a:sym typeface="Arial Narrow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B331D-5574-407F-B337-B2C17695E924}" v="3" dt="2024-12-10T14:27:51.72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DECFF"/>
          </a:solidFill>
        </a:fill>
      </a:tcStyle>
    </a:wholeTbl>
    <a:band2H>
      <a:tcTxStyle/>
      <a:tcStyle>
        <a:tcBdr/>
        <a:fill>
          <a:solidFill>
            <a:srgbClr val="EFF6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9CCFF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6E6F6"/>
          </a:solidFill>
        </a:fill>
      </a:tcStyle>
    </a:wholeTbl>
    <a:band2H>
      <a:tcTxStyle/>
      <a:tcStyle>
        <a:tcBdr/>
        <a:fill>
          <a:solidFill>
            <a:srgbClr val="F3F3FA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9B9E7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9CC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9CCFF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14"/>
    <p:restoredTop sz="94694"/>
  </p:normalViewPr>
  <p:slideViewPr>
    <p:cSldViewPr snapToGrid="0" snapToObjects="1">
      <p:cViewPr varScale="1">
        <p:scale>
          <a:sx n="78" d="100"/>
          <a:sy n="78" d="100"/>
        </p:scale>
        <p:origin x="17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Isaac Santillan Padilla" userId="9b70fe88-7305-470b-86a5-d214191a12dc" providerId="ADAL" clId="{994B331D-5574-407F-B337-B2C17695E924}"/>
    <pc:docChg chg="modSld">
      <pc:chgData name="Steven Isaac Santillan Padilla" userId="9b70fe88-7305-470b-86a5-d214191a12dc" providerId="ADAL" clId="{994B331D-5574-407F-B337-B2C17695E924}" dt="2024-12-10T14:27:51.721" v="2" actId="478"/>
      <pc:docMkLst>
        <pc:docMk/>
      </pc:docMkLst>
      <pc:sldChg chg="delSp">
        <pc:chgData name="Steven Isaac Santillan Padilla" userId="9b70fe88-7305-470b-86a5-d214191a12dc" providerId="ADAL" clId="{994B331D-5574-407F-B337-B2C17695E924}" dt="2024-12-10T14:27:51.721" v="2" actId="478"/>
        <pc:sldMkLst>
          <pc:docMk/>
          <pc:sldMk cId="3255616706" sldId="296"/>
        </pc:sldMkLst>
        <pc:spChg chg="del">
          <ac:chgData name="Steven Isaac Santillan Padilla" userId="9b70fe88-7305-470b-86a5-d214191a12dc" providerId="ADAL" clId="{994B331D-5574-407F-B337-B2C17695E924}" dt="2024-12-10T14:27:49.984" v="0" actId="478"/>
          <ac:spMkLst>
            <pc:docMk/>
            <pc:sldMk cId="3255616706" sldId="296"/>
            <ac:spMk id="4104" creationId="{66FF4A6F-8386-1240-9DAB-FCFE83D2F371}"/>
          </ac:spMkLst>
        </pc:spChg>
        <pc:picChg chg="del">
          <ac:chgData name="Steven Isaac Santillan Padilla" userId="9b70fe88-7305-470b-86a5-d214191a12dc" providerId="ADAL" clId="{994B331D-5574-407F-B337-B2C17695E924}" dt="2024-12-10T14:27:51.721" v="2" actId="478"/>
          <ac:picMkLst>
            <pc:docMk/>
            <pc:sldMk cId="3255616706" sldId="296"/>
            <ac:picMk id="4099" creationId="{28F8EDB5-BDA7-ED4B-A4FB-1EBA4787B971}"/>
          </ac:picMkLst>
        </pc:picChg>
        <pc:picChg chg="del">
          <ac:chgData name="Steven Isaac Santillan Padilla" userId="9b70fe88-7305-470b-86a5-d214191a12dc" providerId="ADAL" clId="{994B331D-5574-407F-B337-B2C17695E924}" dt="2024-12-10T14:27:50.986" v="1" actId="478"/>
          <ac:picMkLst>
            <pc:docMk/>
            <pc:sldMk cId="3255616706" sldId="296"/>
            <ac:picMk id="4100" creationId="{0146EEA3-48FE-124B-928D-F1D274943391}"/>
          </ac:picMkLst>
        </pc:picChg>
      </pc:sldChg>
    </pc:docChg>
  </pc:docChgLst>
  <pc:docChgLst>
    <pc:chgData name="Javier Alejandro Tibau Benitez" userId="e5597553-c464-45d3-aa13-a911048b5c46" providerId="ADAL" clId="{103F4886-CBDA-5946-94C3-210247023714}"/>
    <pc:docChg chg="undo custSel addSld modSld">
      <pc:chgData name="Javier Alejandro Tibau Benitez" userId="e5597553-c464-45d3-aa13-a911048b5c46" providerId="ADAL" clId="{103F4886-CBDA-5946-94C3-210247023714}" dt="2022-12-01T16:59:56.004" v="21" actId="14100"/>
      <pc:docMkLst>
        <pc:docMk/>
      </pc:docMkLst>
      <pc:sldChg chg="modSp mod">
        <pc:chgData name="Javier Alejandro Tibau Benitez" userId="e5597553-c464-45d3-aa13-a911048b5c46" providerId="ADAL" clId="{103F4886-CBDA-5946-94C3-210247023714}" dt="2022-12-01T16:59:28.536" v="12" actId="1076"/>
        <pc:sldMkLst>
          <pc:docMk/>
          <pc:sldMk cId="0" sldId="262"/>
        </pc:sldMkLst>
      </pc:sldChg>
      <pc:sldChg chg="modSp mod">
        <pc:chgData name="Javier Alejandro Tibau Benitez" userId="e5597553-c464-45d3-aa13-a911048b5c46" providerId="ADAL" clId="{103F4886-CBDA-5946-94C3-210247023714}" dt="2022-12-01T15:44:10.818" v="10" actId="20577"/>
        <pc:sldMkLst>
          <pc:docMk/>
          <pc:sldMk cId="3255616706" sldId="296"/>
        </pc:sldMkLst>
      </pc:sldChg>
      <pc:sldChg chg="delSp modSp add mod delAnim">
        <pc:chgData name="Javier Alejandro Tibau Benitez" userId="e5597553-c464-45d3-aa13-a911048b5c46" providerId="ADAL" clId="{103F4886-CBDA-5946-94C3-210247023714}" dt="2022-12-01T16:59:39.399" v="15" actId="21"/>
        <pc:sldMkLst>
          <pc:docMk/>
          <pc:sldMk cId="1127012826" sldId="652"/>
        </pc:sldMkLst>
      </pc:sldChg>
      <pc:sldChg chg="addSp modSp new mod modAnim">
        <pc:chgData name="Javier Alejandro Tibau Benitez" userId="e5597553-c464-45d3-aa13-a911048b5c46" providerId="ADAL" clId="{103F4886-CBDA-5946-94C3-210247023714}" dt="2022-12-01T16:59:56.004" v="21" actId="14100"/>
        <pc:sldMkLst>
          <pc:docMk/>
          <pc:sldMk cId="2272718972" sldId="65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" name="Shape 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53153634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E4E5B6-92CE-F948-AD48-829B5A71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0D656-84A3-364E-84DB-5D0A1F4523F2}" type="datetimeFigureOut">
              <a:rPr lang="es-EC"/>
              <a:pPr>
                <a:defRPr/>
              </a:pPr>
              <a:t>10/12/2024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F7041F-E72B-7749-BB87-CB96C4C4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F43D07-2956-2D48-97C0-9BFB9521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1F4E6-8930-3C4C-B5F5-D9725A5C3E7A}" type="slidenum">
              <a:rPr lang="es-EC"/>
              <a:pPr>
                <a:defRPr/>
              </a:pPr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394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F978-D975-DC4B-9464-A52C18654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A9E85-31DC-6D48-8F7E-7941EEBE3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8DA65-275B-994E-B4A5-41B1349E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F6D3F-B924-C442-B152-B54F74AB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40AA8-92D2-194C-8900-4E42A275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1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7F13-080D-DB49-BFF0-619B1F21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F3BE-CA7A-DE49-A81E-929C8062D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841F-2F19-054D-9995-431E713B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E72AE-B51D-D347-BCB5-8B8F2BAD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E1B06-8AB7-9749-9962-0343E39E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4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C949-D63B-004E-A805-F08AA10A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FC768-B53E-4548-8321-B60BE806A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474C8-B0FD-5D4B-906B-63B0A34E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E3353-0064-4940-ABD5-E7BDDF7A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C8FCD-7F0D-6746-9A00-8165B63C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6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C6A5-3C68-554E-A920-E9775B55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C367-C340-1F4E-BC46-F67E84FAE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AD1A0-6F54-1A49-9DFE-30B790F60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E52C9-5FF8-2249-B65A-C3016CAC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9BC41-2A92-A542-ABFB-33956215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4A93E-FA5F-CE4F-88BB-D02FD583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D5A8-190C-5F4F-A648-9A5ED281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3AACE-B739-5F4B-9B9D-6B5CCEC82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84EDC-DD77-944E-9F64-0CEA2A160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F2BF7-45C4-4B43-85B1-9D2E627D0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4B22C-FE1E-DD48-A6B0-D75E874DE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6102C-E77D-5A44-B3C1-4ACB7F7C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D4538-7C5E-AE4B-B366-F9A3DEE2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3BADD-6B65-D749-A766-3858590E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D835-C76B-3448-B1CE-F4F59624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D0646-26CD-224B-82D3-5854A1AE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C4689-C546-984C-AE4D-1BDDC41B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84EFF-5D56-C849-83D0-3603170C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6E8BA-C4B7-064B-AFE3-804FD5FA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F6AF9-E7B1-AA48-85FA-037855EF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86B9B-25C7-3D4F-85F9-B053CB14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8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7292-13BF-6549-A870-199B2D812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93E9-599E-3249-935B-B4A73485D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DD23C-22A1-C745-B1DE-B0B913C2F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47007-8AD1-074C-A85B-EF51B801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81CE5-7887-2F47-9051-FA549204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5543E-1B21-854E-A0A6-748BADE6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8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BC08-C78D-1A43-B259-EF945402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429B8-2204-6942-B237-6CDA68AD3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EA941-CDEB-B74F-BF11-114E7D22D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B3637-74B2-7B4A-9D15-AC706168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42E1C-6714-7041-830F-2A18AFD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6F7C8-99E3-F045-AC63-2D4205A2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4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B60E-15E0-B347-8B6A-FAE6D4AD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FD632-127A-614E-96F3-E7CDBF7AB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0507-0F28-4C4B-88D8-0A78C2B8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C7BE0-AF9D-494B-A2E9-189A1769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1A607-2EC8-DC4E-B95F-54669443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8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B8133-B729-E343-A779-74B1E3811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437CB-B51B-1A4C-AF79-DA7848575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5B2A0-DE72-7A49-905B-6BB82C7C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2B65-8DAD-C04C-866D-B0F5160B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F475B-8158-FE46-A8E5-2EAEA651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3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1pPr>
      <a:lvl2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2pPr>
      <a:lvl3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3pPr>
      <a:lvl4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4pPr>
      <a:lvl5pPr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5pPr>
      <a:lvl6pPr indent="4572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6pPr>
      <a:lvl7pPr indent="9144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7pPr>
      <a:lvl8pPr indent="13716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8pPr>
      <a:lvl9pPr indent="1828800">
        <a:defRPr sz="4800" i="1">
          <a:solidFill>
            <a:srgbClr val="00808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lvl1pPr marL="342900" indent="-34290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1pPr>
      <a:lvl2pPr marL="783771" indent="-326571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2pPr>
      <a:lvl3pPr marL="1219200" indent="-30480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3pPr>
      <a:lvl4pPr marL="1737360" indent="-36576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4pPr>
      <a:lvl5pPr marL="2235200" indent="-406400">
        <a:spcBef>
          <a:spcPts val="700"/>
        </a:spcBef>
        <a:buClr>
          <a:srgbClr val="008080"/>
        </a:buClr>
        <a:buSzPct val="80000"/>
        <a:buFont typeface="Wingdings"/>
        <a:buChar char="▯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5pPr>
      <a:lvl6pPr marL="26924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6pPr>
      <a:lvl7pPr marL="31496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7pPr>
      <a:lvl8pPr marL="36068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8pPr>
      <a:lvl9pPr marL="4064000" indent="-406400">
        <a:spcBef>
          <a:spcPts val="700"/>
        </a:spcBef>
        <a:buClr>
          <a:srgbClr val="008080"/>
        </a:buClr>
        <a:buSzPct val="80000"/>
        <a:buFont typeface="Wingdings"/>
        <a:buChar char="•"/>
        <a:defRPr sz="3200">
          <a:solidFill>
            <a:srgbClr val="002850"/>
          </a:solidFill>
          <a:latin typeface="Arial Narrow"/>
          <a:ea typeface="Arial Narrow"/>
          <a:cs typeface="Arial Narrow"/>
          <a:sym typeface="Arial Narrow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F4B51-AEE0-9148-B05D-04C2A1C6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3F65D-97B8-AF48-84B6-D2CA7940E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0324C-B0D2-8148-8333-E4BBCA322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B7DEF-198E-3B49-AC2D-7B1346328AF8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D3D3-9E58-7446-B859-C1143F1E3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9D89E-2CDD-104D-BD59-5B6B1262E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90AB8-61F8-D842-8E70-9E00DB0E6F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9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>
            <a:extLst>
              <a:ext uri="{FF2B5EF4-FFF2-40B4-BE49-F238E27FC236}">
                <a16:creationId xmlns:a16="http://schemas.microsoft.com/office/drawing/2014/main" id="{91A6ED28-45F5-0240-A981-B652E56BC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41663"/>
            <a:ext cx="6858000" cy="403225"/>
          </a:xfrm>
        </p:spPr>
        <p:txBody>
          <a:bodyPr/>
          <a:lstStyle/>
          <a:p>
            <a:pPr eaLnBrk="1" hangingPunct="1"/>
            <a:r>
              <a:rPr lang="es-ES_tradnl" altLang="es-EC" sz="3600"/>
              <a:t>ESTRUCTURAS DE DATOS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13916-6D0D-7248-8172-1AAA4E1D515B}"/>
              </a:ext>
            </a:extLst>
          </p:cNvPr>
          <p:cNvSpPr/>
          <p:nvPr/>
        </p:nvSpPr>
        <p:spPr>
          <a:xfrm>
            <a:off x="0" y="2278063"/>
            <a:ext cx="9144000" cy="2016125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102" name="Rectangle 2">
            <a:extLst>
              <a:ext uri="{FF2B5EF4-FFF2-40B4-BE49-F238E27FC236}">
                <a16:creationId xmlns:a16="http://schemas.microsoft.com/office/drawing/2014/main" id="{C40653DD-9ACA-AA49-994A-D307CB823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2679700"/>
            <a:ext cx="681355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5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Estructuras</a:t>
            </a:r>
            <a:r>
              <a:rPr lang="en-US" altLang="en-US" sz="5400" b="1" dirty="0">
                <a:solidFill>
                  <a:schemeClr val="bg1"/>
                </a:solidFill>
                <a:latin typeface="Gill Sans MT" panose="020B0502020104020203" pitchFamily="34" charset="77"/>
              </a:rPr>
              <a:t> de </a:t>
            </a:r>
            <a:r>
              <a:rPr lang="en-US" altLang="en-US" sz="5400" b="1" dirty="0" err="1">
                <a:solidFill>
                  <a:schemeClr val="bg1"/>
                </a:solidFill>
                <a:latin typeface="Gill Sans MT" panose="020B0502020104020203" pitchFamily="34" charset="77"/>
              </a:rPr>
              <a:t>Datos</a:t>
            </a:r>
            <a:endParaRPr lang="en-US" altLang="en-US" sz="54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4103" name="Rectangle 2">
            <a:extLst>
              <a:ext uri="{FF2B5EF4-FFF2-40B4-BE49-F238E27FC236}">
                <a16:creationId xmlns:a16="http://schemas.microsoft.com/office/drawing/2014/main" id="{FDA35373-DB89-6E4D-804D-80BA01D8F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009" y="3500377"/>
            <a:ext cx="3197991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Árboles</a:t>
            </a:r>
            <a:r>
              <a:rPr lang="en-US" altLang="en-US" sz="3600" dirty="0">
                <a:solidFill>
                  <a:schemeClr val="bg1"/>
                </a:solidFill>
                <a:latin typeface="Gill Sans MT" panose="020B0502020104020203" pitchFamily="34" charset="77"/>
              </a:rPr>
              <a:t> – </a:t>
            </a:r>
            <a:r>
              <a:rPr lang="en-US" altLang="en-US" sz="3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Parte</a:t>
            </a:r>
            <a:r>
              <a:rPr lang="en-US" altLang="en-US" sz="3600" dirty="0">
                <a:solidFill>
                  <a:schemeClr val="bg1"/>
                </a:solidFill>
                <a:latin typeface="Gill Sans MT" panose="020B0502020104020203" pitchFamily="34" charset="77"/>
              </a:rPr>
              <a:t> I</a:t>
            </a:r>
          </a:p>
        </p:txBody>
      </p:sp>
    </p:spTree>
    <p:extLst>
      <p:ext uri="{BB962C8B-B14F-4D97-AF65-F5344CB8AC3E}">
        <p14:creationId xmlns:p14="http://schemas.microsoft.com/office/powerpoint/2010/main" val="325561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 idx="4294967295"/>
          </p:nvPr>
        </p:nvSpPr>
        <p:spPr>
          <a:xfrm>
            <a:off x="381000" y="3333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INTRODUCCION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4294967295"/>
          </p:nvPr>
        </p:nvSpPr>
        <p:spPr>
          <a:xfrm>
            <a:off x="457200" y="1566862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Las </a:t>
            </a:r>
            <a:r>
              <a:rPr sz="2800" dirty="0" err="1">
                <a:solidFill>
                  <a:srgbClr val="002850"/>
                </a:solidFill>
              </a:rPr>
              <a:t>listas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enlazadas</a:t>
            </a:r>
            <a:r>
              <a:rPr sz="2800" dirty="0">
                <a:solidFill>
                  <a:srgbClr val="002850"/>
                </a:solidFill>
              </a:rPr>
              <a:t> son </a:t>
            </a:r>
            <a:r>
              <a:rPr sz="2800" dirty="0" err="1">
                <a:solidFill>
                  <a:srgbClr val="002850"/>
                </a:solidFill>
              </a:rPr>
              <a:t>estructuras</a:t>
            </a:r>
            <a:r>
              <a:rPr sz="2800" dirty="0">
                <a:solidFill>
                  <a:srgbClr val="002850"/>
                </a:solidFill>
              </a:rPr>
              <a:t> </a:t>
            </a:r>
            <a:r>
              <a:rPr sz="2800" dirty="0" err="1">
                <a:solidFill>
                  <a:srgbClr val="002850"/>
                </a:solidFill>
              </a:rPr>
              <a:t>lineales</a:t>
            </a:r>
            <a:endParaRPr sz="28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Son f</a:t>
            </a:r>
            <a:r>
              <a:rPr lang="en-US" sz="2400" dirty="0">
                <a:solidFill>
                  <a:srgbClr val="002850"/>
                </a:solidFill>
              </a:rPr>
              <a:t>l</a:t>
            </a:r>
            <a:r>
              <a:rPr sz="2400" dirty="0">
                <a:solidFill>
                  <a:srgbClr val="002850"/>
                </a:solidFill>
              </a:rPr>
              <a:t>exibles </a:t>
            </a:r>
            <a:r>
              <a:rPr sz="2400" dirty="0" err="1">
                <a:solidFill>
                  <a:srgbClr val="002850"/>
                </a:solidFill>
              </a:rPr>
              <a:t>pero</a:t>
            </a:r>
            <a:r>
              <a:rPr sz="2400" dirty="0">
                <a:solidFill>
                  <a:srgbClr val="002850"/>
                </a:solidFill>
              </a:rPr>
              <a:t> son </a:t>
            </a:r>
            <a:r>
              <a:rPr sz="2400" dirty="0" err="1">
                <a:solidFill>
                  <a:srgbClr val="002850"/>
                </a:solidFill>
              </a:rPr>
              <a:t>secuenciales</a:t>
            </a:r>
            <a:r>
              <a:rPr sz="2400" dirty="0">
                <a:solidFill>
                  <a:srgbClr val="002850"/>
                </a:solidFill>
              </a:rPr>
              <a:t>, un </a:t>
            </a:r>
            <a:r>
              <a:rPr sz="2400" dirty="0" err="1">
                <a:solidFill>
                  <a:srgbClr val="002850"/>
                </a:solidFill>
              </a:rPr>
              <a:t>elemento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detrás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otro</a:t>
            </a:r>
            <a:endParaRPr sz="2400" dirty="0">
              <a:solidFill>
                <a:srgbClr val="002850"/>
              </a:solidFill>
            </a:endParaRP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Los </a:t>
            </a:r>
            <a:r>
              <a:rPr sz="2800" dirty="0" err="1">
                <a:solidFill>
                  <a:srgbClr val="002850"/>
                </a:solidFill>
              </a:rPr>
              <a:t>árboles</a:t>
            </a:r>
            <a:endParaRPr sz="28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Junto con </a:t>
            </a:r>
            <a:r>
              <a:rPr sz="2400" dirty="0" err="1">
                <a:solidFill>
                  <a:srgbClr val="002850"/>
                </a:solidFill>
              </a:rPr>
              <a:t>los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grafos</a:t>
            </a:r>
            <a:r>
              <a:rPr sz="2400" dirty="0">
                <a:solidFill>
                  <a:srgbClr val="002850"/>
                </a:solidFill>
              </a:rPr>
              <a:t> son </a:t>
            </a:r>
            <a:r>
              <a:rPr sz="2400" dirty="0" err="1">
                <a:solidFill>
                  <a:srgbClr val="002850"/>
                </a:solidFill>
              </a:rPr>
              <a:t>estructuras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datos</a:t>
            </a:r>
            <a:r>
              <a:rPr sz="2400" dirty="0">
                <a:solidFill>
                  <a:srgbClr val="002850"/>
                </a:solidFill>
              </a:rPr>
              <a:t> no </a:t>
            </a:r>
            <a:r>
              <a:rPr sz="2400" dirty="0" err="1">
                <a:solidFill>
                  <a:srgbClr val="002850"/>
                </a:solidFill>
              </a:rPr>
              <a:t>lineales</a:t>
            </a:r>
            <a:endParaRPr sz="24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Superan</a:t>
            </a:r>
            <a:r>
              <a:rPr sz="2400" dirty="0">
                <a:solidFill>
                  <a:srgbClr val="002850"/>
                </a:solidFill>
              </a:rPr>
              <a:t> las </a:t>
            </a:r>
            <a:r>
              <a:rPr sz="2400" dirty="0" err="1">
                <a:solidFill>
                  <a:srgbClr val="002850"/>
                </a:solidFill>
              </a:rPr>
              <a:t>desventajas</a:t>
            </a:r>
            <a:r>
              <a:rPr sz="2400" dirty="0">
                <a:solidFill>
                  <a:srgbClr val="002850"/>
                </a:solidFill>
              </a:rPr>
              <a:t> de las </a:t>
            </a:r>
            <a:r>
              <a:rPr sz="2400" dirty="0" err="1">
                <a:solidFill>
                  <a:srgbClr val="002850"/>
                </a:solidFill>
              </a:rPr>
              <a:t>listas</a:t>
            </a:r>
            <a:endParaRPr sz="2400" dirty="0">
              <a:solidFill>
                <a:srgbClr val="002850"/>
              </a:solidFill>
            </a:endParaRPr>
          </a:p>
          <a:p>
            <a:pPr marL="702128" lvl="1" indent="-244928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Sus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elementos</a:t>
            </a:r>
            <a:r>
              <a:rPr sz="2400" dirty="0">
                <a:solidFill>
                  <a:srgbClr val="002850"/>
                </a:solidFill>
              </a:rPr>
              <a:t> se </a:t>
            </a:r>
            <a:r>
              <a:rPr sz="2400" dirty="0" err="1">
                <a:solidFill>
                  <a:srgbClr val="002850"/>
                </a:solidFill>
              </a:rPr>
              <a:t>pueden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recorrer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distintas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formas</a:t>
            </a:r>
            <a:r>
              <a:rPr sz="2400" dirty="0">
                <a:solidFill>
                  <a:srgbClr val="002850"/>
                </a:solidFill>
              </a:rPr>
              <a:t>, no </a:t>
            </a:r>
            <a:r>
              <a:rPr sz="2400" dirty="0" err="1">
                <a:solidFill>
                  <a:srgbClr val="002850"/>
                </a:solidFill>
              </a:rPr>
              <a:t>necesariamente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uno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detrás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otro</a:t>
            </a:r>
            <a:endParaRPr sz="2400" dirty="0">
              <a:solidFill>
                <a:srgbClr val="002850"/>
              </a:solidFill>
            </a:endParaRPr>
          </a:p>
          <a:p>
            <a:pPr marL="300037" lvl="0" indent="-300037">
              <a:lnSpc>
                <a:spcPct val="11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Son </a:t>
            </a:r>
            <a:r>
              <a:rPr sz="2800" b="1" dirty="0" err="1">
                <a:solidFill>
                  <a:srgbClr val="002850"/>
                </a:solidFill>
              </a:rPr>
              <a:t>muy</a:t>
            </a:r>
            <a:r>
              <a:rPr sz="2800" b="1" dirty="0">
                <a:solidFill>
                  <a:srgbClr val="002850"/>
                </a:solidFill>
              </a:rPr>
              <a:t> </a:t>
            </a:r>
            <a:r>
              <a:rPr sz="2800" b="1" dirty="0" err="1">
                <a:solidFill>
                  <a:srgbClr val="002850"/>
                </a:solidFill>
              </a:rPr>
              <a:t>útiles</a:t>
            </a:r>
            <a:r>
              <a:rPr sz="2800" dirty="0">
                <a:solidFill>
                  <a:srgbClr val="002850"/>
                </a:solidFill>
              </a:rPr>
              <a:t> para la </a:t>
            </a:r>
            <a:r>
              <a:rPr sz="2800" dirty="0" err="1">
                <a:solidFill>
                  <a:srgbClr val="002850"/>
                </a:solidFill>
              </a:rPr>
              <a:t>búsqueda</a:t>
            </a:r>
            <a:r>
              <a:rPr sz="2800" dirty="0">
                <a:solidFill>
                  <a:srgbClr val="002850"/>
                </a:solidFill>
              </a:rPr>
              <a:t> y </a:t>
            </a:r>
            <a:r>
              <a:rPr sz="2800" dirty="0" err="1">
                <a:solidFill>
                  <a:srgbClr val="002850"/>
                </a:solidFill>
              </a:rPr>
              <a:t>recuperación</a:t>
            </a:r>
            <a:r>
              <a:rPr sz="2800" dirty="0">
                <a:solidFill>
                  <a:srgbClr val="002850"/>
                </a:solidFill>
              </a:rPr>
              <a:t> de </a:t>
            </a:r>
            <a:r>
              <a:rPr sz="2800" dirty="0" err="1">
                <a:solidFill>
                  <a:srgbClr val="002850"/>
                </a:solidFill>
              </a:rPr>
              <a:t>información</a:t>
            </a:r>
            <a:endParaRPr sz="2800" dirty="0">
              <a:solidFill>
                <a:srgbClr val="00285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 idx="4294967295"/>
          </p:nvPr>
        </p:nvSpPr>
        <p:spPr>
          <a:xfrm>
            <a:off x="381000" y="4857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CONCEPTO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4294967295"/>
          </p:nvPr>
        </p:nvSpPr>
        <p:spPr>
          <a:xfrm>
            <a:off x="449262" y="1749425"/>
            <a:ext cx="5638801" cy="106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marL="214312" indent="-214312">
              <a:lnSpc>
                <a:spcPct val="120000"/>
              </a:lnSpc>
              <a:spcBef>
                <a:spcPts val="400"/>
              </a:spcBef>
              <a:defRPr sz="20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Estructura que organiza sus elementos formando jerarquías: PADRES E HIJOS</a:t>
            </a:r>
          </a:p>
        </p:txBody>
      </p:sp>
      <p:sp>
        <p:nvSpPr>
          <p:cNvPr id="14" name="Shape 14"/>
          <p:cNvSpPr/>
          <p:nvPr/>
        </p:nvSpPr>
        <p:spPr>
          <a:xfrm>
            <a:off x="465137" y="4868862"/>
            <a:ext cx="6461126" cy="1087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marL="214312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defRPr sz="2000">
                <a:solidFill>
                  <a:srgbClr val="002850"/>
                </a:solidFill>
              </a:defRPr>
            </a:lvl1pPr>
            <a:lvl2pPr marL="661307" indent="-204107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defRPr sz="2000">
                <a:solidFill>
                  <a:srgbClr val="002850"/>
                </a:solidFill>
              </a:defRPr>
            </a:lvl2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Un subárbol de un árbol 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Es cualquier nodo del árbol junto con todos sus descendientes</a:t>
            </a:r>
          </a:p>
        </p:txBody>
      </p:sp>
      <p:sp>
        <p:nvSpPr>
          <p:cNvPr id="15" name="Shape 15"/>
          <p:cNvSpPr/>
          <p:nvPr/>
        </p:nvSpPr>
        <p:spPr>
          <a:xfrm>
            <a:off x="465137" y="2528887"/>
            <a:ext cx="7239001" cy="1464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>
                <a:solidFill>
                  <a:srgbClr val="002850"/>
                </a:solidFill>
              </a:rPr>
              <a:t>Los elementos de un árbol se llaman </a:t>
            </a:r>
            <a:r>
              <a:rPr sz="2000" b="1">
                <a:solidFill>
                  <a:srgbClr val="002850"/>
                </a:solidFill>
              </a:rPr>
              <a:t>nodos</a:t>
            </a:r>
          </a:p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>
                <a:solidFill>
                  <a:srgbClr val="002850"/>
                </a:solidFill>
              </a:rPr>
              <a:t>Si un nodo </a:t>
            </a:r>
            <a:r>
              <a:rPr sz="2000" b="1">
                <a:solidFill>
                  <a:srgbClr val="002850"/>
                </a:solidFill>
              </a:rPr>
              <a:t>p</a:t>
            </a:r>
            <a:r>
              <a:rPr sz="2000">
                <a:solidFill>
                  <a:srgbClr val="002850"/>
                </a:solidFill>
              </a:rPr>
              <a:t> tiene un enlace con un nodo </a:t>
            </a:r>
            <a:r>
              <a:rPr sz="2000" b="1">
                <a:solidFill>
                  <a:srgbClr val="002850"/>
                </a:solidFill>
              </a:rPr>
              <a:t>m</a:t>
            </a:r>
            <a:r>
              <a:rPr sz="2000">
                <a:solidFill>
                  <a:srgbClr val="002850"/>
                </a:solidFill>
              </a:rPr>
              <a:t>, </a:t>
            </a:r>
          </a:p>
          <a:p>
            <a:pPr marL="640896" lvl="1" indent="-183696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</a:pPr>
            <a:r>
              <a:rPr b="1">
                <a:solidFill>
                  <a:srgbClr val="002850"/>
                </a:solidFill>
              </a:rPr>
              <a:t>p</a:t>
            </a:r>
            <a:r>
              <a:rPr>
                <a:solidFill>
                  <a:srgbClr val="002850"/>
                </a:solidFill>
              </a:rPr>
              <a:t> es el padre y </a:t>
            </a:r>
            <a:r>
              <a:rPr b="1">
                <a:solidFill>
                  <a:srgbClr val="002850"/>
                </a:solidFill>
              </a:rPr>
              <a:t>m</a:t>
            </a:r>
            <a:r>
              <a:rPr>
                <a:solidFill>
                  <a:srgbClr val="002850"/>
                </a:solidFill>
              </a:rPr>
              <a:t> es el hijo</a:t>
            </a:r>
            <a:endParaRPr sz="2800">
              <a:solidFill>
                <a:srgbClr val="002850"/>
              </a:solidFill>
            </a:endParaRPr>
          </a:p>
          <a:p>
            <a:pPr marL="640896" lvl="1" indent="-183696">
              <a:lnSpc>
                <a:spcPct val="110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</a:pPr>
            <a:r>
              <a:rPr>
                <a:solidFill>
                  <a:srgbClr val="002850"/>
                </a:solidFill>
              </a:rPr>
              <a:t>Los hijos de un mismo padre se llaman: </a:t>
            </a:r>
            <a:r>
              <a:rPr b="1">
                <a:solidFill>
                  <a:srgbClr val="002850"/>
                </a:solidFill>
              </a:rPr>
              <a:t>hermanos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096000" y="1295400"/>
            <a:ext cx="2743200" cy="2667000"/>
            <a:chOff x="0" y="0"/>
            <a:chExt cx="2743200" cy="2667000"/>
          </a:xfrm>
        </p:grpSpPr>
        <p:grpSp>
          <p:nvGrpSpPr>
            <p:cNvPr id="39" name="Group 39"/>
            <p:cNvGrpSpPr/>
            <p:nvPr/>
          </p:nvGrpSpPr>
          <p:grpSpPr>
            <a:xfrm>
              <a:off x="146049" y="227329"/>
              <a:ext cx="2362201" cy="2136141"/>
              <a:chOff x="0" y="0"/>
              <a:chExt cx="2362200" cy="213614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1371599" y="-1"/>
                <a:ext cx="533401" cy="459742"/>
                <a:chOff x="0" y="0"/>
                <a:chExt cx="533400" cy="459740"/>
              </a:xfrm>
            </p:grpSpPr>
            <p:sp>
              <p:nvSpPr>
                <p:cNvPr id="16" name="Shape 16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7" name="Shape 17"/>
                <p:cNvSpPr/>
                <p:nvPr/>
              </p:nvSpPr>
              <p:spPr>
                <a:xfrm>
                  <a:off x="123249" y="0"/>
                  <a:ext cx="286902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A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85799" y="838199"/>
                <a:ext cx="533401" cy="459742"/>
                <a:chOff x="0" y="0"/>
                <a:chExt cx="533400" cy="459740"/>
              </a:xfrm>
            </p:grpSpPr>
            <p:sp>
              <p:nvSpPr>
                <p:cNvPr id="19" name="Shape 19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0" name="Shape 20"/>
                <p:cNvSpPr/>
                <p:nvPr/>
              </p:nvSpPr>
              <p:spPr>
                <a:xfrm>
                  <a:off x="124812" y="0"/>
                  <a:ext cx="283776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B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-1" y="1676399"/>
                <a:ext cx="533401" cy="459742"/>
                <a:chOff x="0" y="0"/>
                <a:chExt cx="533400" cy="459740"/>
              </a:xfrm>
            </p:grpSpPr>
            <p:sp>
              <p:nvSpPr>
                <p:cNvPr id="22" name="Shape 22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3" name="Shape 23"/>
                <p:cNvSpPr/>
                <p:nvPr/>
              </p:nvSpPr>
              <p:spPr>
                <a:xfrm>
                  <a:off x="111268" y="0"/>
                  <a:ext cx="310864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D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685799" y="1676399"/>
                <a:ext cx="533401" cy="459742"/>
                <a:chOff x="0" y="0"/>
                <a:chExt cx="533400" cy="459740"/>
              </a:xfrm>
            </p:grpSpPr>
            <p:sp>
              <p:nvSpPr>
                <p:cNvPr id="25" name="Shape 25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6" name="Shape 26"/>
                <p:cNvSpPr/>
                <p:nvPr/>
              </p:nvSpPr>
              <p:spPr>
                <a:xfrm>
                  <a:off x="129128" y="0"/>
                  <a:ext cx="275144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E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1828799" y="838199"/>
                <a:ext cx="533401" cy="459742"/>
                <a:chOff x="0" y="0"/>
                <a:chExt cx="533400" cy="459740"/>
              </a:xfrm>
            </p:grpSpPr>
            <p:sp>
              <p:nvSpPr>
                <p:cNvPr id="28" name="Shape 28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29" name="Shape 29"/>
                <p:cNvSpPr/>
                <p:nvPr/>
              </p:nvSpPr>
              <p:spPr>
                <a:xfrm>
                  <a:off x="123100" y="0"/>
                  <a:ext cx="287200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C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1371599" y="1676399"/>
                <a:ext cx="533401" cy="459742"/>
                <a:chOff x="0" y="0"/>
                <a:chExt cx="533400" cy="459740"/>
              </a:xfrm>
            </p:grpSpPr>
            <p:sp>
              <p:nvSpPr>
                <p:cNvPr id="31" name="Shape 31"/>
                <p:cNvSpPr/>
                <p:nvPr/>
              </p:nvSpPr>
              <p:spPr>
                <a:xfrm>
                  <a:off x="0" y="1270"/>
                  <a:ext cx="533400" cy="4572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525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32" name="Shape 32"/>
                <p:cNvSpPr/>
                <p:nvPr/>
              </p:nvSpPr>
              <p:spPr>
                <a:xfrm>
                  <a:off x="135155" y="0"/>
                  <a:ext cx="263090" cy="4597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none" lIns="0" tIns="0" rIns="0" bIns="0" numCol="1" anchor="ctr">
                  <a:spAutoFit/>
                </a:bodyPr>
                <a:lstStyle>
                  <a:lvl1pPr algn="ctr">
                    <a:defRPr sz="24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400"/>
                    <a:t>F</a:t>
                  </a:r>
                </a:p>
              </p:txBody>
            </p:sp>
          </p:grpSp>
          <p:sp>
            <p:nvSpPr>
              <p:cNvPr id="34" name="Shape 34"/>
              <p:cNvSpPr/>
              <p:nvPr/>
            </p:nvSpPr>
            <p:spPr>
              <a:xfrm flipH="1">
                <a:off x="952499" y="391795"/>
                <a:ext cx="496889" cy="4476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5" name="Shape 35"/>
              <p:cNvSpPr/>
              <p:nvPr/>
            </p:nvSpPr>
            <p:spPr>
              <a:xfrm flipH="1">
                <a:off x="266699" y="1229995"/>
                <a:ext cx="496889" cy="447675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6" name="Shape 36"/>
              <p:cNvSpPr/>
              <p:nvPr/>
            </p:nvSpPr>
            <p:spPr>
              <a:xfrm>
                <a:off x="952500" y="1296669"/>
                <a:ext cx="0" cy="381001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7" name="Shape 37"/>
              <p:cNvSpPr/>
              <p:nvPr/>
            </p:nvSpPr>
            <p:spPr>
              <a:xfrm>
                <a:off x="1141412" y="1229994"/>
                <a:ext cx="496888" cy="447677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  <p:sp>
            <p:nvSpPr>
              <p:cNvPr id="38" name="Shape 38"/>
              <p:cNvSpPr/>
              <p:nvPr/>
            </p:nvSpPr>
            <p:spPr>
              <a:xfrm>
                <a:off x="1827212" y="391794"/>
                <a:ext cx="268288" cy="447676"/>
              </a:xfrm>
              <a:prstGeom prst="line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n-lt"/>
                    <a:ea typeface="+mn-ea"/>
                    <a:cs typeface="+mn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40" name="Shape 40"/>
            <p:cNvSpPr/>
            <p:nvPr/>
          </p:nvSpPr>
          <p:spPr>
            <a:xfrm>
              <a:off x="0" y="0"/>
              <a:ext cx="2743200" cy="26670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42" name="Shape 42"/>
          <p:cNvSpPr/>
          <p:nvPr/>
        </p:nvSpPr>
        <p:spPr>
          <a:xfrm>
            <a:off x="463550" y="4040187"/>
            <a:ext cx="7924800" cy="765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>
                <a:solidFill>
                  <a:srgbClr val="002850"/>
                </a:solidFill>
              </a:rPr>
              <a:t>Todos los nodos tienen al menos un padre, menos la raíz: A</a:t>
            </a:r>
          </a:p>
          <a:p>
            <a:pPr marL="214312" lvl="0" indent="-214312">
              <a:lnSpc>
                <a:spcPct val="110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</a:pPr>
            <a:r>
              <a:rPr sz="2000">
                <a:solidFill>
                  <a:srgbClr val="002850"/>
                </a:solidFill>
              </a:rPr>
              <a:t>Si no tienen hijos se llaman </a:t>
            </a:r>
            <a:r>
              <a:rPr sz="2000" b="1">
                <a:solidFill>
                  <a:srgbClr val="002850"/>
                </a:solidFill>
              </a:rPr>
              <a:t>hoja</a:t>
            </a:r>
            <a:r>
              <a:rPr sz="2000">
                <a:solidFill>
                  <a:srgbClr val="002850"/>
                </a:solidFill>
              </a:rPr>
              <a:t>: D, E, F y C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659562" y="4651692"/>
            <a:ext cx="1905001" cy="1297941"/>
            <a:chOff x="0" y="0"/>
            <a:chExt cx="1905000" cy="1297940"/>
          </a:xfrm>
        </p:grpSpPr>
        <p:grpSp>
          <p:nvGrpSpPr>
            <p:cNvPr id="45" name="Group 45"/>
            <p:cNvGrpSpPr/>
            <p:nvPr/>
          </p:nvGrpSpPr>
          <p:grpSpPr>
            <a:xfrm>
              <a:off x="685799" y="-1"/>
              <a:ext cx="533401" cy="459742"/>
              <a:chOff x="0" y="0"/>
              <a:chExt cx="533400" cy="459740"/>
            </a:xfrm>
          </p:grpSpPr>
          <p:sp>
            <p:nvSpPr>
              <p:cNvPr id="43" name="Shape 43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4" name="Shape 44"/>
              <p:cNvSpPr/>
              <p:nvPr/>
            </p:nvSpPr>
            <p:spPr>
              <a:xfrm>
                <a:off x="124812" y="0"/>
                <a:ext cx="283776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B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-1" y="838199"/>
              <a:ext cx="533401" cy="459742"/>
              <a:chOff x="0" y="0"/>
              <a:chExt cx="533400" cy="459740"/>
            </a:xfrm>
          </p:grpSpPr>
          <p:sp>
            <p:nvSpPr>
              <p:cNvPr id="46" name="Shape 46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7" name="Shape 47"/>
              <p:cNvSpPr/>
              <p:nvPr/>
            </p:nvSpPr>
            <p:spPr>
              <a:xfrm>
                <a:off x="111268" y="0"/>
                <a:ext cx="31086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D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85799" y="838199"/>
              <a:ext cx="533401" cy="459742"/>
              <a:chOff x="0" y="0"/>
              <a:chExt cx="533400" cy="459740"/>
            </a:xfrm>
          </p:grpSpPr>
          <p:sp>
            <p:nvSpPr>
              <p:cNvPr id="49" name="Shape 49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0" name="Shape 50"/>
              <p:cNvSpPr/>
              <p:nvPr/>
            </p:nvSpPr>
            <p:spPr>
              <a:xfrm>
                <a:off x="129128" y="0"/>
                <a:ext cx="275144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E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71599" y="838199"/>
              <a:ext cx="533401" cy="459742"/>
              <a:chOff x="0" y="0"/>
              <a:chExt cx="533400" cy="459740"/>
            </a:xfrm>
          </p:grpSpPr>
          <p:sp>
            <p:nvSpPr>
              <p:cNvPr id="52" name="Shape 52"/>
              <p:cNvSpPr/>
              <p:nvPr/>
            </p:nvSpPr>
            <p:spPr>
              <a:xfrm>
                <a:off x="0" y="1270"/>
                <a:ext cx="533400" cy="457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53" name="Shape 53"/>
              <p:cNvSpPr/>
              <p:nvPr/>
            </p:nvSpPr>
            <p:spPr>
              <a:xfrm>
                <a:off x="135155" y="0"/>
                <a:ext cx="263090" cy="4597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400"/>
                  <a:t>F</a:t>
                </a:r>
              </a:p>
            </p:txBody>
          </p:sp>
        </p:grpSp>
        <p:sp>
          <p:nvSpPr>
            <p:cNvPr id="55" name="Shape 55"/>
            <p:cNvSpPr/>
            <p:nvPr/>
          </p:nvSpPr>
          <p:spPr>
            <a:xfrm flipH="1">
              <a:off x="266699" y="391795"/>
              <a:ext cx="496889" cy="447675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952500" y="458470"/>
              <a:ext cx="0" cy="3810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1141412" y="391794"/>
              <a:ext cx="496888" cy="447677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643437" y="260350"/>
            <a:ext cx="3027353" cy="1468438"/>
            <a:chOff x="0" y="0"/>
            <a:chExt cx="3027352" cy="1468437"/>
          </a:xfrm>
        </p:grpSpPr>
        <p:sp>
          <p:nvSpPr>
            <p:cNvPr id="59" name="Shape 59"/>
            <p:cNvSpPr/>
            <p:nvPr/>
          </p:nvSpPr>
          <p:spPr>
            <a:xfrm>
              <a:off x="0" y="0"/>
              <a:ext cx="3027353" cy="1468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82" y="0"/>
                  </a:moveTo>
                  <a:lnTo>
                    <a:pt x="2482" y="0"/>
                  </a:lnTo>
                  <a:cubicBezTo>
                    <a:pt x="1111" y="0"/>
                    <a:pt x="0" y="1612"/>
                    <a:pt x="0" y="3600"/>
                  </a:cubicBezTo>
                  <a:lnTo>
                    <a:pt x="0" y="18000"/>
                  </a:lnTo>
                  <a:cubicBezTo>
                    <a:pt x="0" y="19988"/>
                    <a:pt x="1111" y="21600"/>
                    <a:pt x="2482" y="21600"/>
                  </a:cubicBezTo>
                  <a:lnTo>
                    <a:pt x="12412" y="21600"/>
                  </a:lnTo>
                  <a:cubicBezTo>
                    <a:pt x="13783" y="21600"/>
                    <a:pt x="14895" y="19988"/>
                    <a:pt x="14895" y="18000"/>
                  </a:cubicBezTo>
                  <a:lnTo>
                    <a:pt x="21600" y="19942"/>
                  </a:lnTo>
                  <a:lnTo>
                    <a:pt x="14895" y="12600"/>
                  </a:lnTo>
                  <a:lnTo>
                    <a:pt x="14895" y="3600"/>
                  </a:lnTo>
                  <a:cubicBezTo>
                    <a:pt x="14895" y="1612"/>
                    <a:pt x="13783" y="0"/>
                    <a:pt x="12412" y="0"/>
                  </a:cubicBezTo>
                  <a:lnTo>
                    <a:pt x="8689" y="0"/>
                  </a:lnTo>
                  <a:close/>
                </a:path>
              </a:pathLst>
            </a:cu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ctr">
                <a:defRPr sz="1600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76447" y="53774"/>
              <a:ext cx="1934669" cy="1297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A es Padre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B y C hijos de A: hermanos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B es Padre</a:t>
              </a:r>
              <a:endParaRPr sz="16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/>
              <a:r>
                <a:rPr sz="1600">
                  <a:latin typeface="Tahoma"/>
                  <a:ea typeface="Tahoma"/>
                  <a:cs typeface="Tahoma"/>
                  <a:sym typeface="Tahoma"/>
                </a:rPr>
                <a:t>D, E, F hijos de B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nimBg="1" advAuto="0"/>
      <p:bldP spid="14" grpId="0" animBg="1" advAuto="0"/>
      <p:bldP spid="15" grpId="0" animBg="1" advAuto="0"/>
      <p:bldP spid="41" grpId="0" animBg="1" advAuto="0"/>
      <p:bldP spid="42" grpId="0" animBg="1" advAuto="0"/>
      <p:bldP spid="58" grpId="0" animBg="1" advAuto="0"/>
      <p:bldP spid="61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 idx="4294967295"/>
          </p:nvPr>
        </p:nvSpPr>
        <p:spPr>
          <a:xfrm>
            <a:off x="381000" y="3333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TERMINOLOGIA</a:t>
            </a:r>
          </a:p>
        </p:txBody>
      </p:sp>
      <p:sp>
        <p:nvSpPr>
          <p:cNvPr id="64" name="Shape 64"/>
          <p:cNvSpPr>
            <a:spLocks noGrp="1"/>
          </p:cNvSpPr>
          <p:nvPr>
            <p:ph type="body" idx="4294967295"/>
          </p:nvPr>
        </p:nvSpPr>
        <p:spPr>
          <a:xfrm>
            <a:off x="446087" y="1412875"/>
            <a:ext cx="8229601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Camino</a:t>
            </a:r>
            <a:r>
              <a:rPr sz="2400" dirty="0">
                <a:solidFill>
                  <a:srgbClr val="002850"/>
                </a:solidFill>
              </a:rPr>
              <a:t>:  </a:t>
            </a:r>
            <a:r>
              <a:rPr sz="2400" dirty="0" err="1">
                <a:solidFill>
                  <a:srgbClr val="002850"/>
                </a:solidFill>
              </a:rPr>
              <a:t>Secuencia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conectados</a:t>
            </a:r>
            <a:r>
              <a:rPr sz="2400" dirty="0">
                <a:solidFill>
                  <a:srgbClr val="002850"/>
                </a:solidFill>
              </a:rPr>
              <a:t> dentro de un arbol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 err="1">
                <a:solidFill>
                  <a:srgbClr val="002850"/>
                </a:solidFill>
              </a:rPr>
              <a:t>Longitud</a:t>
            </a:r>
            <a:r>
              <a:rPr sz="2400" u="sng" dirty="0">
                <a:solidFill>
                  <a:srgbClr val="002850"/>
                </a:solidFill>
              </a:rPr>
              <a:t> del </a:t>
            </a:r>
            <a:r>
              <a:rPr sz="2400" u="sng" dirty="0" err="1">
                <a:solidFill>
                  <a:srgbClr val="002850"/>
                </a:solidFill>
              </a:rPr>
              <a:t>camino</a:t>
            </a:r>
            <a:r>
              <a:rPr sz="2400" dirty="0">
                <a:solidFill>
                  <a:srgbClr val="002850"/>
                </a:solidFill>
              </a:rPr>
              <a:t>: es el </a:t>
            </a:r>
            <a:r>
              <a:rPr sz="2400" dirty="0" err="1">
                <a:solidFill>
                  <a:srgbClr val="002850"/>
                </a:solidFill>
              </a:rPr>
              <a:t>numero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menos</a:t>
            </a:r>
            <a:r>
              <a:rPr sz="2400" dirty="0">
                <a:solidFill>
                  <a:srgbClr val="002850"/>
                </a:solidFill>
              </a:rPr>
              <a:t> 1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un </a:t>
            </a:r>
            <a:r>
              <a:rPr sz="2400" dirty="0" err="1">
                <a:solidFill>
                  <a:srgbClr val="002850"/>
                </a:solidFill>
              </a:rPr>
              <a:t>camino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Altura del árbol</a:t>
            </a:r>
            <a:r>
              <a:rPr sz="2400" dirty="0">
                <a:solidFill>
                  <a:srgbClr val="002850"/>
                </a:solidFill>
              </a:rPr>
              <a:t>: es el </a:t>
            </a:r>
            <a:r>
              <a:rPr sz="2400" dirty="0" err="1">
                <a:solidFill>
                  <a:srgbClr val="002850"/>
                </a:solidFill>
              </a:rPr>
              <a:t>nivel</a:t>
            </a:r>
            <a:r>
              <a:rPr sz="2400" dirty="0">
                <a:solidFill>
                  <a:srgbClr val="002850"/>
                </a:solidFill>
              </a:rPr>
              <a:t> mas alto del árbol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Un árbol con un solo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tiene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altura</a:t>
            </a:r>
            <a:r>
              <a:rPr sz="2000" dirty="0">
                <a:solidFill>
                  <a:srgbClr val="002850"/>
                </a:solidFill>
              </a:rPr>
              <a:t> 1</a:t>
            </a:r>
          </a:p>
          <a:p>
            <a:pPr marL="257175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Nivel</a:t>
            </a:r>
            <a:r>
              <a:rPr lang="es-ES" sz="2400" u="sng" dirty="0">
                <a:solidFill>
                  <a:srgbClr val="002850"/>
                </a:solidFill>
              </a:rPr>
              <a:t> </a:t>
            </a:r>
            <a:r>
              <a:rPr sz="2400" u="sng" dirty="0">
                <a:solidFill>
                  <a:srgbClr val="002850"/>
                </a:solidFill>
              </a:rPr>
              <a:t>(</a:t>
            </a:r>
            <a:r>
              <a:rPr lang="es-ES" sz="2400" u="sng" dirty="0">
                <a:solidFill>
                  <a:srgbClr val="002850"/>
                </a:solidFill>
              </a:rPr>
              <a:t>o </a:t>
            </a:r>
            <a:r>
              <a:rPr sz="2400" u="sng" dirty="0" err="1">
                <a:solidFill>
                  <a:srgbClr val="002850"/>
                </a:solidFill>
              </a:rPr>
              <a:t>profundidad</a:t>
            </a:r>
            <a:r>
              <a:rPr sz="2400" u="sng" dirty="0">
                <a:solidFill>
                  <a:srgbClr val="002850"/>
                </a:solidFill>
              </a:rPr>
              <a:t>) de un </a:t>
            </a:r>
            <a:r>
              <a:rPr sz="2400" u="sng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: </a:t>
            </a:r>
            <a:r>
              <a:rPr lang="en-GB" sz="2400" dirty="0"/>
              <a:t>es la </a:t>
            </a:r>
            <a:r>
              <a:rPr lang="en-GB" sz="2400" dirty="0" err="1"/>
              <a:t>longitud</a:t>
            </a:r>
            <a:r>
              <a:rPr lang="en-GB" sz="2400" dirty="0"/>
              <a:t> del </a:t>
            </a:r>
            <a:r>
              <a:rPr lang="en-GB" sz="2400" dirty="0" err="1"/>
              <a:t>camino</a:t>
            </a:r>
            <a:r>
              <a:rPr lang="en-GB" sz="2400" dirty="0"/>
              <a:t> de la </a:t>
            </a:r>
            <a:r>
              <a:rPr lang="en-GB" sz="2400" dirty="0" err="1"/>
              <a:t>raíz</a:t>
            </a:r>
            <a:r>
              <a:rPr lang="en-GB" sz="2400" dirty="0"/>
              <a:t> a ese </a:t>
            </a:r>
            <a:r>
              <a:rPr lang="en-GB" sz="2400" dirty="0" err="1"/>
              <a:t>nodo</a:t>
            </a:r>
            <a:r>
              <a:rPr sz="2400" dirty="0">
                <a:solidFill>
                  <a:srgbClr val="002850"/>
                </a:solidFill>
              </a:rPr>
              <a:t>. </a:t>
            </a: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s-ES" sz="2400" u="sng" dirty="0">
                <a:solidFill>
                  <a:srgbClr val="002850"/>
                </a:solidFill>
              </a:rPr>
              <a:t>Altura</a:t>
            </a:r>
            <a:r>
              <a:rPr sz="2400" u="sng" dirty="0">
                <a:solidFill>
                  <a:srgbClr val="002850"/>
                </a:solidFill>
              </a:rPr>
              <a:t> de un árbol</a:t>
            </a:r>
          </a:p>
          <a:p>
            <a:pPr marL="661307" lvl="1" indent="-204107"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lang="en-GB" sz="2000" dirty="0"/>
              <a:t>Es la </a:t>
            </a:r>
            <a:r>
              <a:rPr lang="en-GB" sz="2000" dirty="0" err="1"/>
              <a:t>profundidad</a:t>
            </a:r>
            <a:r>
              <a:rPr lang="en-GB" sz="2000" dirty="0"/>
              <a:t> </a:t>
            </a:r>
            <a:r>
              <a:rPr lang="en-GB" sz="2000" dirty="0" err="1"/>
              <a:t>máxima</a:t>
            </a:r>
            <a:r>
              <a:rPr lang="en-GB" sz="2000" dirty="0"/>
              <a:t> entre </a:t>
            </a:r>
            <a:r>
              <a:rPr lang="en-GB" sz="2000" dirty="0" err="1"/>
              <a:t>todos</a:t>
            </a:r>
            <a:r>
              <a:rPr lang="en-GB" sz="2000" dirty="0"/>
              <a:t> los </a:t>
            </a:r>
            <a:r>
              <a:rPr lang="en-GB" sz="2000" dirty="0" err="1"/>
              <a:t>nodos</a:t>
            </a:r>
            <a:r>
              <a:rPr lang="en-GB" sz="2000" dirty="0"/>
              <a:t> del árbol. Es </a:t>
            </a:r>
            <a:r>
              <a:rPr lang="en-GB" sz="2000" dirty="0" err="1"/>
              <a:t>decir</a:t>
            </a:r>
            <a:r>
              <a:rPr lang="en-GB" sz="2000" dirty="0"/>
              <a:t>, "la </a:t>
            </a:r>
            <a:r>
              <a:rPr lang="en-GB" sz="2000" dirty="0" err="1"/>
              <a:t>profundidad</a:t>
            </a:r>
            <a:r>
              <a:rPr lang="en-GB" sz="2000" dirty="0"/>
              <a:t> del </a:t>
            </a:r>
            <a:r>
              <a:rPr lang="en-GB" sz="2000" dirty="0" err="1"/>
              <a:t>nodo</a:t>
            </a:r>
            <a:r>
              <a:rPr lang="en-GB" sz="2000" dirty="0"/>
              <a:t> </a:t>
            </a:r>
            <a:r>
              <a:rPr lang="en-GB" sz="2000" dirty="0" err="1"/>
              <a:t>más</a:t>
            </a:r>
            <a:r>
              <a:rPr lang="en-GB" sz="2000" dirty="0"/>
              <a:t> profundo".</a:t>
            </a:r>
            <a:endParaRPr sz="20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Grado(</a:t>
            </a:r>
            <a:r>
              <a:rPr sz="2400" u="sng" dirty="0" err="1">
                <a:solidFill>
                  <a:srgbClr val="002850"/>
                </a:solidFill>
              </a:rPr>
              <a:t>aridad</a:t>
            </a:r>
            <a:r>
              <a:rPr sz="2400" u="sng" dirty="0">
                <a:solidFill>
                  <a:srgbClr val="002850"/>
                </a:solidFill>
              </a:rPr>
              <a:t>) de un </a:t>
            </a:r>
            <a:r>
              <a:rPr sz="2400" u="sng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: es </a:t>
            </a:r>
            <a:r>
              <a:rPr sz="2400" dirty="0" err="1">
                <a:solidFill>
                  <a:srgbClr val="002850"/>
                </a:solidFill>
              </a:rPr>
              <a:t>numero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hijos</a:t>
            </a:r>
            <a:r>
              <a:rPr sz="2400" dirty="0">
                <a:solidFill>
                  <a:srgbClr val="002850"/>
                </a:solidFill>
              </a:rPr>
              <a:t> del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endParaRPr sz="2400" dirty="0">
              <a:solidFill>
                <a:srgbClr val="002850"/>
              </a:solidFill>
            </a:endParaRPr>
          </a:p>
          <a:p>
            <a:pPr marL="257175" lvl="0" indent="-257175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u="sng" dirty="0">
                <a:solidFill>
                  <a:srgbClr val="002850"/>
                </a:solidFill>
              </a:rPr>
              <a:t>Grado(</a:t>
            </a:r>
            <a:r>
              <a:rPr sz="2400" u="sng" dirty="0" err="1">
                <a:solidFill>
                  <a:srgbClr val="002850"/>
                </a:solidFill>
              </a:rPr>
              <a:t>aridad</a:t>
            </a:r>
            <a:r>
              <a:rPr sz="2400" u="sng" dirty="0">
                <a:solidFill>
                  <a:srgbClr val="002850"/>
                </a:solidFill>
              </a:rPr>
              <a:t>) de un árbol</a:t>
            </a:r>
            <a:r>
              <a:rPr sz="2400" dirty="0">
                <a:solidFill>
                  <a:srgbClr val="002850"/>
                </a:solidFill>
              </a:rPr>
              <a:t>: </a:t>
            </a:r>
            <a:r>
              <a:rPr sz="2400" dirty="0" err="1">
                <a:solidFill>
                  <a:srgbClr val="002850"/>
                </a:solidFill>
              </a:rPr>
              <a:t>máxima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aridad</a:t>
            </a:r>
            <a:r>
              <a:rPr sz="2400" dirty="0">
                <a:solidFill>
                  <a:srgbClr val="002850"/>
                </a:solidFill>
              </a:rPr>
              <a:t> de sus </a:t>
            </a:r>
            <a:r>
              <a:rPr sz="2400" dirty="0" err="1">
                <a:solidFill>
                  <a:srgbClr val="002850"/>
                </a:solidFill>
              </a:rPr>
              <a:t>nodos</a:t>
            </a:r>
            <a:endParaRPr sz="2400" dirty="0">
              <a:solidFill>
                <a:srgbClr val="00285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/>
          </p:cNvSpPr>
          <p:nvPr>
            <p:ph type="title" idx="4294967295"/>
          </p:nvPr>
        </p:nvSpPr>
        <p:spPr>
          <a:xfrm>
            <a:off x="381000" y="4857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768095">
              <a:defRPr sz="3696"/>
            </a:lvl1pPr>
          </a:lstStyle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696" i="1">
                <a:solidFill>
                  <a:srgbClr val="008080"/>
                </a:solidFill>
              </a:rPr>
              <a:t>TDA ARBOL : DEFINICION INFORMAL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idx="4294967295"/>
          </p:nvPr>
        </p:nvSpPr>
        <p:spPr>
          <a:xfrm>
            <a:off x="684212" y="1773237"/>
            <a:ext cx="7843838" cy="453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Valores</a:t>
            </a:r>
            <a:r>
              <a:rPr sz="2000" dirty="0">
                <a:solidFill>
                  <a:srgbClr val="002850"/>
                </a:solidFill>
              </a:rPr>
              <a:t>: 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Conjunto de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r>
              <a:rPr dirty="0">
                <a:solidFill>
                  <a:srgbClr val="002850"/>
                </a:solidFill>
              </a:rPr>
              <a:t>, </a:t>
            </a:r>
            <a:r>
              <a:rPr dirty="0" err="1">
                <a:solidFill>
                  <a:srgbClr val="002850"/>
                </a:solidFill>
              </a:rPr>
              <a:t>donde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b="1" dirty="0">
                <a:solidFill>
                  <a:srgbClr val="002850"/>
                </a:solidFill>
              </a:rPr>
              <a:t>SOLO</a:t>
            </a:r>
            <a:r>
              <a:rPr dirty="0">
                <a:solidFill>
                  <a:srgbClr val="002850"/>
                </a:solidFill>
              </a:rPr>
              <a:t> se </a:t>
            </a:r>
            <a:r>
              <a:rPr dirty="0" err="1">
                <a:solidFill>
                  <a:srgbClr val="002850"/>
                </a:solidFill>
              </a:rPr>
              <a:t>conoce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raíz</a:t>
            </a:r>
            <a:endParaRPr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Un </a:t>
            </a:r>
            <a:r>
              <a:rPr dirty="0" err="1">
                <a:solidFill>
                  <a:srgbClr val="002850"/>
                </a:solidFill>
              </a:rPr>
              <a:t>nodo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puede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almacenar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contenido</a:t>
            </a:r>
            <a:r>
              <a:rPr dirty="0">
                <a:solidFill>
                  <a:srgbClr val="002850"/>
                </a:solidFill>
              </a:rPr>
              <a:t> y </a:t>
            </a:r>
            <a:r>
              <a:rPr dirty="0" err="1">
                <a:solidFill>
                  <a:srgbClr val="002850"/>
                </a:solidFill>
              </a:rPr>
              <a:t>estar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enlazado</a:t>
            </a:r>
            <a:r>
              <a:rPr dirty="0">
                <a:solidFill>
                  <a:srgbClr val="002850"/>
                </a:solidFill>
              </a:rPr>
              <a:t> con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1600" i="1" dirty="0" err="1">
                <a:solidFill>
                  <a:srgbClr val="002850"/>
                </a:solidFill>
              </a:rPr>
              <a:t>Sus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árboles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hijos</a:t>
            </a:r>
            <a:r>
              <a:rPr sz="1600" i="1" dirty="0">
                <a:solidFill>
                  <a:srgbClr val="002850"/>
                </a:solidFill>
              </a:rPr>
              <a:t> (</a:t>
            </a:r>
            <a:r>
              <a:rPr sz="1600" i="1" dirty="0" err="1">
                <a:solidFill>
                  <a:srgbClr val="002850"/>
                </a:solidFill>
              </a:rPr>
              <a:t>pueden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ser</a:t>
            </a:r>
            <a:r>
              <a:rPr sz="1600" i="1" dirty="0">
                <a:solidFill>
                  <a:srgbClr val="002850"/>
                </a:solidFill>
              </a:rPr>
              <a:t> dos o </a:t>
            </a:r>
            <a:r>
              <a:rPr sz="1600" i="1" dirty="0" err="1">
                <a:solidFill>
                  <a:srgbClr val="002850"/>
                </a:solidFill>
              </a:rPr>
              <a:t>varios</a:t>
            </a:r>
            <a:r>
              <a:rPr sz="1600" i="1" dirty="0">
                <a:solidFill>
                  <a:srgbClr val="002850"/>
                </a:solidFill>
              </a:rPr>
              <a:t>)</a:t>
            </a:r>
          </a:p>
          <a:p>
            <a:pPr marL="214312" lvl="0" indent="-214312">
              <a:lnSpc>
                <a:spcPct val="90000"/>
              </a:lnSpc>
              <a:spcBef>
                <a:spcPts val="400"/>
              </a:spcBef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Operaciones</a:t>
            </a:r>
            <a:r>
              <a:rPr sz="2000" dirty="0">
                <a:solidFill>
                  <a:srgbClr val="002850"/>
                </a:solidFill>
              </a:rPr>
              <a:t>: </a:t>
            </a:r>
            <a:r>
              <a:rPr sz="2000" dirty="0" err="1">
                <a:solidFill>
                  <a:srgbClr val="002850"/>
                </a:solidFill>
              </a:rPr>
              <a:t>Dependen</a:t>
            </a:r>
            <a:r>
              <a:rPr sz="2000" dirty="0">
                <a:solidFill>
                  <a:srgbClr val="002850"/>
                </a:solidFill>
              </a:rPr>
              <a:t> del </a:t>
            </a:r>
            <a:r>
              <a:rPr sz="2000" dirty="0" err="1">
                <a:solidFill>
                  <a:srgbClr val="002850"/>
                </a:solidFill>
              </a:rPr>
              <a:t>tipo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árbol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pero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general </a:t>
            </a:r>
            <a:r>
              <a:rPr sz="2000" dirty="0" err="1">
                <a:solidFill>
                  <a:srgbClr val="002850"/>
                </a:solidFill>
              </a:rPr>
              <a:t>tenemos</a:t>
            </a:r>
            <a:endParaRPr sz="2000" dirty="0">
              <a:solidFill>
                <a:srgbClr val="002850"/>
              </a:solidFill>
            </a:endParaRP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Vaciar</a:t>
            </a:r>
            <a:r>
              <a:rPr dirty="0">
                <a:solidFill>
                  <a:srgbClr val="002850"/>
                </a:solidFill>
              </a:rPr>
              <a:t> o </a:t>
            </a:r>
            <a:r>
              <a:rPr dirty="0" err="1">
                <a:solidFill>
                  <a:srgbClr val="002850"/>
                </a:solidFill>
              </a:rPr>
              <a:t>inicializar</a:t>
            </a:r>
            <a:r>
              <a:rPr dirty="0">
                <a:solidFill>
                  <a:srgbClr val="002850"/>
                </a:solidFill>
              </a:rPr>
              <a:t> el </a:t>
            </a:r>
            <a:r>
              <a:rPr dirty="0" err="1">
                <a:solidFill>
                  <a:srgbClr val="002850"/>
                </a:solidFill>
              </a:rPr>
              <a:t>Arbol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Arbol_Vaciar</a:t>
            </a:r>
            <a:r>
              <a:rPr sz="1600" i="1" dirty="0">
                <a:solidFill>
                  <a:srgbClr val="002850"/>
                </a:solidFill>
              </a:rPr>
              <a:t> ();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Eliminar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árbol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Arbol_Eliminar</a:t>
            </a:r>
            <a:r>
              <a:rPr sz="1600" i="1" dirty="0">
                <a:solidFill>
                  <a:srgbClr val="002850"/>
                </a:solidFill>
              </a:rPr>
              <a:t>(</a:t>
            </a:r>
            <a:r>
              <a:rPr sz="1600" i="1" dirty="0" err="1">
                <a:solidFill>
                  <a:srgbClr val="002850"/>
                </a:solidFill>
              </a:rPr>
              <a:t>Arbol</a:t>
            </a:r>
            <a:r>
              <a:rPr sz="1600" i="1" dirty="0">
                <a:solidFill>
                  <a:srgbClr val="002850"/>
                </a:solidFill>
              </a:rPr>
              <a:t> A);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Saber </a:t>
            </a:r>
            <a:r>
              <a:rPr dirty="0" err="1">
                <a:solidFill>
                  <a:srgbClr val="002850"/>
                </a:solidFill>
              </a:rPr>
              <a:t>si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árbol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esta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vacío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>
                <a:solidFill>
                  <a:srgbClr val="000000"/>
                </a:solidFill>
              </a:rPr>
              <a:t>public</a:t>
            </a:r>
            <a:r>
              <a:rPr lang="es-MX" sz="1600" i="1" dirty="0">
                <a:solidFill>
                  <a:srgbClr val="000000"/>
                </a:solidFill>
              </a:rPr>
              <a:t> </a:t>
            </a:r>
            <a:r>
              <a:rPr sz="1600" i="1" dirty="0">
                <a:solidFill>
                  <a:srgbClr val="002850"/>
                </a:solidFill>
              </a:rPr>
              <a:t>bool</a:t>
            </a:r>
            <a:r>
              <a:rPr lang="es-MX" sz="1600" i="1" dirty="0" err="1">
                <a:solidFill>
                  <a:srgbClr val="002850"/>
                </a:solidFill>
              </a:rPr>
              <a:t>ean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lang="es-MX" sz="1600" i="1" dirty="0" err="1">
                <a:solidFill>
                  <a:srgbClr val="002850"/>
                </a:solidFill>
              </a:rPr>
              <a:t>isEmpty</a:t>
            </a:r>
            <a:r>
              <a:rPr sz="1600" i="1" dirty="0">
                <a:solidFill>
                  <a:srgbClr val="002850"/>
                </a:solidFill>
              </a:rPr>
              <a:t>();</a:t>
            </a:r>
          </a:p>
          <a:p>
            <a:pPr marL="640896" lvl="1" indent="-183696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Recorrer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árbol</a:t>
            </a:r>
            <a:endParaRPr dirty="0">
              <a:solidFill>
                <a:srgbClr val="002850"/>
              </a:solidFill>
            </a:endParaRP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PreOrden</a:t>
            </a:r>
            <a:r>
              <a:rPr sz="1600" i="1" dirty="0">
                <a:solidFill>
                  <a:srgbClr val="002850"/>
                </a:solidFill>
              </a:rPr>
              <a:t>()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>
                <a:solidFill>
                  <a:srgbClr val="000000"/>
                </a:solidFill>
              </a:rPr>
              <a:t>public</a:t>
            </a:r>
            <a:r>
              <a:rPr lang="es-MX" sz="1600" i="1" dirty="0">
                <a:solidFill>
                  <a:srgbClr val="000000"/>
                </a:solidFill>
              </a:rPr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EnOrden</a:t>
            </a:r>
            <a:r>
              <a:rPr sz="1600" i="1" dirty="0">
                <a:solidFill>
                  <a:srgbClr val="002850"/>
                </a:solidFill>
              </a:rPr>
              <a:t>()</a:t>
            </a:r>
          </a:p>
          <a:p>
            <a:pPr marL="1085850" lvl="2" indent="-1524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lang="es-MX" sz="1600" i="1" dirty="0" err="1"/>
              <a:t>public</a:t>
            </a:r>
            <a:r>
              <a:rPr lang="es-MX" sz="1600" i="1" dirty="0"/>
              <a:t> </a:t>
            </a:r>
            <a:r>
              <a:rPr sz="1600" i="1" dirty="0">
                <a:solidFill>
                  <a:srgbClr val="002850"/>
                </a:solidFill>
              </a:rPr>
              <a:t>void </a:t>
            </a:r>
            <a:r>
              <a:rPr sz="1600" i="1" dirty="0" err="1">
                <a:solidFill>
                  <a:srgbClr val="002850"/>
                </a:solidFill>
              </a:rPr>
              <a:t>PostOrden</a:t>
            </a:r>
            <a:r>
              <a:rPr sz="1600" i="1" dirty="0">
                <a:solidFill>
                  <a:srgbClr val="002850"/>
                </a:solidFill>
              </a:rPr>
              <a:t>()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uild="p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AD938-AD10-134D-BAB3-CB50ECDBC01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0">
                <a:srgbClr val="005199"/>
              </a:gs>
              <a:gs pos="0">
                <a:srgbClr val="00529B"/>
              </a:gs>
              <a:gs pos="50000">
                <a:srgbClr val="003A7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/>
            <a:endParaRPr lang="en-GB" sz="1350" kern="12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B579-24DF-C54F-86FD-2222CDE2D99B}"/>
              </a:ext>
            </a:extLst>
          </p:cNvPr>
          <p:cNvSpPr txBox="1">
            <a:spLocks noChangeArrowheads="1"/>
          </p:cNvSpPr>
          <p:nvPr/>
        </p:nvSpPr>
        <p:spPr>
          <a:xfrm>
            <a:off x="2384722" y="3124302"/>
            <a:ext cx="4374596" cy="60939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/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Árboles</a:t>
            </a:r>
            <a:r>
              <a:rPr lang="en-US" altLang="en-US" b="1" dirty="0">
                <a:solidFill>
                  <a:prstClr val="white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1" dirty="0" err="1">
                <a:solidFill>
                  <a:prstClr val="white"/>
                </a:solidFill>
                <a:latin typeface="Gill Sans MT" panose="020B0502020104020203" pitchFamily="34" charset="0"/>
              </a:rPr>
              <a:t>Binarios</a:t>
            </a:r>
            <a:endParaRPr lang="en-US" altLang="en-US" dirty="0">
              <a:solidFill>
                <a:prstClr val="white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12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ARBOLES BINARIOS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4294967295"/>
          </p:nvPr>
        </p:nvSpPr>
        <p:spPr>
          <a:xfrm>
            <a:off x="479425" y="1627187"/>
            <a:ext cx="6324600" cy="4538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Tipo especial de árbol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Cada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no </a:t>
            </a:r>
            <a:r>
              <a:rPr sz="2000" dirty="0" err="1">
                <a:solidFill>
                  <a:srgbClr val="002850"/>
                </a:solidFill>
              </a:rPr>
              <a:t>puede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tener</a:t>
            </a:r>
            <a:r>
              <a:rPr sz="2000" dirty="0">
                <a:solidFill>
                  <a:srgbClr val="002850"/>
                </a:solidFill>
              </a:rPr>
              <a:t> mas de dos </a:t>
            </a:r>
            <a:r>
              <a:rPr sz="2000" dirty="0" err="1">
                <a:solidFill>
                  <a:srgbClr val="002850"/>
                </a:solidFill>
              </a:rPr>
              <a:t>hijos</a:t>
            </a:r>
            <a:r>
              <a:rPr sz="2000" dirty="0">
                <a:solidFill>
                  <a:srgbClr val="002850"/>
                </a:solidFill>
              </a:rPr>
              <a:t> 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Un árbol </a:t>
            </a:r>
            <a:r>
              <a:rPr sz="2400" dirty="0" err="1">
                <a:solidFill>
                  <a:srgbClr val="002850"/>
                </a:solidFill>
              </a:rPr>
              <a:t>puede</a:t>
            </a:r>
            <a:r>
              <a:rPr sz="2400" dirty="0">
                <a:solidFill>
                  <a:srgbClr val="002850"/>
                </a:solidFill>
              </a:rPr>
              <a:t> ser un conjunto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b="1" dirty="0" err="1">
                <a:solidFill>
                  <a:srgbClr val="002850"/>
                </a:solidFill>
              </a:rPr>
              <a:t>Vacío</a:t>
            </a:r>
            <a:r>
              <a:rPr sz="2000" dirty="0">
                <a:solidFill>
                  <a:srgbClr val="002850"/>
                </a:solidFill>
              </a:rPr>
              <a:t>, no </a:t>
            </a:r>
            <a:r>
              <a:rPr sz="2000" dirty="0" err="1">
                <a:solidFill>
                  <a:srgbClr val="002850"/>
                </a:solidFill>
              </a:rPr>
              <a:t>tiene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ningún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O </a:t>
            </a:r>
            <a:r>
              <a:rPr sz="2000" dirty="0" err="1">
                <a:solidFill>
                  <a:srgbClr val="002850"/>
                </a:solidFill>
              </a:rPr>
              <a:t>constar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tres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partes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1104900" lvl="2" indent="-1905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 dirty="0">
                <a:solidFill>
                  <a:srgbClr val="002850"/>
                </a:solidFill>
              </a:rPr>
              <a:t>Un </a:t>
            </a:r>
            <a:r>
              <a:rPr sz="2000" i="1" dirty="0" err="1">
                <a:solidFill>
                  <a:srgbClr val="002850"/>
                </a:solidFill>
              </a:rPr>
              <a:t>nodo</a:t>
            </a:r>
            <a:r>
              <a:rPr sz="2000" i="1" dirty="0">
                <a:solidFill>
                  <a:srgbClr val="002850"/>
                </a:solidFill>
              </a:rPr>
              <a:t> </a:t>
            </a:r>
            <a:r>
              <a:rPr sz="2000" i="1" dirty="0" err="1">
                <a:solidFill>
                  <a:srgbClr val="002850"/>
                </a:solidFill>
              </a:rPr>
              <a:t>raíz</a:t>
            </a:r>
            <a:r>
              <a:rPr sz="2000" i="1" dirty="0">
                <a:solidFill>
                  <a:srgbClr val="002850"/>
                </a:solidFill>
              </a:rPr>
              <a:t> y</a:t>
            </a:r>
          </a:p>
          <a:p>
            <a:pPr marL="1104900" lvl="2" indent="-1905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 dirty="0">
                <a:solidFill>
                  <a:srgbClr val="002850"/>
                </a:solidFill>
              </a:rPr>
              <a:t>Dos </a:t>
            </a:r>
            <a:r>
              <a:rPr sz="2000" i="1" dirty="0" err="1">
                <a:solidFill>
                  <a:srgbClr val="002850"/>
                </a:solidFill>
              </a:rPr>
              <a:t>subárboles</a:t>
            </a:r>
            <a:r>
              <a:rPr sz="2000" i="1" dirty="0">
                <a:solidFill>
                  <a:srgbClr val="002850"/>
                </a:solidFill>
              </a:rPr>
              <a:t> </a:t>
            </a:r>
            <a:r>
              <a:rPr sz="2000" i="1" dirty="0" err="1">
                <a:solidFill>
                  <a:srgbClr val="002850"/>
                </a:solidFill>
              </a:rPr>
              <a:t>binarios</a:t>
            </a:r>
            <a:r>
              <a:rPr sz="2000" i="1" dirty="0">
                <a:solidFill>
                  <a:srgbClr val="002850"/>
                </a:solidFill>
              </a:rPr>
              <a:t>: </a:t>
            </a:r>
            <a:r>
              <a:rPr sz="2000" i="1" dirty="0" err="1">
                <a:solidFill>
                  <a:srgbClr val="002850"/>
                </a:solidFill>
              </a:rPr>
              <a:t>izquierdo</a:t>
            </a:r>
            <a:r>
              <a:rPr sz="2000" i="1" dirty="0">
                <a:solidFill>
                  <a:srgbClr val="002850"/>
                </a:solidFill>
              </a:rPr>
              <a:t> y derecho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 </a:t>
            </a:r>
            <a:r>
              <a:rPr sz="2400" dirty="0" err="1">
                <a:solidFill>
                  <a:srgbClr val="002850"/>
                </a:solidFill>
              </a:rPr>
              <a:t>definición</a:t>
            </a:r>
            <a:r>
              <a:rPr sz="2400" dirty="0">
                <a:solidFill>
                  <a:srgbClr val="002850"/>
                </a:solidFill>
              </a:rPr>
              <a:t> de un árbol </a:t>
            </a:r>
            <a:r>
              <a:rPr sz="2400" dirty="0" err="1">
                <a:solidFill>
                  <a:srgbClr val="002850"/>
                </a:solidFill>
              </a:rPr>
              <a:t>binario</a:t>
            </a:r>
            <a:r>
              <a:rPr sz="2400" dirty="0">
                <a:solidFill>
                  <a:srgbClr val="002850"/>
                </a:solidFill>
              </a:rPr>
              <a:t> es </a:t>
            </a:r>
            <a:r>
              <a:rPr sz="2400" dirty="0" err="1">
                <a:solidFill>
                  <a:srgbClr val="002850"/>
                </a:solidFill>
              </a:rPr>
              <a:t>recursiva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La </a:t>
            </a:r>
            <a:r>
              <a:rPr sz="2000" dirty="0" err="1">
                <a:solidFill>
                  <a:srgbClr val="002850"/>
                </a:solidFill>
              </a:rPr>
              <a:t>definición</a:t>
            </a:r>
            <a:r>
              <a:rPr sz="2000" dirty="0">
                <a:solidFill>
                  <a:srgbClr val="002850"/>
                </a:solidFill>
              </a:rPr>
              <a:t> global </a:t>
            </a:r>
            <a:r>
              <a:rPr sz="2000" dirty="0" err="1">
                <a:solidFill>
                  <a:srgbClr val="002850"/>
                </a:solidFill>
              </a:rPr>
              <a:t>depende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si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misma</a:t>
            </a:r>
            <a:endParaRPr sz="2000" dirty="0">
              <a:solidFill>
                <a:srgbClr val="002850"/>
              </a:solidFill>
            </a:endParaRPr>
          </a:p>
        </p:txBody>
      </p:sp>
      <p:grpSp>
        <p:nvGrpSpPr>
          <p:cNvPr id="89" name="Group 89"/>
          <p:cNvGrpSpPr/>
          <p:nvPr/>
        </p:nvGrpSpPr>
        <p:grpSpPr>
          <a:xfrm>
            <a:off x="6707187" y="900430"/>
            <a:ext cx="1752601" cy="1539241"/>
            <a:chOff x="0" y="0"/>
            <a:chExt cx="1752600" cy="1539240"/>
          </a:xfrm>
        </p:grpSpPr>
        <p:grpSp>
          <p:nvGrpSpPr>
            <p:cNvPr id="76" name="Group 76"/>
            <p:cNvGrpSpPr/>
            <p:nvPr/>
          </p:nvGrpSpPr>
          <p:grpSpPr>
            <a:xfrm>
              <a:off x="533400" y="-1"/>
              <a:ext cx="381000" cy="396241"/>
              <a:chOff x="0" y="0"/>
              <a:chExt cx="381000" cy="396240"/>
            </a:xfrm>
          </p:grpSpPr>
          <p:sp>
            <p:nvSpPr>
              <p:cNvPr id="74" name="Shape 74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" name="Shape 75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0" y="609599"/>
              <a:ext cx="381000" cy="396241"/>
              <a:chOff x="0" y="0"/>
              <a:chExt cx="381000" cy="396240"/>
            </a:xfrm>
          </p:grpSpPr>
          <p:sp>
            <p:nvSpPr>
              <p:cNvPr id="77" name="Shape 77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" name="Shape 78"/>
              <p:cNvSpPr/>
              <p:nvPr/>
            </p:nvSpPr>
            <p:spPr>
              <a:xfrm>
                <a:off x="63581" y="-1"/>
                <a:ext cx="25383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B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066800" y="533399"/>
              <a:ext cx="381000" cy="396241"/>
              <a:chOff x="0" y="0"/>
              <a:chExt cx="381000" cy="396240"/>
            </a:xfrm>
          </p:grpSpPr>
          <p:sp>
            <p:nvSpPr>
              <p:cNvPr id="80" name="Shape 80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" name="Shape 81"/>
              <p:cNvSpPr/>
              <p:nvPr/>
            </p:nvSpPr>
            <p:spPr>
              <a:xfrm>
                <a:off x="62155" y="-1"/>
                <a:ext cx="25669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C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371600" y="1142999"/>
              <a:ext cx="381000" cy="396241"/>
              <a:chOff x="0" y="0"/>
              <a:chExt cx="381000" cy="396240"/>
            </a:xfrm>
          </p:grpSpPr>
          <p:sp>
            <p:nvSpPr>
              <p:cNvPr id="83" name="Shape 83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4" name="Shape 84"/>
              <p:cNvSpPr/>
              <p:nvPr/>
            </p:nvSpPr>
            <p:spPr>
              <a:xfrm>
                <a:off x="52295" y="-1"/>
                <a:ext cx="27641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D</a:t>
                </a:r>
              </a:p>
            </p:txBody>
          </p:sp>
        </p:grpSp>
        <p:sp>
          <p:nvSpPr>
            <p:cNvPr id="86" name="Shape 86"/>
            <p:cNvSpPr/>
            <p:nvPr/>
          </p:nvSpPr>
          <p:spPr>
            <a:xfrm flipH="1">
              <a:off x="325437" y="333057"/>
              <a:ext cx="2635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858837" y="333057"/>
              <a:ext cx="2635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1392237" y="866457"/>
              <a:ext cx="169863" cy="2841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90" name="Shape 90"/>
          <p:cNvSpPr/>
          <p:nvPr/>
        </p:nvSpPr>
        <p:spPr>
          <a:xfrm>
            <a:off x="6043472" y="3579100"/>
            <a:ext cx="1722522" cy="1858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7" h="20007" extrusionOk="0">
                <a:moveTo>
                  <a:pt x="6181" y="1041"/>
                </a:moveTo>
                <a:cubicBezTo>
                  <a:pt x="8516" y="-1359"/>
                  <a:pt x="12164" y="1041"/>
                  <a:pt x="14062" y="1799"/>
                </a:cubicBezTo>
                <a:cubicBezTo>
                  <a:pt x="15959" y="2557"/>
                  <a:pt x="16397" y="4199"/>
                  <a:pt x="17564" y="5588"/>
                </a:cubicBezTo>
                <a:cubicBezTo>
                  <a:pt x="18732" y="6978"/>
                  <a:pt x="20921" y="8494"/>
                  <a:pt x="21067" y="10136"/>
                </a:cubicBezTo>
                <a:cubicBezTo>
                  <a:pt x="21213" y="11778"/>
                  <a:pt x="19608" y="13925"/>
                  <a:pt x="18440" y="15441"/>
                </a:cubicBezTo>
                <a:cubicBezTo>
                  <a:pt x="17272" y="16957"/>
                  <a:pt x="15667" y="18852"/>
                  <a:pt x="14062" y="19230"/>
                </a:cubicBezTo>
                <a:cubicBezTo>
                  <a:pt x="12456" y="19609"/>
                  <a:pt x="10559" y="17588"/>
                  <a:pt x="8808" y="17715"/>
                </a:cubicBezTo>
                <a:cubicBezTo>
                  <a:pt x="7056" y="17841"/>
                  <a:pt x="5013" y="20241"/>
                  <a:pt x="3554" y="19988"/>
                </a:cubicBezTo>
                <a:cubicBezTo>
                  <a:pt x="2094" y="19736"/>
                  <a:pt x="-387" y="19357"/>
                  <a:pt x="51" y="16199"/>
                </a:cubicBezTo>
                <a:cubicBezTo>
                  <a:pt x="489" y="13041"/>
                  <a:pt x="3845" y="3441"/>
                  <a:pt x="6181" y="1041"/>
                </a:cubicBezTo>
                <a:close/>
              </a:path>
            </a:pathLst>
          </a:custGeom>
          <a:solidFill>
            <a:srgbClr val="CCFFCC">
              <a:alpha val="50195"/>
            </a:srgbClr>
          </a:solidFill>
          <a:ln>
            <a:solidFill>
              <a:srgbClr val="800080"/>
            </a:solidFill>
            <a:miter/>
          </a:ln>
        </p:spPr>
        <p:txBody>
          <a:bodyPr lIns="0" tIns="0" rIns="0" bIns="0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" name="Shape 91"/>
          <p:cNvSpPr/>
          <p:nvPr/>
        </p:nvSpPr>
        <p:spPr>
          <a:xfrm>
            <a:off x="7838201" y="3647414"/>
            <a:ext cx="1224124" cy="1871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5" h="20938" extrusionOk="0">
                <a:moveTo>
                  <a:pt x="9300" y="381"/>
                </a:moveTo>
                <a:cubicBezTo>
                  <a:pt x="11504" y="-472"/>
                  <a:pt x="14369" y="239"/>
                  <a:pt x="15912" y="1233"/>
                </a:cubicBezTo>
                <a:cubicBezTo>
                  <a:pt x="17455" y="2228"/>
                  <a:pt x="17675" y="5070"/>
                  <a:pt x="18557" y="6349"/>
                </a:cubicBezTo>
                <a:cubicBezTo>
                  <a:pt x="19438" y="7628"/>
                  <a:pt x="20981" y="7628"/>
                  <a:pt x="21202" y="8907"/>
                </a:cubicBezTo>
                <a:cubicBezTo>
                  <a:pt x="21422" y="10186"/>
                  <a:pt x="20761" y="13028"/>
                  <a:pt x="19879" y="14023"/>
                </a:cubicBezTo>
                <a:cubicBezTo>
                  <a:pt x="18998" y="15017"/>
                  <a:pt x="16793" y="14023"/>
                  <a:pt x="15912" y="14875"/>
                </a:cubicBezTo>
                <a:cubicBezTo>
                  <a:pt x="15030" y="15728"/>
                  <a:pt x="15471" y="18144"/>
                  <a:pt x="14589" y="19139"/>
                </a:cubicBezTo>
                <a:cubicBezTo>
                  <a:pt x="13708" y="20133"/>
                  <a:pt x="12165" y="20702"/>
                  <a:pt x="10622" y="20844"/>
                </a:cubicBezTo>
                <a:cubicBezTo>
                  <a:pt x="9079" y="20986"/>
                  <a:pt x="6214" y="21128"/>
                  <a:pt x="5332" y="19991"/>
                </a:cubicBezTo>
                <a:cubicBezTo>
                  <a:pt x="4451" y="18854"/>
                  <a:pt x="5993" y="15302"/>
                  <a:pt x="5332" y="14023"/>
                </a:cubicBezTo>
                <a:cubicBezTo>
                  <a:pt x="4671" y="12744"/>
                  <a:pt x="2246" y="13028"/>
                  <a:pt x="1365" y="12317"/>
                </a:cubicBezTo>
                <a:cubicBezTo>
                  <a:pt x="483" y="11607"/>
                  <a:pt x="-178" y="10754"/>
                  <a:pt x="42" y="9760"/>
                </a:cubicBezTo>
                <a:cubicBezTo>
                  <a:pt x="263" y="8765"/>
                  <a:pt x="1144" y="7912"/>
                  <a:pt x="2687" y="6349"/>
                </a:cubicBezTo>
                <a:cubicBezTo>
                  <a:pt x="4230" y="4786"/>
                  <a:pt x="7095" y="1233"/>
                  <a:pt x="9300" y="381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31" name="Group 131"/>
          <p:cNvGrpSpPr/>
          <p:nvPr/>
        </p:nvGrpSpPr>
        <p:grpSpPr>
          <a:xfrm>
            <a:off x="6088062" y="3292792"/>
            <a:ext cx="2895601" cy="2072641"/>
            <a:chOff x="0" y="0"/>
            <a:chExt cx="2895600" cy="2072640"/>
          </a:xfrm>
        </p:grpSpPr>
        <p:grpSp>
          <p:nvGrpSpPr>
            <p:cNvPr id="94" name="Group 94"/>
            <p:cNvGrpSpPr/>
            <p:nvPr/>
          </p:nvGrpSpPr>
          <p:grpSpPr>
            <a:xfrm>
              <a:off x="1457325" y="-1"/>
              <a:ext cx="381000" cy="396241"/>
              <a:chOff x="0" y="0"/>
              <a:chExt cx="381000" cy="396240"/>
            </a:xfrm>
          </p:grpSpPr>
          <p:sp>
            <p:nvSpPr>
              <p:cNvPr id="92" name="Shape 92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3" name="Shape 93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771525" y="533399"/>
              <a:ext cx="381000" cy="396241"/>
              <a:chOff x="0" y="0"/>
              <a:chExt cx="381000" cy="396240"/>
            </a:xfrm>
          </p:grpSpPr>
          <p:sp>
            <p:nvSpPr>
              <p:cNvPr id="95" name="Shape 95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6" name="Shape 96"/>
              <p:cNvSpPr/>
              <p:nvPr/>
            </p:nvSpPr>
            <p:spPr>
              <a:xfrm>
                <a:off x="63581" y="-1"/>
                <a:ext cx="25383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 dirty="0"/>
                  <a:t>B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209800" y="533399"/>
              <a:ext cx="381000" cy="396241"/>
              <a:chOff x="0" y="0"/>
              <a:chExt cx="381000" cy="396240"/>
            </a:xfrm>
          </p:grpSpPr>
          <p:sp>
            <p:nvSpPr>
              <p:cNvPr id="98" name="Shape 98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99" name="Shape 99"/>
              <p:cNvSpPr/>
              <p:nvPr/>
            </p:nvSpPr>
            <p:spPr>
              <a:xfrm>
                <a:off x="62155" y="-1"/>
                <a:ext cx="25669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C</a:t>
                </a: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74650" y="1066799"/>
              <a:ext cx="381000" cy="396241"/>
              <a:chOff x="0" y="0"/>
              <a:chExt cx="381000" cy="396240"/>
            </a:xfrm>
          </p:grpSpPr>
          <p:sp>
            <p:nvSpPr>
              <p:cNvPr id="101" name="Shape 101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2" name="Shape 102"/>
              <p:cNvSpPr/>
              <p:nvPr/>
            </p:nvSpPr>
            <p:spPr>
              <a:xfrm>
                <a:off x="52295" y="-1"/>
                <a:ext cx="27641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D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1228725" y="1066799"/>
              <a:ext cx="381000" cy="396241"/>
              <a:chOff x="0" y="0"/>
              <a:chExt cx="381000" cy="396240"/>
            </a:xfrm>
          </p:grpSpPr>
          <p:sp>
            <p:nvSpPr>
              <p:cNvPr id="104" name="Shape 104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5" name="Shape 105"/>
              <p:cNvSpPr/>
              <p:nvPr/>
            </p:nvSpPr>
            <p:spPr>
              <a:xfrm>
                <a:off x="67178" y="-1"/>
                <a:ext cx="24664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E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0" y="1631949"/>
              <a:ext cx="381000" cy="396241"/>
              <a:chOff x="0" y="0"/>
              <a:chExt cx="381000" cy="396240"/>
            </a:xfrm>
          </p:grpSpPr>
          <p:sp>
            <p:nvSpPr>
              <p:cNvPr id="107" name="Shape 107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08" name="Shape 108"/>
              <p:cNvSpPr/>
              <p:nvPr/>
            </p:nvSpPr>
            <p:spPr>
              <a:xfrm>
                <a:off x="52667" y="-1"/>
                <a:ext cx="275666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H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784225" y="1616074"/>
              <a:ext cx="381000" cy="396241"/>
              <a:chOff x="0" y="0"/>
              <a:chExt cx="381000" cy="396240"/>
            </a:xfrm>
          </p:grpSpPr>
          <p:sp>
            <p:nvSpPr>
              <p:cNvPr id="110" name="Shape 110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1" name="Shape 111"/>
              <p:cNvSpPr/>
              <p:nvPr/>
            </p:nvSpPr>
            <p:spPr>
              <a:xfrm>
                <a:off x="91053" y="-1"/>
                <a:ext cx="1988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I</a:t>
                </a: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1828800" y="1066799"/>
              <a:ext cx="381000" cy="396241"/>
              <a:chOff x="0" y="0"/>
              <a:chExt cx="381000" cy="396240"/>
            </a:xfrm>
          </p:grpSpPr>
          <p:sp>
            <p:nvSpPr>
              <p:cNvPr id="113" name="Shape 113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4" name="Shape 114"/>
              <p:cNvSpPr/>
              <p:nvPr/>
            </p:nvSpPr>
            <p:spPr>
              <a:xfrm>
                <a:off x="72201" y="-1"/>
                <a:ext cx="23659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F</a:t>
                </a: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2514600" y="1066799"/>
              <a:ext cx="381000" cy="396241"/>
              <a:chOff x="0" y="0"/>
              <a:chExt cx="381000" cy="396240"/>
            </a:xfrm>
          </p:grpSpPr>
          <p:sp>
            <p:nvSpPr>
              <p:cNvPr id="116" name="Shape 116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17" name="Shape 117"/>
              <p:cNvSpPr/>
              <p:nvPr/>
            </p:nvSpPr>
            <p:spPr>
              <a:xfrm>
                <a:off x="53659" y="-1"/>
                <a:ext cx="27368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G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2133600" y="1676399"/>
              <a:ext cx="381000" cy="396241"/>
              <a:chOff x="0" y="0"/>
              <a:chExt cx="381000" cy="396240"/>
            </a:xfrm>
          </p:grpSpPr>
          <p:sp>
            <p:nvSpPr>
              <p:cNvPr id="119" name="Shape 119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20" name="Shape 120"/>
              <p:cNvSpPr/>
              <p:nvPr/>
            </p:nvSpPr>
            <p:spPr>
              <a:xfrm>
                <a:off x="85534" y="-1"/>
                <a:ext cx="20993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J</a:t>
                </a:r>
              </a:p>
            </p:txBody>
          </p:sp>
        </p:grpSp>
        <p:sp>
          <p:nvSpPr>
            <p:cNvPr id="122" name="Shape 122"/>
            <p:cNvSpPr/>
            <p:nvPr/>
          </p:nvSpPr>
          <p:spPr>
            <a:xfrm flipH="1">
              <a:off x="1096962" y="333057"/>
              <a:ext cx="4159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 flipH="1">
              <a:off x="700087" y="866457"/>
              <a:ext cx="127001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1096962" y="866457"/>
              <a:ext cx="187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 flipH="1">
              <a:off x="325437" y="1399857"/>
              <a:ext cx="104776" cy="2952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700087" y="1399857"/>
              <a:ext cx="139701" cy="279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1782762" y="333057"/>
              <a:ext cx="482601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8" name="Shape 128"/>
            <p:cNvSpPr/>
            <p:nvPr/>
          </p:nvSpPr>
          <p:spPr>
            <a:xfrm flipH="1">
              <a:off x="2154237" y="866457"/>
              <a:ext cx="111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9" name="Shape 129"/>
            <p:cNvSpPr/>
            <p:nvPr/>
          </p:nvSpPr>
          <p:spPr>
            <a:xfrm>
              <a:off x="2535237" y="866457"/>
              <a:ext cx="169863" cy="2079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 flipH="1">
              <a:off x="2459037" y="1399857"/>
              <a:ext cx="1111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926262" y="2843212"/>
            <a:ext cx="1371601" cy="457201"/>
            <a:chOff x="0" y="0"/>
            <a:chExt cx="1371599" cy="457200"/>
          </a:xfrm>
        </p:grpSpPr>
        <p:sp>
          <p:nvSpPr>
            <p:cNvPr id="132" name="Shape 132"/>
            <p:cNvSpPr/>
            <p:nvPr/>
          </p:nvSpPr>
          <p:spPr>
            <a:xfrm>
              <a:off x="0" y="76199"/>
              <a:ext cx="533400" cy="3810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152400" y="0"/>
              <a:ext cx="121920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RAIZ</a:t>
              </a:r>
            </a:p>
          </p:txBody>
        </p:sp>
      </p:grpSp>
      <p:sp>
        <p:nvSpPr>
          <p:cNvPr id="135" name="Shape 135"/>
          <p:cNvSpPr/>
          <p:nvPr/>
        </p:nvSpPr>
        <p:spPr>
          <a:xfrm>
            <a:off x="6088062" y="5510212"/>
            <a:ext cx="1295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Sub. Izq.</a:t>
            </a:r>
          </a:p>
        </p:txBody>
      </p:sp>
      <p:sp>
        <p:nvSpPr>
          <p:cNvPr id="136" name="Shape 136"/>
          <p:cNvSpPr/>
          <p:nvPr/>
        </p:nvSpPr>
        <p:spPr>
          <a:xfrm>
            <a:off x="7764462" y="5510212"/>
            <a:ext cx="1295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Sub. Der.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 animBg="1" advAuto="0"/>
      <p:bldP spid="89" grpId="0" animBg="1" advAuto="0"/>
      <p:bldP spid="90" grpId="0" animBg="1" advAuto="0"/>
      <p:bldP spid="91" grpId="0" animBg="1" advAuto="0"/>
      <p:bldP spid="131" grpId="0" animBg="1" advAuto="0"/>
      <p:bldP spid="134" grpId="0" animBg="1" advAuto="0"/>
      <p:bldP spid="135" grpId="0" animBg="1" advAuto="0"/>
      <p:bldP spid="136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 idx="4294967295"/>
          </p:nvPr>
        </p:nvSpPr>
        <p:spPr>
          <a:xfrm>
            <a:off x="381000" y="533399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ARBOLES BINARIOS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idx="4294967295"/>
          </p:nvPr>
        </p:nvSpPr>
        <p:spPr>
          <a:xfrm>
            <a:off x="479425" y="1627187"/>
            <a:ext cx="6324600" cy="4538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Tipo especial de árbol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Cada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no </a:t>
            </a:r>
            <a:r>
              <a:rPr sz="2000" dirty="0" err="1">
                <a:solidFill>
                  <a:srgbClr val="002850"/>
                </a:solidFill>
              </a:rPr>
              <a:t>puede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tener</a:t>
            </a:r>
            <a:r>
              <a:rPr sz="2000" dirty="0">
                <a:solidFill>
                  <a:srgbClr val="002850"/>
                </a:solidFill>
              </a:rPr>
              <a:t> mas de dos </a:t>
            </a:r>
            <a:r>
              <a:rPr sz="2000" dirty="0" err="1">
                <a:solidFill>
                  <a:srgbClr val="002850"/>
                </a:solidFill>
              </a:rPr>
              <a:t>hijos</a:t>
            </a:r>
            <a:r>
              <a:rPr sz="2000" dirty="0">
                <a:solidFill>
                  <a:srgbClr val="002850"/>
                </a:solidFill>
              </a:rPr>
              <a:t> 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Un árbol </a:t>
            </a:r>
            <a:r>
              <a:rPr sz="2400" dirty="0" err="1">
                <a:solidFill>
                  <a:srgbClr val="002850"/>
                </a:solidFill>
              </a:rPr>
              <a:t>puede</a:t>
            </a:r>
            <a:r>
              <a:rPr sz="2400" dirty="0">
                <a:solidFill>
                  <a:srgbClr val="002850"/>
                </a:solidFill>
              </a:rPr>
              <a:t> ser un conjunto</a:t>
            </a: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b="1" dirty="0" err="1">
                <a:solidFill>
                  <a:srgbClr val="002850"/>
                </a:solidFill>
              </a:rPr>
              <a:t>Vacío</a:t>
            </a:r>
            <a:r>
              <a:rPr sz="2000" dirty="0">
                <a:solidFill>
                  <a:srgbClr val="002850"/>
                </a:solidFill>
              </a:rPr>
              <a:t>, no </a:t>
            </a:r>
            <a:r>
              <a:rPr sz="2000" dirty="0" err="1">
                <a:solidFill>
                  <a:srgbClr val="002850"/>
                </a:solidFill>
              </a:rPr>
              <a:t>tiene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ningún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endParaRPr sz="20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O </a:t>
            </a:r>
            <a:r>
              <a:rPr sz="2000" dirty="0" err="1">
                <a:solidFill>
                  <a:srgbClr val="002850"/>
                </a:solidFill>
              </a:rPr>
              <a:t>constar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tres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partes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1104900" lvl="2" indent="-1905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 dirty="0">
                <a:solidFill>
                  <a:srgbClr val="002850"/>
                </a:solidFill>
              </a:rPr>
              <a:t>Un </a:t>
            </a:r>
            <a:r>
              <a:rPr sz="2000" i="1" dirty="0" err="1">
                <a:solidFill>
                  <a:srgbClr val="002850"/>
                </a:solidFill>
              </a:rPr>
              <a:t>nodo</a:t>
            </a:r>
            <a:r>
              <a:rPr sz="2000" i="1" dirty="0">
                <a:solidFill>
                  <a:srgbClr val="002850"/>
                </a:solidFill>
              </a:rPr>
              <a:t> </a:t>
            </a:r>
            <a:r>
              <a:rPr sz="2000" i="1" dirty="0" err="1">
                <a:solidFill>
                  <a:srgbClr val="002850"/>
                </a:solidFill>
              </a:rPr>
              <a:t>raíz</a:t>
            </a:r>
            <a:r>
              <a:rPr sz="2000" i="1" dirty="0">
                <a:solidFill>
                  <a:srgbClr val="002850"/>
                </a:solidFill>
              </a:rPr>
              <a:t> y</a:t>
            </a:r>
          </a:p>
          <a:p>
            <a:pPr marL="1104900" lvl="2" indent="-1905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defRPr sz="1800">
                <a:solidFill>
                  <a:srgbClr val="000000"/>
                </a:solidFill>
              </a:defRPr>
            </a:pPr>
            <a:r>
              <a:rPr sz="2000" i="1" dirty="0">
                <a:solidFill>
                  <a:srgbClr val="002850"/>
                </a:solidFill>
              </a:rPr>
              <a:t>Dos </a:t>
            </a:r>
            <a:r>
              <a:rPr sz="2000" i="1" dirty="0" err="1">
                <a:solidFill>
                  <a:srgbClr val="002850"/>
                </a:solidFill>
              </a:rPr>
              <a:t>subárboles</a:t>
            </a:r>
            <a:r>
              <a:rPr sz="2000" i="1" dirty="0">
                <a:solidFill>
                  <a:srgbClr val="002850"/>
                </a:solidFill>
              </a:rPr>
              <a:t> </a:t>
            </a:r>
            <a:r>
              <a:rPr sz="2000" i="1" dirty="0" err="1">
                <a:solidFill>
                  <a:srgbClr val="002850"/>
                </a:solidFill>
              </a:rPr>
              <a:t>binarios</a:t>
            </a:r>
            <a:r>
              <a:rPr sz="2000" i="1" dirty="0">
                <a:solidFill>
                  <a:srgbClr val="002850"/>
                </a:solidFill>
              </a:rPr>
              <a:t>: </a:t>
            </a:r>
            <a:r>
              <a:rPr sz="2000" i="1" dirty="0" err="1">
                <a:solidFill>
                  <a:srgbClr val="002850"/>
                </a:solidFill>
              </a:rPr>
              <a:t>izquierdo</a:t>
            </a:r>
            <a:r>
              <a:rPr sz="2000" i="1" dirty="0">
                <a:solidFill>
                  <a:srgbClr val="002850"/>
                </a:solidFill>
              </a:rPr>
              <a:t> y derecho</a:t>
            </a:r>
          </a:p>
          <a:p>
            <a:pPr marL="257175" lvl="0" indent="-257175">
              <a:lnSpc>
                <a:spcPct val="12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 </a:t>
            </a:r>
            <a:r>
              <a:rPr sz="2400" dirty="0" err="1">
                <a:solidFill>
                  <a:srgbClr val="002850"/>
                </a:solidFill>
              </a:rPr>
              <a:t>definición</a:t>
            </a:r>
            <a:r>
              <a:rPr sz="2400" dirty="0">
                <a:solidFill>
                  <a:srgbClr val="002850"/>
                </a:solidFill>
              </a:rPr>
              <a:t> de un árbol </a:t>
            </a:r>
            <a:r>
              <a:rPr sz="2400" dirty="0" err="1">
                <a:solidFill>
                  <a:srgbClr val="002850"/>
                </a:solidFill>
              </a:rPr>
              <a:t>binario</a:t>
            </a:r>
            <a:r>
              <a:rPr sz="2400" dirty="0">
                <a:solidFill>
                  <a:srgbClr val="002850"/>
                </a:solidFill>
              </a:rPr>
              <a:t> es </a:t>
            </a:r>
            <a:r>
              <a:rPr sz="2400" dirty="0" err="1">
                <a:solidFill>
                  <a:srgbClr val="002850"/>
                </a:solidFill>
              </a:rPr>
              <a:t>recursiva</a:t>
            </a:r>
            <a:endParaRPr sz="2400" dirty="0">
              <a:solidFill>
                <a:srgbClr val="002850"/>
              </a:solidFill>
            </a:endParaRPr>
          </a:p>
          <a:p>
            <a:pPr marL="661307" lvl="1" indent="-204107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La </a:t>
            </a:r>
            <a:r>
              <a:rPr sz="2000" dirty="0" err="1">
                <a:solidFill>
                  <a:srgbClr val="002850"/>
                </a:solidFill>
              </a:rPr>
              <a:t>definición</a:t>
            </a:r>
            <a:r>
              <a:rPr sz="2000" dirty="0">
                <a:solidFill>
                  <a:srgbClr val="002850"/>
                </a:solidFill>
              </a:rPr>
              <a:t> global </a:t>
            </a:r>
            <a:r>
              <a:rPr sz="2000" dirty="0" err="1">
                <a:solidFill>
                  <a:srgbClr val="002850"/>
                </a:solidFill>
              </a:rPr>
              <a:t>depende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si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misma</a:t>
            </a:r>
            <a:endParaRPr sz="2000" dirty="0">
              <a:solidFill>
                <a:srgbClr val="002850"/>
              </a:solidFill>
            </a:endParaRPr>
          </a:p>
        </p:txBody>
      </p:sp>
      <p:grpSp>
        <p:nvGrpSpPr>
          <p:cNvPr id="89" name="Group 89"/>
          <p:cNvGrpSpPr/>
          <p:nvPr/>
        </p:nvGrpSpPr>
        <p:grpSpPr>
          <a:xfrm>
            <a:off x="6707187" y="900430"/>
            <a:ext cx="1752601" cy="1539241"/>
            <a:chOff x="0" y="0"/>
            <a:chExt cx="1752600" cy="1539240"/>
          </a:xfrm>
        </p:grpSpPr>
        <p:grpSp>
          <p:nvGrpSpPr>
            <p:cNvPr id="76" name="Group 76"/>
            <p:cNvGrpSpPr/>
            <p:nvPr/>
          </p:nvGrpSpPr>
          <p:grpSpPr>
            <a:xfrm>
              <a:off x="533400" y="-1"/>
              <a:ext cx="381000" cy="396241"/>
              <a:chOff x="0" y="0"/>
              <a:chExt cx="381000" cy="396240"/>
            </a:xfrm>
          </p:grpSpPr>
          <p:sp>
            <p:nvSpPr>
              <p:cNvPr id="74" name="Shape 74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5" name="Shape 75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0" y="609599"/>
              <a:ext cx="381000" cy="396241"/>
              <a:chOff x="0" y="0"/>
              <a:chExt cx="381000" cy="396240"/>
            </a:xfrm>
          </p:grpSpPr>
          <p:sp>
            <p:nvSpPr>
              <p:cNvPr id="77" name="Shape 77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78" name="Shape 78"/>
              <p:cNvSpPr/>
              <p:nvPr/>
            </p:nvSpPr>
            <p:spPr>
              <a:xfrm>
                <a:off x="63581" y="-1"/>
                <a:ext cx="25383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B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1066800" y="533399"/>
              <a:ext cx="381000" cy="396241"/>
              <a:chOff x="0" y="0"/>
              <a:chExt cx="381000" cy="396240"/>
            </a:xfrm>
          </p:grpSpPr>
          <p:sp>
            <p:nvSpPr>
              <p:cNvPr id="80" name="Shape 80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1" name="Shape 81"/>
              <p:cNvSpPr/>
              <p:nvPr/>
            </p:nvSpPr>
            <p:spPr>
              <a:xfrm>
                <a:off x="62155" y="-1"/>
                <a:ext cx="25669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C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371600" y="1142999"/>
              <a:ext cx="381000" cy="396241"/>
              <a:chOff x="0" y="0"/>
              <a:chExt cx="381000" cy="396240"/>
            </a:xfrm>
          </p:grpSpPr>
          <p:sp>
            <p:nvSpPr>
              <p:cNvPr id="83" name="Shape 83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84" name="Shape 84"/>
              <p:cNvSpPr/>
              <p:nvPr/>
            </p:nvSpPr>
            <p:spPr>
              <a:xfrm>
                <a:off x="52295" y="-1"/>
                <a:ext cx="27641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D</a:t>
                </a:r>
              </a:p>
            </p:txBody>
          </p:sp>
        </p:grpSp>
        <p:sp>
          <p:nvSpPr>
            <p:cNvPr id="86" name="Shape 86"/>
            <p:cNvSpPr/>
            <p:nvPr/>
          </p:nvSpPr>
          <p:spPr>
            <a:xfrm flipH="1">
              <a:off x="325437" y="333057"/>
              <a:ext cx="2635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858837" y="333057"/>
              <a:ext cx="2635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1392237" y="866457"/>
              <a:ext cx="169863" cy="2841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90" name="Shape 90"/>
          <p:cNvSpPr/>
          <p:nvPr/>
        </p:nvSpPr>
        <p:spPr>
          <a:xfrm>
            <a:off x="6043472" y="3579100"/>
            <a:ext cx="1722522" cy="1858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7" h="20007" extrusionOk="0">
                <a:moveTo>
                  <a:pt x="6181" y="1041"/>
                </a:moveTo>
                <a:cubicBezTo>
                  <a:pt x="8516" y="-1359"/>
                  <a:pt x="12164" y="1041"/>
                  <a:pt x="14062" y="1799"/>
                </a:cubicBezTo>
                <a:cubicBezTo>
                  <a:pt x="15959" y="2557"/>
                  <a:pt x="16397" y="4199"/>
                  <a:pt x="17564" y="5588"/>
                </a:cubicBezTo>
                <a:cubicBezTo>
                  <a:pt x="18732" y="6978"/>
                  <a:pt x="20921" y="8494"/>
                  <a:pt x="21067" y="10136"/>
                </a:cubicBezTo>
                <a:cubicBezTo>
                  <a:pt x="21213" y="11778"/>
                  <a:pt x="19608" y="13925"/>
                  <a:pt x="18440" y="15441"/>
                </a:cubicBezTo>
                <a:cubicBezTo>
                  <a:pt x="17272" y="16957"/>
                  <a:pt x="15667" y="18852"/>
                  <a:pt x="14062" y="19230"/>
                </a:cubicBezTo>
                <a:cubicBezTo>
                  <a:pt x="12456" y="19609"/>
                  <a:pt x="10559" y="17588"/>
                  <a:pt x="8808" y="17715"/>
                </a:cubicBezTo>
                <a:cubicBezTo>
                  <a:pt x="7056" y="17841"/>
                  <a:pt x="5013" y="20241"/>
                  <a:pt x="3554" y="19988"/>
                </a:cubicBezTo>
                <a:cubicBezTo>
                  <a:pt x="2094" y="19736"/>
                  <a:pt x="-387" y="19357"/>
                  <a:pt x="51" y="16199"/>
                </a:cubicBezTo>
                <a:cubicBezTo>
                  <a:pt x="489" y="13041"/>
                  <a:pt x="3845" y="3441"/>
                  <a:pt x="6181" y="1041"/>
                </a:cubicBezTo>
                <a:close/>
              </a:path>
            </a:pathLst>
          </a:custGeom>
          <a:solidFill>
            <a:srgbClr val="CCFFCC">
              <a:alpha val="50195"/>
            </a:srgbClr>
          </a:solidFill>
          <a:ln>
            <a:solidFill>
              <a:srgbClr val="800080"/>
            </a:solidFill>
            <a:miter/>
          </a:ln>
        </p:spPr>
        <p:txBody>
          <a:bodyPr lIns="0" tIns="0" rIns="0" bIns="0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" name="Shape 91"/>
          <p:cNvSpPr/>
          <p:nvPr/>
        </p:nvSpPr>
        <p:spPr>
          <a:xfrm>
            <a:off x="7838201" y="3647414"/>
            <a:ext cx="1224124" cy="1871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5" h="20938" extrusionOk="0">
                <a:moveTo>
                  <a:pt x="9300" y="381"/>
                </a:moveTo>
                <a:cubicBezTo>
                  <a:pt x="11504" y="-472"/>
                  <a:pt x="14369" y="239"/>
                  <a:pt x="15912" y="1233"/>
                </a:cubicBezTo>
                <a:cubicBezTo>
                  <a:pt x="17455" y="2228"/>
                  <a:pt x="17675" y="5070"/>
                  <a:pt x="18557" y="6349"/>
                </a:cubicBezTo>
                <a:cubicBezTo>
                  <a:pt x="19438" y="7628"/>
                  <a:pt x="20981" y="7628"/>
                  <a:pt x="21202" y="8907"/>
                </a:cubicBezTo>
                <a:cubicBezTo>
                  <a:pt x="21422" y="10186"/>
                  <a:pt x="20761" y="13028"/>
                  <a:pt x="19879" y="14023"/>
                </a:cubicBezTo>
                <a:cubicBezTo>
                  <a:pt x="18998" y="15017"/>
                  <a:pt x="16793" y="14023"/>
                  <a:pt x="15912" y="14875"/>
                </a:cubicBezTo>
                <a:cubicBezTo>
                  <a:pt x="15030" y="15728"/>
                  <a:pt x="15471" y="18144"/>
                  <a:pt x="14589" y="19139"/>
                </a:cubicBezTo>
                <a:cubicBezTo>
                  <a:pt x="13708" y="20133"/>
                  <a:pt x="12165" y="20702"/>
                  <a:pt x="10622" y="20844"/>
                </a:cubicBezTo>
                <a:cubicBezTo>
                  <a:pt x="9079" y="20986"/>
                  <a:pt x="6214" y="21128"/>
                  <a:pt x="5332" y="19991"/>
                </a:cubicBezTo>
                <a:cubicBezTo>
                  <a:pt x="4451" y="18854"/>
                  <a:pt x="5993" y="15302"/>
                  <a:pt x="5332" y="14023"/>
                </a:cubicBezTo>
                <a:cubicBezTo>
                  <a:pt x="4671" y="12744"/>
                  <a:pt x="2246" y="13028"/>
                  <a:pt x="1365" y="12317"/>
                </a:cubicBezTo>
                <a:cubicBezTo>
                  <a:pt x="483" y="11607"/>
                  <a:pt x="-178" y="10754"/>
                  <a:pt x="42" y="9760"/>
                </a:cubicBezTo>
                <a:cubicBezTo>
                  <a:pt x="263" y="8765"/>
                  <a:pt x="1144" y="7912"/>
                  <a:pt x="2687" y="6349"/>
                </a:cubicBezTo>
                <a:cubicBezTo>
                  <a:pt x="4230" y="4786"/>
                  <a:pt x="7095" y="1233"/>
                  <a:pt x="9300" y="381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34" name="Group 134"/>
          <p:cNvGrpSpPr/>
          <p:nvPr/>
        </p:nvGrpSpPr>
        <p:grpSpPr>
          <a:xfrm>
            <a:off x="6926262" y="2843212"/>
            <a:ext cx="1371601" cy="457201"/>
            <a:chOff x="0" y="0"/>
            <a:chExt cx="1371599" cy="457200"/>
          </a:xfrm>
        </p:grpSpPr>
        <p:sp>
          <p:nvSpPr>
            <p:cNvPr id="132" name="Shape 132"/>
            <p:cNvSpPr/>
            <p:nvPr/>
          </p:nvSpPr>
          <p:spPr>
            <a:xfrm>
              <a:off x="0" y="76199"/>
              <a:ext cx="533400" cy="381002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152400" y="0"/>
              <a:ext cx="1219200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spcBef>
                  <a:spcPts val="9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RAIZ</a:t>
              </a:r>
            </a:p>
          </p:txBody>
        </p:sp>
      </p:grpSp>
      <p:sp>
        <p:nvSpPr>
          <p:cNvPr id="135" name="Shape 135"/>
          <p:cNvSpPr/>
          <p:nvPr/>
        </p:nvSpPr>
        <p:spPr>
          <a:xfrm>
            <a:off x="6088062" y="5510212"/>
            <a:ext cx="1295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Sub. Izq.</a:t>
            </a:r>
          </a:p>
        </p:txBody>
      </p:sp>
      <p:sp>
        <p:nvSpPr>
          <p:cNvPr id="136" name="Shape 136"/>
          <p:cNvSpPr/>
          <p:nvPr/>
        </p:nvSpPr>
        <p:spPr>
          <a:xfrm>
            <a:off x="7764462" y="5510212"/>
            <a:ext cx="12954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b="1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b="0"/>
            </a:pPr>
            <a:r>
              <a:rPr b="1"/>
              <a:t>Sub. Der.</a:t>
            </a:r>
          </a:p>
        </p:txBody>
      </p:sp>
    </p:spTree>
    <p:extLst>
      <p:ext uri="{BB962C8B-B14F-4D97-AF65-F5344CB8AC3E}">
        <p14:creationId xmlns:p14="http://schemas.microsoft.com/office/powerpoint/2010/main" val="112701282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 animBg="1" advAuto="0"/>
      <p:bldP spid="89" grpId="0" animBg="1" advAuto="0"/>
      <p:bldP spid="90" grpId="0" animBg="1" advAuto="0"/>
      <p:bldP spid="91" grpId="0" animBg="1" advAuto="0"/>
      <p:bldP spid="134" grpId="0" animBg="1" advAuto="0"/>
      <p:bldP spid="135" grpId="0" animBg="1" advAuto="0"/>
      <p:bldP spid="136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1">
            <a:extLst>
              <a:ext uri="{FF2B5EF4-FFF2-40B4-BE49-F238E27FC236}">
                <a16:creationId xmlns:a16="http://schemas.microsoft.com/office/drawing/2014/main" id="{6046D302-BD05-FC0A-508D-BC794C7A59FF}"/>
              </a:ext>
            </a:extLst>
          </p:cNvPr>
          <p:cNvGrpSpPr/>
          <p:nvPr/>
        </p:nvGrpSpPr>
        <p:grpSpPr>
          <a:xfrm>
            <a:off x="349468" y="311630"/>
            <a:ext cx="8111360" cy="5469059"/>
            <a:chOff x="0" y="0"/>
            <a:chExt cx="2895600" cy="2072640"/>
          </a:xfrm>
        </p:grpSpPr>
        <p:grpSp>
          <p:nvGrpSpPr>
            <p:cNvPr id="3" name="Group 94">
              <a:extLst>
                <a:ext uri="{FF2B5EF4-FFF2-40B4-BE49-F238E27FC236}">
                  <a16:creationId xmlns:a16="http://schemas.microsoft.com/office/drawing/2014/main" id="{B8F437F0-16F8-7006-6849-5B7259063EC4}"/>
                </a:ext>
              </a:extLst>
            </p:cNvPr>
            <p:cNvGrpSpPr/>
            <p:nvPr/>
          </p:nvGrpSpPr>
          <p:grpSpPr>
            <a:xfrm>
              <a:off x="1457325" y="-1"/>
              <a:ext cx="381000" cy="396241"/>
              <a:chOff x="0" y="0"/>
              <a:chExt cx="381000" cy="396240"/>
            </a:xfrm>
          </p:grpSpPr>
          <p:sp>
            <p:nvSpPr>
              <p:cNvPr id="40" name="Shape 92">
                <a:extLst>
                  <a:ext uri="{FF2B5EF4-FFF2-40B4-BE49-F238E27FC236}">
                    <a16:creationId xmlns:a16="http://schemas.microsoft.com/office/drawing/2014/main" id="{08E27B07-2305-9196-DA1F-84CF5DCDD224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41" name="Shape 93">
                <a:extLst>
                  <a:ext uri="{FF2B5EF4-FFF2-40B4-BE49-F238E27FC236}">
                    <a16:creationId xmlns:a16="http://schemas.microsoft.com/office/drawing/2014/main" id="{1E4DE45D-0E7C-5863-0AC4-80A6C1D626CC}"/>
                  </a:ext>
                </a:extLst>
              </p:cNvPr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grpSp>
          <p:nvGrpSpPr>
            <p:cNvPr id="4" name="Group 97">
              <a:extLst>
                <a:ext uri="{FF2B5EF4-FFF2-40B4-BE49-F238E27FC236}">
                  <a16:creationId xmlns:a16="http://schemas.microsoft.com/office/drawing/2014/main" id="{0E307583-9345-1660-D85A-C798ECB9DFD9}"/>
                </a:ext>
              </a:extLst>
            </p:cNvPr>
            <p:cNvGrpSpPr/>
            <p:nvPr/>
          </p:nvGrpSpPr>
          <p:grpSpPr>
            <a:xfrm>
              <a:off x="771525" y="533399"/>
              <a:ext cx="381000" cy="396241"/>
              <a:chOff x="0" y="0"/>
              <a:chExt cx="381000" cy="396240"/>
            </a:xfrm>
          </p:grpSpPr>
          <p:sp>
            <p:nvSpPr>
              <p:cNvPr id="38" name="Shape 95">
                <a:extLst>
                  <a:ext uri="{FF2B5EF4-FFF2-40B4-BE49-F238E27FC236}">
                    <a16:creationId xmlns:a16="http://schemas.microsoft.com/office/drawing/2014/main" id="{7065F728-BD71-08D4-2432-B7C0CEB89ED3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9" name="Shape 96">
                <a:extLst>
                  <a:ext uri="{FF2B5EF4-FFF2-40B4-BE49-F238E27FC236}">
                    <a16:creationId xmlns:a16="http://schemas.microsoft.com/office/drawing/2014/main" id="{75CBD70D-FA0F-0B5D-67A7-F0976E8AC51A}"/>
                  </a:ext>
                </a:extLst>
              </p:cNvPr>
              <p:cNvSpPr/>
              <p:nvPr/>
            </p:nvSpPr>
            <p:spPr>
              <a:xfrm>
                <a:off x="63581" y="-1"/>
                <a:ext cx="25383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 dirty="0"/>
                  <a:t>B</a:t>
                </a:r>
              </a:p>
            </p:txBody>
          </p:sp>
        </p:grpSp>
        <p:grpSp>
          <p:nvGrpSpPr>
            <p:cNvPr id="5" name="Group 100">
              <a:extLst>
                <a:ext uri="{FF2B5EF4-FFF2-40B4-BE49-F238E27FC236}">
                  <a16:creationId xmlns:a16="http://schemas.microsoft.com/office/drawing/2014/main" id="{52D194B9-00B6-6678-3F5F-7B4771178BAC}"/>
                </a:ext>
              </a:extLst>
            </p:cNvPr>
            <p:cNvGrpSpPr/>
            <p:nvPr/>
          </p:nvGrpSpPr>
          <p:grpSpPr>
            <a:xfrm>
              <a:off x="2209800" y="533399"/>
              <a:ext cx="381000" cy="396241"/>
              <a:chOff x="0" y="0"/>
              <a:chExt cx="381000" cy="396240"/>
            </a:xfrm>
          </p:grpSpPr>
          <p:sp>
            <p:nvSpPr>
              <p:cNvPr id="36" name="Shape 98">
                <a:extLst>
                  <a:ext uri="{FF2B5EF4-FFF2-40B4-BE49-F238E27FC236}">
                    <a16:creationId xmlns:a16="http://schemas.microsoft.com/office/drawing/2014/main" id="{6F38BA29-3B60-2472-A85D-AC8DDFC3CC19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7" name="Shape 99">
                <a:extLst>
                  <a:ext uri="{FF2B5EF4-FFF2-40B4-BE49-F238E27FC236}">
                    <a16:creationId xmlns:a16="http://schemas.microsoft.com/office/drawing/2014/main" id="{3F757EA4-7C33-4EAB-9888-FCDDFCE2A87C}"/>
                  </a:ext>
                </a:extLst>
              </p:cNvPr>
              <p:cNvSpPr/>
              <p:nvPr/>
            </p:nvSpPr>
            <p:spPr>
              <a:xfrm>
                <a:off x="62155" y="-1"/>
                <a:ext cx="25669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C</a:t>
                </a:r>
              </a:p>
            </p:txBody>
          </p:sp>
        </p:grpSp>
        <p:grpSp>
          <p:nvGrpSpPr>
            <p:cNvPr id="6" name="Group 103">
              <a:extLst>
                <a:ext uri="{FF2B5EF4-FFF2-40B4-BE49-F238E27FC236}">
                  <a16:creationId xmlns:a16="http://schemas.microsoft.com/office/drawing/2014/main" id="{39BE8A22-CD88-680E-1E7E-98C663F9ABF9}"/>
                </a:ext>
              </a:extLst>
            </p:cNvPr>
            <p:cNvGrpSpPr/>
            <p:nvPr/>
          </p:nvGrpSpPr>
          <p:grpSpPr>
            <a:xfrm>
              <a:off x="374650" y="1066799"/>
              <a:ext cx="381000" cy="396241"/>
              <a:chOff x="0" y="0"/>
              <a:chExt cx="381000" cy="396240"/>
            </a:xfrm>
          </p:grpSpPr>
          <p:sp>
            <p:nvSpPr>
              <p:cNvPr id="34" name="Shape 101">
                <a:extLst>
                  <a:ext uri="{FF2B5EF4-FFF2-40B4-BE49-F238E27FC236}">
                    <a16:creationId xmlns:a16="http://schemas.microsoft.com/office/drawing/2014/main" id="{86598D08-98AE-96C0-5D17-070085CC1524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5" name="Shape 102">
                <a:extLst>
                  <a:ext uri="{FF2B5EF4-FFF2-40B4-BE49-F238E27FC236}">
                    <a16:creationId xmlns:a16="http://schemas.microsoft.com/office/drawing/2014/main" id="{C6D0E00B-32AA-ACE3-4E03-CDA344A73544}"/>
                  </a:ext>
                </a:extLst>
              </p:cNvPr>
              <p:cNvSpPr/>
              <p:nvPr/>
            </p:nvSpPr>
            <p:spPr>
              <a:xfrm>
                <a:off x="52295" y="-1"/>
                <a:ext cx="276410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D</a:t>
                </a:r>
              </a:p>
            </p:txBody>
          </p:sp>
        </p:grpSp>
        <p:grpSp>
          <p:nvGrpSpPr>
            <p:cNvPr id="7" name="Group 106">
              <a:extLst>
                <a:ext uri="{FF2B5EF4-FFF2-40B4-BE49-F238E27FC236}">
                  <a16:creationId xmlns:a16="http://schemas.microsoft.com/office/drawing/2014/main" id="{ACCCC514-3B7A-0048-6877-3BE6C53D4596}"/>
                </a:ext>
              </a:extLst>
            </p:cNvPr>
            <p:cNvGrpSpPr/>
            <p:nvPr/>
          </p:nvGrpSpPr>
          <p:grpSpPr>
            <a:xfrm>
              <a:off x="1228725" y="1066799"/>
              <a:ext cx="381000" cy="396241"/>
              <a:chOff x="0" y="0"/>
              <a:chExt cx="381000" cy="396240"/>
            </a:xfrm>
          </p:grpSpPr>
          <p:sp>
            <p:nvSpPr>
              <p:cNvPr id="32" name="Shape 104">
                <a:extLst>
                  <a:ext uri="{FF2B5EF4-FFF2-40B4-BE49-F238E27FC236}">
                    <a16:creationId xmlns:a16="http://schemas.microsoft.com/office/drawing/2014/main" id="{DC7806D2-AD4D-1E16-9A99-B9DB0F798D18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3" name="Shape 105">
                <a:extLst>
                  <a:ext uri="{FF2B5EF4-FFF2-40B4-BE49-F238E27FC236}">
                    <a16:creationId xmlns:a16="http://schemas.microsoft.com/office/drawing/2014/main" id="{C63986E6-7FD4-4127-7C56-B28525F12C43}"/>
                  </a:ext>
                </a:extLst>
              </p:cNvPr>
              <p:cNvSpPr/>
              <p:nvPr/>
            </p:nvSpPr>
            <p:spPr>
              <a:xfrm>
                <a:off x="67178" y="-1"/>
                <a:ext cx="24664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E</a:t>
                </a:r>
              </a:p>
            </p:txBody>
          </p:sp>
        </p:grpSp>
        <p:grpSp>
          <p:nvGrpSpPr>
            <p:cNvPr id="8" name="Group 109">
              <a:extLst>
                <a:ext uri="{FF2B5EF4-FFF2-40B4-BE49-F238E27FC236}">
                  <a16:creationId xmlns:a16="http://schemas.microsoft.com/office/drawing/2014/main" id="{6A4CAC43-2650-A5CC-FE26-3F6412B86D74}"/>
                </a:ext>
              </a:extLst>
            </p:cNvPr>
            <p:cNvGrpSpPr/>
            <p:nvPr/>
          </p:nvGrpSpPr>
          <p:grpSpPr>
            <a:xfrm>
              <a:off x="0" y="1631949"/>
              <a:ext cx="381000" cy="396241"/>
              <a:chOff x="0" y="0"/>
              <a:chExt cx="381000" cy="396240"/>
            </a:xfrm>
          </p:grpSpPr>
          <p:sp>
            <p:nvSpPr>
              <p:cNvPr id="30" name="Shape 107">
                <a:extLst>
                  <a:ext uri="{FF2B5EF4-FFF2-40B4-BE49-F238E27FC236}">
                    <a16:creationId xmlns:a16="http://schemas.microsoft.com/office/drawing/2014/main" id="{C1034CE9-79B7-EDC2-0896-359CCEBDCA42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31" name="Shape 108">
                <a:extLst>
                  <a:ext uri="{FF2B5EF4-FFF2-40B4-BE49-F238E27FC236}">
                    <a16:creationId xmlns:a16="http://schemas.microsoft.com/office/drawing/2014/main" id="{546010EA-9DDE-569D-AA31-FC7CE44A0E2A}"/>
                  </a:ext>
                </a:extLst>
              </p:cNvPr>
              <p:cNvSpPr/>
              <p:nvPr/>
            </p:nvSpPr>
            <p:spPr>
              <a:xfrm>
                <a:off x="52667" y="-1"/>
                <a:ext cx="275666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H</a:t>
                </a:r>
              </a:p>
            </p:txBody>
          </p:sp>
        </p:grpSp>
        <p:grpSp>
          <p:nvGrpSpPr>
            <p:cNvPr id="9" name="Group 112">
              <a:extLst>
                <a:ext uri="{FF2B5EF4-FFF2-40B4-BE49-F238E27FC236}">
                  <a16:creationId xmlns:a16="http://schemas.microsoft.com/office/drawing/2014/main" id="{C44C4D1B-94CD-9685-8FA0-9567B56F0E39}"/>
                </a:ext>
              </a:extLst>
            </p:cNvPr>
            <p:cNvGrpSpPr/>
            <p:nvPr/>
          </p:nvGrpSpPr>
          <p:grpSpPr>
            <a:xfrm>
              <a:off x="784225" y="1616074"/>
              <a:ext cx="381000" cy="396241"/>
              <a:chOff x="0" y="0"/>
              <a:chExt cx="381000" cy="396240"/>
            </a:xfrm>
          </p:grpSpPr>
          <p:sp>
            <p:nvSpPr>
              <p:cNvPr id="28" name="Shape 110">
                <a:extLst>
                  <a:ext uri="{FF2B5EF4-FFF2-40B4-BE49-F238E27FC236}">
                    <a16:creationId xmlns:a16="http://schemas.microsoft.com/office/drawing/2014/main" id="{ED571CD1-4E02-0272-FEB3-7EBA0D34A627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9" name="Shape 111">
                <a:extLst>
                  <a:ext uri="{FF2B5EF4-FFF2-40B4-BE49-F238E27FC236}">
                    <a16:creationId xmlns:a16="http://schemas.microsoft.com/office/drawing/2014/main" id="{5C11ABC3-6410-6BCA-3300-B2743465A9CD}"/>
                  </a:ext>
                </a:extLst>
              </p:cNvPr>
              <p:cNvSpPr/>
              <p:nvPr/>
            </p:nvSpPr>
            <p:spPr>
              <a:xfrm>
                <a:off x="91053" y="-1"/>
                <a:ext cx="198894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I</a:t>
                </a:r>
              </a:p>
            </p:txBody>
          </p:sp>
        </p:grpSp>
        <p:grpSp>
          <p:nvGrpSpPr>
            <p:cNvPr id="10" name="Group 115">
              <a:extLst>
                <a:ext uri="{FF2B5EF4-FFF2-40B4-BE49-F238E27FC236}">
                  <a16:creationId xmlns:a16="http://schemas.microsoft.com/office/drawing/2014/main" id="{518059DE-90E5-A19B-8C38-409AF14380A1}"/>
                </a:ext>
              </a:extLst>
            </p:cNvPr>
            <p:cNvGrpSpPr/>
            <p:nvPr/>
          </p:nvGrpSpPr>
          <p:grpSpPr>
            <a:xfrm>
              <a:off x="1828800" y="1066799"/>
              <a:ext cx="381000" cy="396241"/>
              <a:chOff x="0" y="0"/>
              <a:chExt cx="381000" cy="396240"/>
            </a:xfrm>
          </p:grpSpPr>
          <p:sp>
            <p:nvSpPr>
              <p:cNvPr id="26" name="Shape 113">
                <a:extLst>
                  <a:ext uri="{FF2B5EF4-FFF2-40B4-BE49-F238E27FC236}">
                    <a16:creationId xmlns:a16="http://schemas.microsoft.com/office/drawing/2014/main" id="{3A6EDBC6-5964-2A43-86A8-72DFDACA7F2E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7" name="Shape 114">
                <a:extLst>
                  <a:ext uri="{FF2B5EF4-FFF2-40B4-BE49-F238E27FC236}">
                    <a16:creationId xmlns:a16="http://schemas.microsoft.com/office/drawing/2014/main" id="{00B69F62-8155-D6F1-1086-FF38B19123AC}"/>
                  </a:ext>
                </a:extLst>
              </p:cNvPr>
              <p:cNvSpPr/>
              <p:nvPr/>
            </p:nvSpPr>
            <p:spPr>
              <a:xfrm>
                <a:off x="72201" y="-1"/>
                <a:ext cx="236598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F</a:t>
                </a:r>
              </a:p>
            </p:txBody>
          </p:sp>
        </p:grpSp>
        <p:grpSp>
          <p:nvGrpSpPr>
            <p:cNvPr id="11" name="Group 118">
              <a:extLst>
                <a:ext uri="{FF2B5EF4-FFF2-40B4-BE49-F238E27FC236}">
                  <a16:creationId xmlns:a16="http://schemas.microsoft.com/office/drawing/2014/main" id="{16F5EF09-C8A5-B0E1-721A-C7D429764FBF}"/>
                </a:ext>
              </a:extLst>
            </p:cNvPr>
            <p:cNvGrpSpPr/>
            <p:nvPr/>
          </p:nvGrpSpPr>
          <p:grpSpPr>
            <a:xfrm>
              <a:off x="2514600" y="1066799"/>
              <a:ext cx="381000" cy="396241"/>
              <a:chOff x="0" y="0"/>
              <a:chExt cx="381000" cy="396240"/>
            </a:xfrm>
          </p:grpSpPr>
          <p:sp>
            <p:nvSpPr>
              <p:cNvPr id="24" name="Shape 116">
                <a:extLst>
                  <a:ext uri="{FF2B5EF4-FFF2-40B4-BE49-F238E27FC236}">
                    <a16:creationId xmlns:a16="http://schemas.microsoft.com/office/drawing/2014/main" id="{93AE32E2-9EE9-F322-4A36-1F31E5CA59A3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5" name="Shape 117">
                <a:extLst>
                  <a:ext uri="{FF2B5EF4-FFF2-40B4-BE49-F238E27FC236}">
                    <a16:creationId xmlns:a16="http://schemas.microsoft.com/office/drawing/2014/main" id="{177BD704-46B3-5351-73CB-C6637D360865}"/>
                  </a:ext>
                </a:extLst>
              </p:cNvPr>
              <p:cNvSpPr/>
              <p:nvPr/>
            </p:nvSpPr>
            <p:spPr>
              <a:xfrm>
                <a:off x="53659" y="-1"/>
                <a:ext cx="27368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G</a:t>
                </a:r>
              </a:p>
            </p:txBody>
          </p:sp>
        </p:grpSp>
        <p:grpSp>
          <p:nvGrpSpPr>
            <p:cNvPr id="12" name="Group 121">
              <a:extLst>
                <a:ext uri="{FF2B5EF4-FFF2-40B4-BE49-F238E27FC236}">
                  <a16:creationId xmlns:a16="http://schemas.microsoft.com/office/drawing/2014/main" id="{7C1D35CF-7DA4-16EC-E134-C3F678A305EA}"/>
                </a:ext>
              </a:extLst>
            </p:cNvPr>
            <p:cNvGrpSpPr/>
            <p:nvPr/>
          </p:nvGrpSpPr>
          <p:grpSpPr>
            <a:xfrm>
              <a:off x="2133600" y="1676399"/>
              <a:ext cx="381000" cy="396241"/>
              <a:chOff x="0" y="0"/>
              <a:chExt cx="381000" cy="396240"/>
            </a:xfrm>
          </p:grpSpPr>
          <p:sp>
            <p:nvSpPr>
              <p:cNvPr id="22" name="Shape 119">
                <a:extLst>
                  <a:ext uri="{FF2B5EF4-FFF2-40B4-BE49-F238E27FC236}">
                    <a16:creationId xmlns:a16="http://schemas.microsoft.com/office/drawing/2014/main" id="{DD9049D3-F05F-EBE7-F9E1-50EFA6444243}"/>
                  </a:ext>
                </a:extLst>
              </p:cNvPr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23" name="Shape 120">
                <a:extLst>
                  <a:ext uri="{FF2B5EF4-FFF2-40B4-BE49-F238E27FC236}">
                    <a16:creationId xmlns:a16="http://schemas.microsoft.com/office/drawing/2014/main" id="{5FE99F15-8A39-B64A-F8DE-8DDBF31BF923}"/>
                  </a:ext>
                </a:extLst>
              </p:cNvPr>
              <p:cNvSpPr/>
              <p:nvPr/>
            </p:nvSpPr>
            <p:spPr>
              <a:xfrm>
                <a:off x="85534" y="-1"/>
                <a:ext cx="20993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J</a:t>
                </a:r>
              </a:p>
            </p:txBody>
          </p:sp>
        </p:grpSp>
        <p:sp>
          <p:nvSpPr>
            <p:cNvPr id="13" name="Shape 122">
              <a:extLst>
                <a:ext uri="{FF2B5EF4-FFF2-40B4-BE49-F238E27FC236}">
                  <a16:creationId xmlns:a16="http://schemas.microsoft.com/office/drawing/2014/main" id="{FCA23778-A7AE-C29F-F598-EC33C1B54ED3}"/>
                </a:ext>
              </a:extLst>
            </p:cNvPr>
            <p:cNvSpPr/>
            <p:nvPr/>
          </p:nvSpPr>
          <p:spPr>
            <a:xfrm flipH="1">
              <a:off x="1096962" y="333057"/>
              <a:ext cx="4159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4" name="Shape 123">
              <a:extLst>
                <a:ext uri="{FF2B5EF4-FFF2-40B4-BE49-F238E27FC236}">
                  <a16:creationId xmlns:a16="http://schemas.microsoft.com/office/drawing/2014/main" id="{5BCF2BA7-B90B-AEE1-37D9-6BF398AE1045}"/>
                </a:ext>
              </a:extLst>
            </p:cNvPr>
            <p:cNvSpPr/>
            <p:nvPr/>
          </p:nvSpPr>
          <p:spPr>
            <a:xfrm flipH="1">
              <a:off x="700087" y="866457"/>
              <a:ext cx="127001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5" name="Shape 124">
              <a:extLst>
                <a:ext uri="{FF2B5EF4-FFF2-40B4-BE49-F238E27FC236}">
                  <a16:creationId xmlns:a16="http://schemas.microsoft.com/office/drawing/2014/main" id="{2575C85C-38F9-A0F2-C6E7-74D16819E2CA}"/>
                </a:ext>
              </a:extLst>
            </p:cNvPr>
            <p:cNvSpPr/>
            <p:nvPr/>
          </p:nvSpPr>
          <p:spPr>
            <a:xfrm>
              <a:off x="1096962" y="866457"/>
              <a:ext cx="1873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6" name="Shape 125">
              <a:extLst>
                <a:ext uri="{FF2B5EF4-FFF2-40B4-BE49-F238E27FC236}">
                  <a16:creationId xmlns:a16="http://schemas.microsoft.com/office/drawing/2014/main" id="{D1E87B91-EAAE-EF8D-89C5-A4042DD07686}"/>
                </a:ext>
              </a:extLst>
            </p:cNvPr>
            <p:cNvSpPr/>
            <p:nvPr/>
          </p:nvSpPr>
          <p:spPr>
            <a:xfrm flipH="1">
              <a:off x="325437" y="1399857"/>
              <a:ext cx="104776" cy="29527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7" name="Shape 126">
              <a:extLst>
                <a:ext uri="{FF2B5EF4-FFF2-40B4-BE49-F238E27FC236}">
                  <a16:creationId xmlns:a16="http://schemas.microsoft.com/office/drawing/2014/main" id="{B69E6D18-990F-A525-CBA7-8CE9E7E6FD57}"/>
                </a:ext>
              </a:extLst>
            </p:cNvPr>
            <p:cNvSpPr/>
            <p:nvPr/>
          </p:nvSpPr>
          <p:spPr>
            <a:xfrm>
              <a:off x="700087" y="1399857"/>
              <a:ext cx="139701" cy="2794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8" name="Shape 127">
              <a:extLst>
                <a:ext uri="{FF2B5EF4-FFF2-40B4-BE49-F238E27FC236}">
                  <a16:creationId xmlns:a16="http://schemas.microsoft.com/office/drawing/2014/main" id="{84AC9ADD-FBDA-A8B0-45A7-83D5ADA8E6C0}"/>
                </a:ext>
              </a:extLst>
            </p:cNvPr>
            <p:cNvSpPr/>
            <p:nvPr/>
          </p:nvSpPr>
          <p:spPr>
            <a:xfrm>
              <a:off x="1782762" y="333057"/>
              <a:ext cx="482601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" name="Shape 128">
              <a:extLst>
                <a:ext uri="{FF2B5EF4-FFF2-40B4-BE49-F238E27FC236}">
                  <a16:creationId xmlns:a16="http://schemas.microsoft.com/office/drawing/2014/main" id="{BAFDC20B-CF9A-DBC5-0D56-9DD4EE669A09}"/>
                </a:ext>
              </a:extLst>
            </p:cNvPr>
            <p:cNvSpPr/>
            <p:nvPr/>
          </p:nvSpPr>
          <p:spPr>
            <a:xfrm flipH="1">
              <a:off x="2154237" y="866457"/>
              <a:ext cx="111126" cy="2635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0" name="Shape 129">
              <a:extLst>
                <a:ext uri="{FF2B5EF4-FFF2-40B4-BE49-F238E27FC236}">
                  <a16:creationId xmlns:a16="http://schemas.microsoft.com/office/drawing/2014/main" id="{7687FA47-8A26-B482-3394-7C17D7FDECC7}"/>
                </a:ext>
              </a:extLst>
            </p:cNvPr>
            <p:cNvSpPr/>
            <p:nvPr/>
          </p:nvSpPr>
          <p:spPr>
            <a:xfrm>
              <a:off x="2535237" y="866457"/>
              <a:ext cx="169863" cy="207963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1" name="Shape 130">
              <a:extLst>
                <a:ext uri="{FF2B5EF4-FFF2-40B4-BE49-F238E27FC236}">
                  <a16:creationId xmlns:a16="http://schemas.microsoft.com/office/drawing/2014/main" id="{0057BA51-CD48-F380-316B-C54D0EE7C96D}"/>
                </a:ext>
              </a:extLst>
            </p:cNvPr>
            <p:cNvSpPr/>
            <p:nvPr/>
          </p:nvSpPr>
          <p:spPr>
            <a:xfrm flipH="1">
              <a:off x="2459037" y="1399857"/>
              <a:ext cx="111126" cy="339726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7271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/>
        </p:nvSpPr>
        <p:spPr>
          <a:xfrm>
            <a:off x="6924675" y="1841874"/>
            <a:ext cx="654643" cy="6216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44" h="18881" extrusionOk="0">
                <a:moveTo>
                  <a:pt x="589" y="3604"/>
                </a:moveTo>
                <a:cubicBezTo>
                  <a:pt x="-196" y="5533"/>
                  <a:pt x="-196" y="10547"/>
                  <a:pt x="589" y="12861"/>
                </a:cubicBezTo>
                <a:cubicBezTo>
                  <a:pt x="1375" y="15176"/>
                  <a:pt x="2553" y="16719"/>
                  <a:pt x="5302" y="17490"/>
                </a:cubicBezTo>
                <a:cubicBezTo>
                  <a:pt x="8051" y="18261"/>
                  <a:pt x="14728" y="20190"/>
                  <a:pt x="17084" y="17490"/>
                </a:cubicBezTo>
                <a:cubicBezTo>
                  <a:pt x="19440" y="14790"/>
                  <a:pt x="21404" y="3990"/>
                  <a:pt x="19440" y="1290"/>
                </a:cubicBezTo>
                <a:cubicBezTo>
                  <a:pt x="17477" y="-1410"/>
                  <a:pt x="8444" y="904"/>
                  <a:pt x="5302" y="1290"/>
                </a:cubicBezTo>
                <a:cubicBezTo>
                  <a:pt x="2160" y="1676"/>
                  <a:pt x="1375" y="1676"/>
                  <a:pt x="589" y="3604"/>
                </a:cubicBezTo>
                <a:close/>
              </a:path>
            </a:pathLst>
          </a:custGeom>
          <a:solidFill>
            <a:srgbClr val="CCFFCC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5740400" y="1818897"/>
            <a:ext cx="1356149" cy="15386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68" h="21450" extrusionOk="0">
                <a:moveTo>
                  <a:pt x="10162" y="204"/>
                </a:moveTo>
                <a:cubicBezTo>
                  <a:pt x="10948" y="27"/>
                  <a:pt x="11537" y="-150"/>
                  <a:pt x="12519" y="204"/>
                </a:cubicBezTo>
                <a:cubicBezTo>
                  <a:pt x="13500" y="558"/>
                  <a:pt x="15857" y="1266"/>
                  <a:pt x="16053" y="2329"/>
                </a:cubicBezTo>
                <a:cubicBezTo>
                  <a:pt x="16250" y="3391"/>
                  <a:pt x="14482" y="5693"/>
                  <a:pt x="13697" y="6578"/>
                </a:cubicBezTo>
                <a:cubicBezTo>
                  <a:pt x="12911" y="7463"/>
                  <a:pt x="11733" y="7109"/>
                  <a:pt x="11340" y="7640"/>
                </a:cubicBezTo>
                <a:cubicBezTo>
                  <a:pt x="10948" y="8171"/>
                  <a:pt x="10555" y="9057"/>
                  <a:pt x="11340" y="9765"/>
                </a:cubicBezTo>
                <a:cubicBezTo>
                  <a:pt x="12126" y="10473"/>
                  <a:pt x="14482" y="11004"/>
                  <a:pt x="16053" y="11889"/>
                </a:cubicBezTo>
                <a:cubicBezTo>
                  <a:pt x="17624" y="12775"/>
                  <a:pt x="20177" y="13837"/>
                  <a:pt x="20766" y="15076"/>
                </a:cubicBezTo>
                <a:cubicBezTo>
                  <a:pt x="21355" y="16316"/>
                  <a:pt x="20570" y="18263"/>
                  <a:pt x="19588" y="19325"/>
                </a:cubicBezTo>
                <a:cubicBezTo>
                  <a:pt x="18606" y="20388"/>
                  <a:pt x="16839" y="21450"/>
                  <a:pt x="14875" y="21450"/>
                </a:cubicBezTo>
                <a:cubicBezTo>
                  <a:pt x="12911" y="21450"/>
                  <a:pt x="9180" y="20565"/>
                  <a:pt x="7806" y="19325"/>
                </a:cubicBezTo>
                <a:cubicBezTo>
                  <a:pt x="6431" y="18086"/>
                  <a:pt x="7806" y="15076"/>
                  <a:pt x="6628" y="14014"/>
                </a:cubicBezTo>
                <a:cubicBezTo>
                  <a:pt x="5450" y="12952"/>
                  <a:pt x="1719" y="14368"/>
                  <a:pt x="737" y="12952"/>
                </a:cubicBezTo>
                <a:cubicBezTo>
                  <a:pt x="-245" y="11535"/>
                  <a:pt x="-245" y="6932"/>
                  <a:pt x="737" y="5516"/>
                </a:cubicBezTo>
                <a:cubicBezTo>
                  <a:pt x="1719" y="4099"/>
                  <a:pt x="5450" y="5161"/>
                  <a:pt x="6628" y="4453"/>
                </a:cubicBezTo>
                <a:cubicBezTo>
                  <a:pt x="7806" y="3745"/>
                  <a:pt x="7217" y="1798"/>
                  <a:pt x="7806" y="1266"/>
                </a:cubicBezTo>
                <a:cubicBezTo>
                  <a:pt x="8395" y="735"/>
                  <a:pt x="9377" y="381"/>
                  <a:pt x="10162" y="204"/>
                </a:cubicBezTo>
                <a:close/>
              </a:path>
            </a:pathLst>
          </a:custGeom>
          <a:solidFill>
            <a:srgbClr val="99CC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title" idx="4294967295"/>
          </p:nvPr>
        </p:nvSpPr>
        <p:spPr>
          <a:xfrm>
            <a:off x="381000" y="333374"/>
            <a:ext cx="8229600" cy="114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4800" i="1">
                <a:solidFill>
                  <a:srgbClr val="008080"/>
                </a:solidFill>
              </a:rPr>
              <a:t>DEFINICIONES RECURSIVAS</a:t>
            </a:r>
          </a:p>
        </p:txBody>
      </p:sp>
      <p:sp>
        <p:nvSpPr>
          <p:cNvPr id="141" name="Shape 141"/>
          <p:cNvSpPr>
            <a:spLocks noGrp="1"/>
          </p:cNvSpPr>
          <p:nvPr>
            <p:ph type="body" idx="4294967295"/>
          </p:nvPr>
        </p:nvSpPr>
        <p:spPr>
          <a:xfrm>
            <a:off x="395287" y="1412875"/>
            <a:ext cx="5943601" cy="4467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definición del árbol es recursiva</a:t>
            </a:r>
          </a:p>
          <a:p>
            <a:pPr marL="7375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Se basa en si misma</a:t>
            </a:r>
          </a:p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terminología de los árboles</a:t>
            </a:r>
          </a:p>
          <a:p>
            <a:pPr marL="7375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También puede ser definida en forma recursiva</a:t>
            </a:r>
          </a:p>
          <a:p>
            <a:pPr marL="257175" lvl="0" indent="-257175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Ejemplo: NIVEL de un árbol</a:t>
            </a:r>
          </a:p>
          <a:p>
            <a:pPr marL="737507" lvl="1" indent="-204107">
              <a:lnSpc>
                <a:spcPct val="90000"/>
              </a:lnSpc>
              <a:spcBef>
                <a:spcPts val="400"/>
              </a:spcBef>
              <a:buClr>
                <a:srgbClr val="0066FF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Identificar el caso recursivo y el caso mas básico</a:t>
            </a:r>
          </a:p>
        </p:txBody>
      </p:sp>
      <p:grpSp>
        <p:nvGrpSpPr>
          <p:cNvPr id="147" name="Group 147"/>
          <p:cNvGrpSpPr/>
          <p:nvPr/>
        </p:nvGrpSpPr>
        <p:grpSpPr>
          <a:xfrm>
            <a:off x="395287" y="3860799"/>
            <a:ext cx="1535113" cy="617221"/>
            <a:chOff x="0" y="0"/>
            <a:chExt cx="1535112" cy="617220"/>
          </a:xfrm>
        </p:grpSpPr>
        <p:grpSp>
          <p:nvGrpSpPr>
            <p:cNvPr id="144" name="Group 144"/>
            <p:cNvGrpSpPr/>
            <p:nvPr/>
          </p:nvGrpSpPr>
          <p:grpSpPr>
            <a:xfrm>
              <a:off x="1154112" y="220979"/>
              <a:ext cx="381001" cy="396241"/>
              <a:chOff x="0" y="0"/>
              <a:chExt cx="381000" cy="396240"/>
            </a:xfrm>
          </p:grpSpPr>
          <p:sp>
            <p:nvSpPr>
              <p:cNvPr id="142" name="Shape 142"/>
              <p:cNvSpPr/>
              <p:nvPr/>
            </p:nvSpPr>
            <p:spPr>
              <a:xfrm>
                <a:off x="0" y="7619"/>
                <a:ext cx="381000" cy="381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43" name="Shape 143"/>
              <p:cNvSpPr/>
              <p:nvPr/>
            </p:nvSpPr>
            <p:spPr>
              <a:xfrm>
                <a:off x="62279" y="-1"/>
                <a:ext cx="256442" cy="3962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20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2000"/>
                  <a:t>A</a:t>
                </a:r>
              </a:p>
            </p:txBody>
          </p:sp>
        </p:grpSp>
        <p:sp>
          <p:nvSpPr>
            <p:cNvPr id="145" name="Shape 145"/>
            <p:cNvSpPr/>
            <p:nvPr/>
          </p:nvSpPr>
          <p:spPr>
            <a:xfrm>
              <a:off x="315912" y="381000"/>
              <a:ext cx="6096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0" y="0"/>
              <a:ext cx="838111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1200"/>
                </a:spcBef>
                <a:defRPr sz="20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2000"/>
                <a:t>nivel 1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333375" y="4889500"/>
            <a:ext cx="2654300" cy="1203325"/>
            <a:chOff x="0" y="0"/>
            <a:chExt cx="2654300" cy="1203325"/>
          </a:xfrm>
        </p:grpSpPr>
        <p:sp>
          <p:nvSpPr>
            <p:cNvPr id="148" name="Shape 148"/>
            <p:cNvSpPr/>
            <p:nvPr/>
          </p:nvSpPr>
          <p:spPr>
            <a:xfrm>
              <a:off x="0" y="0"/>
              <a:ext cx="2654300" cy="120332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342900" lvl="0" indent="-342900">
                <a:lnSpc>
                  <a:spcPct val="90000"/>
                </a:lnSpc>
                <a:spcBef>
                  <a:spcPts val="700"/>
                </a:spcBef>
                <a:defRPr sz="2400">
                  <a:solidFill>
                    <a:srgbClr val="002850"/>
                  </a:solidFill>
                </a:defRPr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0" y="0"/>
              <a:ext cx="2654300" cy="11247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 u="sng">
                  <a:solidFill>
                    <a:srgbClr val="002850"/>
                  </a:solidFill>
                </a:rPr>
                <a:t>Caso Básico</a:t>
              </a:r>
              <a:endParaRPr sz="2000" u="sng">
                <a:solidFill>
                  <a:srgbClr val="002850"/>
                </a:solidFill>
              </a:endParaRPr>
            </a:p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>
                  <a:solidFill>
                    <a:srgbClr val="002850"/>
                  </a:solidFill>
                </a:rPr>
                <a:t>Un árbol con un solo nodo tiene nivel 1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3059112" y="5221287"/>
            <a:ext cx="4392613" cy="1447801"/>
            <a:chOff x="0" y="0"/>
            <a:chExt cx="4392612" cy="1447799"/>
          </a:xfrm>
        </p:grpSpPr>
        <p:sp>
          <p:nvSpPr>
            <p:cNvPr id="151" name="Shape 151"/>
            <p:cNvSpPr/>
            <p:nvPr/>
          </p:nvSpPr>
          <p:spPr>
            <a:xfrm>
              <a:off x="0" y="0"/>
              <a:ext cx="4392613" cy="14478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342900" lvl="0" indent="-342900" algn="ctr">
                <a:lnSpc>
                  <a:spcPct val="90000"/>
                </a:lnSpc>
                <a:spcBef>
                  <a:spcPts val="700"/>
                </a:spcBef>
                <a:defRPr sz="2000" b="1" i="1">
                  <a:solidFill>
                    <a:srgbClr val="002850"/>
                  </a:solidFill>
                </a:defRPr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0" y="0"/>
              <a:ext cx="4392613" cy="1134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>
                  <a:solidFill>
                    <a:srgbClr val="002850"/>
                  </a:solidFill>
                </a:rPr>
                <a:t>Caso Recursivo</a:t>
              </a:r>
            </a:p>
            <a:p>
              <a:pPr marL="342900" lvl="0" indent="-342900">
                <a:lnSpc>
                  <a:spcPct val="90000"/>
                </a:lnSpc>
                <a:spcBef>
                  <a:spcPts val="500"/>
                </a:spcBef>
              </a:pPr>
              <a:r>
                <a:rPr sz="2400">
                  <a:solidFill>
                    <a:srgbClr val="002850"/>
                  </a:solidFill>
                </a:rPr>
                <a:t>Si tiene mas de un nodo, el nivel es:</a:t>
              </a:r>
            </a:p>
            <a:p>
              <a:pPr marL="342900" lvl="0" indent="-342900" algn="ctr">
                <a:lnSpc>
                  <a:spcPct val="90000"/>
                </a:lnSpc>
                <a:spcBef>
                  <a:spcPts val="400"/>
                </a:spcBef>
              </a:pPr>
              <a:r>
                <a:rPr sz="2000" b="1" i="1">
                  <a:solidFill>
                    <a:srgbClr val="002850"/>
                  </a:solidFill>
                </a:rPr>
                <a:t>1 + MAX(Nivel(SubIzq), Nivel(SubDer))</a:t>
              </a:r>
            </a:p>
          </p:txBody>
        </p:sp>
      </p:grpSp>
      <p:sp>
        <p:nvSpPr>
          <p:cNvPr id="154" name="Shape 154"/>
          <p:cNvSpPr/>
          <p:nvPr/>
        </p:nvSpPr>
        <p:spPr>
          <a:xfrm>
            <a:off x="4232201" y="4238247"/>
            <a:ext cx="569813" cy="586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90" h="20366" extrusionOk="0">
                <a:moveTo>
                  <a:pt x="2759" y="3154"/>
                </a:moveTo>
                <a:cubicBezTo>
                  <a:pt x="1859" y="4917"/>
                  <a:pt x="-391" y="8443"/>
                  <a:pt x="59" y="11088"/>
                </a:cubicBezTo>
                <a:cubicBezTo>
                  <a:pt x="509" y="13733"/>
                  <a:pt x="2309" y="17700"/>
                  <a:pt x="5459" y="19023"/>
                </a:cubicBezTo>
                <a:cubicBezTo>
                  <a:pt x="8609" y="20345"/>
                  <a:pt x="16709" y="21227"/>
                  <a:pt x="18959" y="19023"/>
                </a:cubicBezTo>
                <a:cubicBezTo>
                  <a:pt x="21209" y="16819"/>
                  <a:pt x="19859" y="8884"/>
                  <a:pt x="18959" y="5798"/>
                </a:cubicBezTo>
                <a:cubicBezTo>
                  <a:pt x="18059" y="2713"/>
                  <a:pt x="15809" y="1390"/>
                  <a:pt x="13559" y="509"/>
                </a:cubicBezTo>
                <a:cubicBezTo>
                  <a:pt x="11309" y="-373"/>
                  <a:pt x="7259" y="68"/>
                  <a:pt x="5459" y="509"/>
                </a:cubicBezTo>
                <a:cubicBezTo>
                  <a:pt x="3659" y="949"/>
                  <a:pt x="3659" y="1390"/>
                  <a:pt x="2759" y="3154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3635375" y="4014787"/>
            <a:ext cx="720725" cy="543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S. izq.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1</a:t>
            </a:r>
          </a:p>
        </p:txBody>
      </p:sp>
      <p:sp>
        <p:nvSpPr>
          <p:cNvPr id="156" name="Shape 156"/>
          <p:cNvSpPr/>
          <p:nvPr/>
        </p:nvSpPr>
        <p:spPr>
          <a:xfrm>
            <a:off x="5072062" y="4019550"/>
            <a:ext cx="1371601" cy="543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S. der.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 algn="ctr">
              <a:lnSpc>
                <a:spcPct val="6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1</a:t>
            </a:r>
          </a:p>
        </p:txBody>
      </p:sp>
      <p:sp>
        <p:nvSpPr>
          <p:cNvPr id="157" name="Shape 157"/>
          <p:cNvSpPr/>
          <p:nvPr/>
        </p:nvSpPr>
        <p:spPr>
          <a:xfrm rot="5400000">
            <a:off x="4876750" y="4255485"/>
            <a:ext cx="569812" cy="586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90" h="20366" extrusionOk="0">
                <a:moveTo>
                  <a:pt x="2759" y="3154"/>
                </a:moveTo>
                <a:cubicBezTo>
                  <a:pt x="1859" y="4917"/>
                  <a:pt x="-391" y="8443"/>
                  <a:pt x="59" y="11088"/>
                </a:cubicBezTo>
                <a:cubicBezTo>
                  <a:pt x="509" y="13733"/>
                  <a:pt x="2309" y="17700"/>
                  <a:pt x="5459" y="19023"/>
                </a:cubicBezTo>
                <a:cubicBezTo>
                  <a:pt x="8609" y="20345"/>
                  <a:pt x="16709" y="21227"/>
                  <a:pt x="18959" y="19023"/>
                </a:cubicBezTo>
                <a:cubicBezTo>
                  <a:pt x="21209" y="16819"/>
                  <a:pt x="19859" y="8884"/>
                  <a:pt x="18959" y="5798"/>
                </a:cubicBezTo>
                <a:cubicBezTo>
                  <a:pt x="18059" y="2713"/>
                  <a:pt x="15809" y="1390"/>
                  <a:pt x="13559" y="509"/>
                </a:cubicBezTo>
                <a:cubicBezTo>
                  <a:pt x="11309" y="-373"/>
                  <a:pt x="7259" y="68"/>
                  <a:pt x="5459" y="509"/>
                </a:cubicBezTo>
                <a:cubicBezTo>
                  <a:pt x="3659" y="949"/>
                  <a:pt x="3659" y="1390"/>
                  <a:pt x="2759" y="3154"/>
                </a:cubicBez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69" name="Group 169"/>
          <p:cNvGrpSpPr/>
          <p:nvPr/>
        </p:nvGrpSpPr>
        <p:grpSpPr>
          <a:xfrm>
            <a:off x="4386262" y="3946842"/>
            <a:ext cx="914401" cy="688341"/>
            <a:chOff x="0" y="0"/>
            <a:chExt cx="914400" cy="688340"/>
          </a:xfrm>
        </p:grpSpPr>
        <p:grpSp>
          <p:nvGrpSpPr>
            <p:cNvPr id="160" name="Group 160"/>
            <p:cNvGrpSpPr/>
            <p:nvPr/>
          </p:nvGrpSpPr>
          <p:grpSpPr>
            <a:xfrm>
              <a:off x="304800" y="-1"/>
              <a:ext cx="304801" cy="307341"/>
              <a:chOff x="0" y="0"/>
              <a:chExt cx="304800" cy="307340"/>
            </a:xfrm>
          </p:grpSpPr>
          <p:sp>
            <p:nvSpPr>
              <p:cNvPr id="158" name="Shape 158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59" name="Shape 159"/>
              <p:cNvSpPr/>
              <p:nvPr/>
            </p:nvSpPr>
            <p:spPr>
              <a:xfrm>
                <a:off x="39471" y="-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380999"/>
              <a:ext cx="304801" cy="307341"/>
              <a:chOff x="0" y="0"/>
              <a:chExt cx="304800" cy="307340"/>
            </a:xfrm>
          </p:grpSpPr>
          <p:sp>
            <p:nvSpPr>
              <p:cNvPr id="161" name="Shape 161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62" name="Shape 162"/>
              <p:cNvSpPr/>
              <p:nvPr/>
            </p:nvSpPr>
            <p:spPr>
              <a:xfrm>
                <a:off x="39341" y="-1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609600" y="380999"/>
              <a:ext cx="304801" cy="307341"/>
              <a:chOff x="0" y="0"/>
              <a:chExt cx="304800" cy="307340"/>
            </a:xfrm>
          </p:grpSpPr>
          <p:sp>
            <p:nvSpPr>
              <p:cNvPr id="164" name="Shape 164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99CC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65" name="Shape 165"/>
              <p:cNvSpPr/>
              <p:nvPr/>
            </p:nvSpPr>
            <p:spPr>
              <a:xfrm>
                <a:off x="40990" y="-1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sp>
          <p:nvSpPr>
            <p:cNvPr id="167" name="Shape 167"/>
            <p:cNvSpPr/>
            <p:nvPr/>
          </p:nvSpPr>
          <p:spPr>
            <a:xfrm flipH="1">
              <a:off x="260350" y="261620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565150" y="261620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170" name="Shape 170"/>
          <p:cNvSpPr/>
          <p:nvPr/>
        </p:nvSpPr>
        <p:spPr>
          <a:xfrm>
            <a:off x="4081462" y="4938712"/>
            <a:ext cx="1600201" cy="226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60000"/>
              </a:lnSpc>
              <a:spcBef>
                <a:spcPts val="8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400" dirty="0"/>
              <a:t>Nivel Del Arbol: </a:t>
            </a:r>
            <a:r>
              <a:rPr lang="es-ES" sz="1400" dirty="0"/>
              <a:t>1</a:t>
            </a:r>
            <a:endParaRPr sz="1400" dirty="0"/>
          </a:p>
        </p:txBody>
      </p:sp>
      <p:sp>
        <p:nvSpPr>
          <p:cNvPr id="171" name="Shape 171"/>
          <p:cNvSpPr/>
          <p:nvPr/>
        </p:nvSpPr>
        <p:spPr>
          <a:xfrm>
            <a:off x="6210300" y="3646487"/>
            <a:ext cx="1676400" cy="855346"/>
          </a:xfrm>
          <a:prstGeom prst="rect">
            <a:avLst/>
          </a:prstGeom>
          <a:solidFill>
            <a:srgbClr val="99CC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IZQ.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= 1 + Max(0,</a:t>
            </a:r>
            <a:r>
              <a:rPr sz="1400" b="1">
                <a:latin typeface="Tahoma"/>
                <a:ea typeface="Tahoma"/>
                <a:cs typeface="Tahoma"/>
                <a:sym typeface="Tahoma"/>
              </a:rPr>
              <a:t>Sub.Izq</a:t>
            </a:r>
            <a:r>
              <a:rPr sz="1400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  <p:sp>
        <p:nvSpPr>
          <p:cNvPr id="172" name="Shape 172"/>
          <p:cNvSpPr/>
          <p:nvPr/>
        </p:nvSpPr>
        <p:spPr>
          <a:xfrm>
            <a:off x="5930547" y="2265362"/>
            <a:ext cx="1102891" cy="1025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89" h="21011" extrusionOk="0">
                <a:moveTo>
                  <a:pt x="1826" y="1561"/>
                </a:moveTo>
                <a:cubicBezTo>
                  <a:pt x="2530" y="781"/>
                  <a:pt x="3704" y="0"/>
                  <a:pt x="4643" y="0"/>
                </a:cubicBezTo>
                <a:cubicBezTo>
                  <a:pt x="5582" y="0"/>
                  <a:pt x="6756" y="781"/>
                  <a:pt x="7461" y="1561"/>
                </a:cubicBezTo>
                <a:cubicBezTo>
                  <a:pt x="8165" y="2342"/>
                  <a:pt x="8635" y="3643"/>
                  <a:pt x="8869" y="4684"/>
                </a:cubicBezTo>
                <a:cubicBezTo>
                  <a:pt x="9104" y="5725"/>
                  <a:pt x="8400" y="7287"/>
                  <a:pt x="8869" y="7807"/>
                </a:cubicBezTo>
                <a:cubicBezTo>
                  <a:pt x="9339" y="8328"/>
                  <a:pt x="9808" y="7027"/>
                  <a:pt x="11687" y="7807"/>
                </a:cubicBezTo>
                <a:cubicBezTo>
                  <a:pt x="13565" y="8588"/>
                  <a:pt x="19200" y="10410"/>
                  <a:pt x="20139" y="12492"/>
                </a:cubicBezTo>
                <a:cubicBezTo>
                  <a:pt x="21078" y="14573"/>
                  <a:pt x="19200" y="18998"/>
                  <a:pt x="17321" y="20299"/>
                </a:cubicBezTo>
                <a:cubicBezTo>
                  <a:pt x="15443" y="21600"/>
                  <a:pt x="10748" y="20819"/>
                  <a:pt x="8869" y="20299"/>
                </a:cubicBezTo>
                <a:cubicBezTo>
                  <a:pt x="6991" y="19778"/>
                  <a:pt x="6521" y="18737"/>
                  <a:pt x="6052" y="17176"/>
                </a:cubicBezTo>
                <a:cubicBezTo>
                  <a:pt x="5582" y="15614"/>
                  <a:pt x="6991" y="12231"/>
                  <a:pt x="6052" y="10930"/>
                </a:cubicBezTo>
                <a:cubicBezTo>
                  <a:pt x="5113" y="9629"/>
                  <a:pt x="1356" y="10410"/>
                  <a:pt x="417" y="9369"/>
                </a:cubicBezTo>
                <a:cubicBezTo>
                  <a:pt x="-522" y="8328"/>
                  <a:pt x="417" y="5986"/>
                  <a:pt x="417" y="4684"/>
                </a:cubicBezTo>
                <a:cubicBezTo>
                  <a:pt x="417" y="3383"/>
                  <a:pt x="1121" y="2342"/>
                  <a:pt x="1826" y="1561"/>
                </a:cubicBezTo>
                <a:close/>
              </a:path>
            </a:pathLst>
          </a:custGeom>
          <a:solidFill>
            <a:srgbClr val="C1E0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7096125" y="1225550"/>
            <a:ext cx="1143001" cy="574675"/>
          </a:xfrm>
          <a:prstGeom prst="rect">
            <a:avLst/>
          </a:prstGeom>
          <a:solidFill>
            <a:srgbClr val="CCFFCC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lnSpc>
                <a:spcPct val="70000"/>
              </a:lnSpc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DER.</a:t>
            </a:r>
            <a:endParaRPr sz="1400" u="sng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lnSpc>
                <a:spcPct val="70000"/>
              </a:lnSpc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1</a:t>
            </a:r>
          </a:p>
        </p:txBody>
      </p:sp>
      <p:sp>
        <p:nvSpPr>
          <p:cNvPr id="174" name="Shape 174"/>
          <p:cNvSpPr/>
          <p:nvPr/>
        </p:nvSpPr>
        <p:spPr>
          <a:xfrm>
            <a:off x="6362700" y="3790950"/>
            <a:ext cx="1676400" cy="855345"/>
          </a:xfrm>
          <a:prstGeom prst="rect">
            <a:avLst/>
          </a:prstGeom>
          <a:solidFill>
            <a:srgbClr val="C1E0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IZQ.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= 1 + Max(0,</a:t>
            </a:r>
            <a:r>
              <a:rPr sz="1400" b="1">
                <a:latin typeface="Tahoma"/>
                <a:ea typeface="Tahoma"/>
                <a:cs typeface="Tahoma"/>
                <a:sym typeface="Tahoma"/>
              </a:rPr>
              <a:t>Sub.Izq.</a:t>
            </a:r>
            <a:r>
              <a:rPr sz="1400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  <p:sp>
        <p:nvSpPr>
          <p:cNvPr id="175" name="Shape 175"/>
          <p:cNvSpPr/>
          <p:nvPr/>
        </p:nvSpPr>
        <p:spPr>
          <a:xfrm>
            <a:off x="6334125" y="2713037"/>
            <a:ext cx="533400" cy="486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701" extrusionOk="0">
                <a:moveTo>
                  <a:pt x="6171" y="405"/>
                </a:moveTo>
                <a:cubicBezTo>
                  <a:pt x="7714" y="-135"/>
                  <a:pt x="10286" y="-135"/>
                  <a:pt x="12343" y="405"/>
                </a:cubicBezTo>
                <a:cubicBezTo>
                  <a:pt x="14400" y="945"/>
                  <a:pt x="16971" y="2025"/>
                  <a:pt x="18514" y="3645"/>
                </a:cubicBezTo>
                <a:cubicBezTo>
                  <a:pt x="20057" y="5265"/>
                  <a:pt x="21600" y="7965"/>
                  <a:pt x="21600" y="10125"/>
                </a:cubicBezTo>
                <a:cubicBezTo>
                  <a:pt x="21600" y="12285"/>
                  <a:pt x="20057" y="14985"/>
                  <a:pt x="18514" y="16605"/>
                </a:cubicBezTo>
                <a:cubicBezTo>
                  <a:pt x="16971" y="18225"/>
                  <a:pt x="14914" y="19305"/>
                  <a:pt x="12343" y="19845"/>
                </a:cubicBezTo>
                <a:cubicBezTo>
                  <a:pt x="9771" y="20385"/>
                  <a:pt x="5143" y="21465"/>
                  <a:pt x="3086" y="19845"/>
                </a:cubicBezTo>
                <a:cubicBezTo>
                  <a:pt x="1029" y="18225"/>
                  <a:pt x="0" y="12825"/>
                  <a:pt x="0" y="10125"/>
                </a:cubicBezTo>
                <a:cubicBezTo>
                  <a:pt x="0" y="7425"/>
                  <a:pt x="2057" y="5265"/>
                  <a:pt x="3086" y="3645"/>
                </a:cubicBezTo>
                <a:cubicBezTo>
                  <a:pt x="4114" y="2025"/>
                  <a:pt x="4629" y="945"/>
                  <a:pt x="6171" y="405"/>
                </a:cubicBezTo>
                <a:close/>
              </a:path>
            </a:pathLst>
          </a:custGeom>
          <a:solidFill>
            <a:srgbClr val="EDF6FF"/>
          </a:solidFill>
          <a:ln>
            <a:solidFill/>
            <a:miter/>
          </a:ln>
        </p:spPr>
        <p:txBody>
          <a:bodyPr lIns="0" tIns="0" rIns="0" bIns="0" anchor="ctr"/>
          <a:lstStyle/>
          <a:p>
            <a:pPr lvl="0"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6515100" y="3989387"/>
            <a:ext cx="1676400" cy="1099186"/>
          </a:xfrm>
          <a:prstGeom prst="rect">
            <a:avLst/>
          </a:prstGeom>
          <a:solidFill>
            <a:srgbClr val="EDF6FF"/>
          </a:solidFill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</a:pPr>
            <a:r>
              <a:rPr sz="1400" u="sng">
                <a:latin typeface="Tahoma"/>
                <a:ea typeface="Tahoma"/>
                <a:cs typeface="Tahoma"/>
                <a:sym typeface="Tahoma"/>
              </a:rPr>
              <a:t>SUB. DER..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  <a:p>
            <a:pPr lvl="0">
              <a:spcBef>
                <a:spcPts val="800"/>
              </a:spcBef>
            </a:pPr>
            <a:r>
              <a:rPr sz="1400">
                <a:latin typeface="Tahoma"/>
                <a:ea typeface="Tahoma"/>
                <a:cs typeface="Tahoma"/>
                <a:sym typeface="Tahoma"/>
              </a:rPr>
              <a:t>Nivel = 1</a:t>
            </a:r>
            <a:endParaRPr sz="1400">
              <a:solidFill>
                <a:srgbClr val="00285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9" name="Group 179"/>
          <p:cNvGrpSpPr/>
          <p:nvPr/>
        </p:nvGrpSpPr>
        <p:grpSpPr>
          <a:xfrm>
            <a:off x="6362700" y="3798887"/>
            <a:ext cx="1828800" cy="1136651"/>
            <a:chOff x="0" y="0"/>
            <a:chExt cx="1828800" cy="1136649"/>
          </a:xfrm>
        </p:grpSpPr>
        <p:sp>
          <p:nvSpPr>
            <p:cNvPr id="177" name="Shape 177"/>
            <p:cNvSpPr/>
            <p:nvPr/>
          </p:nvSpPr>
          <p:spPr>
            <a:xfrm>
              <a:off x="152400" y="146050"/>
              <a:ext cx="1676400" cy="990600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8" name="Shape 178"/>
            <p:cNvSpPr/>
            <p:nvPr/>
          </p:nvSpPr>
          <p:spPr>
            <a:xfrm>
              <a:off x="0" y="0"/>
              <a:ext cx="1676400" cy="855345"/>
            </a:xfrm>
            <a:prstGeom prst="rect">
              <a:avLst/>
            </a:prstGeom>
            <a:solidFill>
              <a:srgbClr val="C1E0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800"/>
                </a:spcBef>
              </a:pPr>
              <a:r>
                <a:rPr sz="1400" u="sng">
                  <a:latin typeface="Tahoma"/>
                  <a:ea typeface="Tahoma"/>
                  <a:cs typeface="Tahoma"/>
                  <a:sym typeface="Tahoma"/>
                </a:rPr>
                <a:t>SUB. IZQ.</a:t>
              </a:r>
              <a:endParaRPr sz="14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>
                <a:spcBef>
                  <a:spcPts val="800"/>
                </a:spcBef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Nivel = 1 + Max(0,</a:t>
              </a:r>
              <a:r>
                <a:rPr sz="1400" b="1">
                  <a:latin typeface="Tahoma"/>
                  <a:ea typeface="Tahoma"/>
                  <a:cs typeface="Tahoma"/>
                  <a:sym typeface="Tahoma"/>
                </a:rPr>
                <a:t>1</a:t>
              </a: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)</a:t>
              </a:r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6029325" y="1578292"/>
            <a:ext cx="1295401" cy="1526541"/>
            <a:chOff x="0" y="0"/>
            <a:chExt cx="1295400" cy="1526540"/>
          </a:xfrm>
        </p:grpSpPr>
        <p:grpSp>
          <p:nvGrpSpPr>
            <p:cNvPr id="182" name="Group 182"/>
            <p:cNvGrpSpPr/>
            <p:nvPr/>
          </p:nvGrpSpPr>
          <p:grpSpPr>
            <a:xfrm>
              <a:off x="609600" y="-1"/>
              <a:ext cx="304801" cy="307341"/>
              <a:chOff x="0" y="0"/>
              <a:chExt cx="304800" cy="307340"/>
            </a:xfrm>
          </p:grpSpPr>
          <p:sp>
            <p:nvSpPr>
              <p:cNvPr id="180" name="Shape 180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1" name="Shape 181"/>
              <p:cNvSpPr/>
              <p:nvPr/>
            </p:nvSpPr>
            <p:spPr>
              <a:xfrm>
                <a:off x="39471" y="-1"/>
                <a:ext cx="22585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A</a:t>
                </a:r>
              </a:p>
            </p:txBody>
          </p:sp>
        </p:grpSp>
        <p:grpSp>
          <p:nvGrpSpPr>
            <p:cNvPr id="185" name="Group 185"/>
            <p:cNvGrpSpPr/>
            <p:nvPr/>
          </p:nvGrpSpPr>
          <p:grpSpPr>
            <a:xfrm>
              <a:off x="304800" y="380999"/>
              <a:ext cx="304801" cy="307341"/>
              <a:chOff x="0" y="0"/>
              <a:chExt cx="304800" cy="307340"/>
            </a:xfrm>
          </p:grpSpPr>
          <p:sp>
            <p:nvSpPr>
              <p:cNvPr id="183" name="Shape 183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4" name="Shape 184"/>
              <p:cNvSpPr/>
              <p:nvPr/>
            </p:nvSpPr>
            <p:spPr>
              <a:xfrm>
                <a:off x="39341" y="-1"/>
                <a:ext cx="226118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B</a:t>
                </a:r>
              </a:p>
            </p:txBody>
          </p:sp>
        </p:grpSp>
        <p:grpSp>
          <p:nvGrpSpPr>
            <p:cNvPr id="188" name="Group 188"/>
            <p:cNvGrpSpPr/>
            <p:nvPr/>
          </p:nvGrpSpPr>
          <p:grpSpPr>
            <a:xfrm>
              <a:off x="990600" y="380999"/>
              <a:ext cx="304801" cy="307341"/>
              <a:chOff x="0" y="0"/>
              <a:chExt cx="304800" cy="307340"/>
            </a:xfrm>
          </p:grpSpPr>
          <p:sp>
            <p:nvSpPr>
              <p:cNvPr id="186" name="Shape 186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87" name="Shape 187"/>
              <p:cNvSpPr/>
              <p:nvPr/>
            </p:nvSpPr>
            <p:spPr>
              <a:xfrm>
                <a:off x="40990" y="-1"/>
                <a:ext cx="22282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C</a:t>
                </a:r>
              </a:p>
            </p:txBody>
          </p:sp>
        </p:grpSp>
        <p:grpSp>
          <p:nvGrpSpPr>
            <p:cNvPr id="191" name="Group 191"/>
            <p:cNvGrpSpPr/>
            <p:nvPr/>
          </p:nvGrpSpPr>
          <p:grpSpPr>
            <a:xfrm>
              <a:off x="0" y="761999"/>
              <a:ext cx="304801" cy="307341"/>
              <a:chOff x="0" y="0"/>
              <a:chExt cx="304800" cy="307340"/>
            </a:xfrm>
          </p:grpSpPr>
          <p:sp>
            <p:nvSpPr>
              <p:cNvPr id="189" name="Shape 189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0" name="Shape 190"/>
              <p:cNvSpPr/>
              <p:nvPr/>
            </p:nvSpPr>
            <p:spPr>
              <a:xfrm>
                <a:off x="33003" y="-1"/>
                <a:ext cx="238794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D</a:t>
                </a:r>
              </a:p>
            </p:txBody>
          </p:sp>
        </p:grpSp>
        <p:grpSp>
          <p:nvGrpSpPr>
            <p:cNvPr id="194" name="Group 194"/>
            <p:cNvGrpSpPr/>
            <p:nvPr/>
          </p:nvGrpSpPr>
          <p:grpSpPr>
            <a:xfrm>
              <a:off x="381000" y="1219199"/>
              <a:ext cx="304801" cy="307341"/>
              <a:chOff x="0" y="0"/>
              <a:chExt cx="304800" cy="307340"/>
            </a:xfrm>
          </p:grpSpPr>
          <p:sp>
            <p:nvSpPr>
              <p:cNvPr id="192" name="Shape 192"/>
              <p:cNvSpPr/>
              <p:nvPr/>
            </p:nvSpPr>
            <p:spPr>
              <a:xfrm>
                <a:off x="-1" y="1269"/>
                <a:ext cx="304802" cy="3048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FF99CC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93" name="Shape 193"/>
              <p:cNvSpPr/>
              <p:nvPr/>
            </p:nvSpPr>
            <p:spPr>
              <a:xfrm>
                <a:off x="45635" y="-1"/>
                <a:ext cx="213530" cy="307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ctr">
                <a:spAutoFit/>
              </a:bodyPr>
              <a:lstStyle>
                <a:lvl1pPr algn="ctr">
                  <a:defRPr sz="1400" b="1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 b="0"/>
                </a:pPr>
                <a:r>
                  <a:rPr sz="1400" b="1"/>
                  <a:t>E</a:t>
                </a:r>
              </a:p>
            </p:txBody>
          </p:sp>
        </p:grpSp>
        <p:sp>
          <p:nvSpPr>
            <p:cNvPr id="195" name="Shape 195"/>
            <p:cNvSpPr/>
            <p:nvPr/>
          </p:nvSpPr>
          <p:spPr>
            <a:xfrm flipH="1">
              <a:off x="565150" y="261620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 flipH="1">
              <a:off x="260350" y="642619"/>
              <a:ext cx="88900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869949" y="261620"/>
              <a:ext cx="165101" cy="1651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8" name="Shape 198"/>
            <p:cNvSpPr/>
            <p:nvPr/>
          </p:nvSpPr>
          <p:spPr>
            <a:xfrm>
              <a:off x="260350" y="1023619"/>
              <a:ext cx="165100" cy="24130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grpSp>
        <p:nvGrpSpPr>
          <p:cNvPr id="202" name="Group 202"/>
          <p:cNvGrpSpPr/>
          <p:nvPr/>
        </p:nvGrpSpPr>
        <p:grpSpPr>
          <a:xfrm>
            <a:off x="6218237" y="3644900"/>
            <a:ext cx="1863726" cy="1120775"/>
            <a:chOff x="0" y="0"/>
            <a:chExt cx="1863725" cy="1120774"/>
          </a:xfrm>
        </p:grpSpPr>
        <p:sp>
          <p:nvSpPr>
            <p:cNvPr id="200" name="Shape 200"/>
            <p:cNvSpPr/>
            <p:nvPr/>
          </p:nvSpPr>
          <p:spPr>
            <a:xfrm>
              <a:off x="133350" y="144462"/>
              <a:ext cx="1730375" cy="976313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1" name="Shape 201"/>
            <p:cNvSpPr/>
            <p:nvPr/>
          </p:nvSpPr>
          <p:spPr>
            <a:xfrm>
              <a:off x="0" y="0"/>
              <a:ext cx="1676400" cy="855345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800"/>
                </a:spcBef>
              </a:pPr>
              <a:r>
                <a:rPr sz="1400" u="sng">
                  <a:latin typeface="Tahoma"/>
                  <a:ea typeface="Tahoma"/>
                  <a:cs typeface="Tahoma"/>
                  <a:sym typeface="Tahoma"/>
                </a:rPr>
                <a:t>SUB. IZQ.</a:t>
              </a:r>
              <a:endParaRPr sz="1400">
                <a:solidFill>
                  <a:srgbClr val="00285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lvl="0">
                <a:spcBef>
                  <a:spcPts val="800"/>
                </a:spcBef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Nivel = 1 + Max(0,</a:t>
              </a:r>
              <a:r>
                <a:rPr sz="1400" b="1">
                  <a:latin typeface="Tahoma"/>
                  <a:ea typeface="Tahoma"/>
                  <a:cs typeface="Tahoma"/>
                  <a:sym typeface="Tahoma"/>
                </a:rPr>
                <a:t>2</a:t>
              </a: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)</a:t>
              </a:r>
            </a:p>
          </p:txBody>
        </p:sp>
      </p:grpSp>
      <p:grpSp>
        <p:nvGrpSpPr>
          <p:cNvPr id="205" name="Group 205"/>
          <p:cNvGrpSpPr/>
          <p:nvPr/>
        </p:nvGrpSpPr>
        <p:grpSpPr>
          <a:xfrm>
            <a:off x="6156325" y="4868862"/>
            <a:ext cx="2667000" cy="381001"/>
            <a:chOff x="0" y="0"/>
            <a:chExt cx="2667000" cy="381000"/>
          </a:xfrm>
        </p:grpSpPr>
        <p:sp>
          <p:nvSpPr>
            <p:cNvPr id="203" name="Shape 203"/>
            <p:cNvSpPr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04" name="Shape 204"/>
            <p:cNvSpPr/>
            <p:nvPr/>
          </p:nvSpPr>
          <p:spPr>
            <a:xfrm>
              <a:off x="81391" y="55880"/>
              <a:ext cx="2504218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NIVEL : 1 + MAX(S.IZQ, S.DER)</a:t>
              </a:r>
            </a:p>
          </p:txBody>
        </p:sp>
      </p:grpSp>
      <p:grpSp>
        <p:nvGrpSpPr>
          <p:cNvPr id="208" name="Group 208"/>
          <p:cNvGrpSpPr/>
          <p:nvPr/>
        </p:nvGrpSpPr>
        <p:grpSpPr>
          <a:xfrm>
            <a:off x="6156325" y="4867275"/>
            <a:ext cx="2667000" cy="381000"/>
            <a:chOff x="0" y="0"/>
            <a:chExt cx="2667000" cy="381000"/>
          </a:xfrm>
        </p:grpSpPr>
        <p:sp>
          <p:nvSpPr>
            <p:cNvPr id="206" name="Shape 206"/>
            <p:cNvSpPr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07" name="Shape 207"/>
            <p:cNvSpPr/>
            <p:nvPr/>
          </p:nvSpPr>
          <p:spPr>
            <a:xfrm>
              <a:off x="431360" y="55880"/>
              <a:ext cx="1804280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NIVEL : 1 + MAX(3, 1)</a:t>
              </a:r>
            </a:p>
          </p:txBody>
        </p:sp>
      </p:grpSp>
      <p:grpSp>
        <p:nvGrpSpPr>
          <p:cNvPr id="211" name="Group 211"/>
          <p:cNvGrpSpPr/>
          <p:nvPr/>
        </p:nvGrpSpPr>
        <p:grpSpPr>
          <a:xfrm>
            <a:off x="6156325" y="4868862"/>
            <a:ext cx="2667000" cy="381001"/>
            <a:chOff x="0" y="0"/>
            <a:chExt cx="2667000" cy="381000"/>
          </a:xfrm>
        </p:grpSpPr>
        <p:sp>
          <p:nvSpPr>
            <p:cNvPr id="209" name="Shape 209"/>
            <p:cNvSpPr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solidFill>
              <a:srgbClr val="FFCC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923126" y="55880"/>
              <a:ext cx="820748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NIVEL : 4</a:t>
              </a:r>
            </a:p>
          </p:txBody>
        </p:sp>
      </p:grpSp>
      <p:grpSp>
        <p:nvGrpSpPr>
          <p:cNvPr id="214" name="Group 214"/>
          <p:cNvGrpSpPr/>
          <p:nvPr/>
        </p:nvGrpSpPr>
        <p:grpSpPr>
          <a:xfrm>
            <a:off x="6189662" y="3552646"/>
            <a:ext cx="1728788" cy="1017946"/>
            <a:chOff x="0" y="0"/>
            <a:chExt cx="1728787" cy="1017944"/>
          </a:xfrm>
        </p:grpSpPr>
        <p:sp>
          <p:nvSpPr>
            <p:cNvPr id="212" name="Shape 212"/>
            <p:cNvSpPr/>
            <p:nvPr/>
          </p:nvSpPr>
          <p:spPr>
            <a:xfrm>
              <a:off x="0" y="76378"/>
              <a:ext cx="1728788" cy="865189"/>
            </a:xfrm>
            <a:prstGeom prst="rect">
              <a:avLst/>
            </a:prstGeom>
            <a:solidFill>
              <a:srgbClr val="99CCFF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3" name="Shape 213"/>
            <p:cNvSpPr/>
            <p:nvPr/>
          </p:nvSpPr>
          <p:spPr>
            <a:xfrm>
              <a:off x="0" y="0"/>
              <a:ext cx="1612390" cy="1017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lvl="0"/>
              <a:r>
                <a:rPr sz="1400" u="sng">
                  <a:latin typeface="Arial"/>
                  <a:ea typeface="Arial"/>
                  <a:cs typeface="Arial"/>
                  <a:sym typeface="Arial"/>
                </a:rPr>
                <a:t>SUB. IZQ.</a:t>
              </a:r>
              <a:endParaRPr sz="1400">
                <a:solidFill>
                  <a:srgbClr val="00285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0"/>
              <a:r>
                <a:rPr sz="1400">
                  <a:latin typeface="Arial"/>
                  <a:ea typeface="Arial"/>
                  <a:cs typeface="Arial"/>
                  <a:sym typeface="Arial"/>
                </a:rPr>
                <a:t>Nivel = 3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endParaRPr sz="3200">
                <a:solidFill>
                  <a:srgbClr val="0028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9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 advAuto="0"/>
      <p:bldP spid="139" grpId="0" animBg="1" advAuto="0"/>
      <p:bldP spid="141" grpId="0" build="p" animBg="1" advAuto="0"/>
      <p:bldP spid="147" grpId="0" animBg="1" advAuto="0"/>
      <p:bldP spid="150" grpId="0" animBg="1" advAuto="0"/>
      <p:bldP spid="153" grpId="0" animBg="1" advAuto="0"/>
      <p:bldP spid="154" grpId="0" animBg="1" advAuto="0"/>
      <p:bldP spid="155" grpId="0" animBg="1" advAuto="0"/>
      <p:bldP spid="156" grpId="0" animBg="1" advAuto="0"/>
      <p:bldP spid="157" grpId="0" animBg="1" advAuto="0"/>
      <p:bldP spid="169" grpId="0" animBg="1" advAuto="0"/>
      <p:bldP spid="170" grpId="0" animBg="1" advAuto="0"/>
      <p:bldP spid="171" grpId="0" animBg="1" advAuto="0"/>
      <p:bldP spid="172" grpId="0" animBg="1" advAuto="0"/>
      <p:bldP spid="173" grpId="0" animBg="1" advAuto="0"/>
      <p:bldP spid="174" grpId="0" animBg="1" advAuto="0"/>
      <p:bldP spid="175" grpId="0" animBg="1" advAuto="0"/>
      <p:bldP spid="176" grpId="0" animBg="1" advAuto="0"/>
      <p:bldP spid="179" grpId="0" animBg="1" advAuto="0"/>
      <p:bldP spid="199" grpId="0" animBg="1" advAuto="0"/>
      <p:bldP spid="202" grpId="0" animBg="1" advAuto="0"/>
      <p:bldP spid="205" grpId="0" animBg="1" advAuto="0"/>
      <p:bldP spid="208" grpId="0" animBg="1" advAuto="0"/>
      <p:bldP spid="211" grpId="0" animBg="1" advAuto="0"/>
      <p:bldP spid="214" grpId="0" animBg="1" advAuto="0"/>
    </p:bld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FF"/>
      </a:accent1>
      <a:accent2>
        <a:srgbClr val="CCCCFF"/>
      </a:accent2>
      <a:accent3>
        <a:srgbClr val="8F8F8F"/>
      </a:accent3>
      <a:accent4>
        <a:srgbClr val="707070"/>
      </a:accent4>
      <a:accent5>
        <a:srgbClr val="C9E0FF"/>
      </a:accent5>
      <a:accent6>
        <a:srgbClr val="B9B9E7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99CCFF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99CCFF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FF"/>
      </a:accent1>
      <a:accent2>
        <a:srgbClr val="CCCCFF"/>
      </a:accent2>
      <a:accent3>
        <a:srgbClr val="8F8F8F"/>
      </a:accent3>
      <a:accent4>
        <a:srgbClr val="707070"/>
      </a:accent4>
      <a:accent5>
        <a:srgbClr val="C9E0FF"/>
      </a:accent5>
      <a:accent6>
        <a:srgbClr val="B9B9E7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99CCFF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99CCFF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790</Words>
  <Application>Microsoft Office PowerPoint</Application>
  <PresentationFormat>Presentación en pantalla (4:3)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Arial</vt:lpstr>
      <vt:lpstr>Arial Narrow</vt:lpstr>
      <vt:lpstr>Calibri</vt:lpstr>
      <vt:lpstr>Calibri Light</vt:lpstr>
      <vt:lpstr>Century Gothic</vt:lpstr>
      <vt:lpstr>Gill Sans MT</vt:lpstr>
      <vt:lpstr>Helvetica Neue</vt:lpstr>
      <vt:lpstr>Tahoma</vt:lpstr>
      <vt:lpstr>Wingdings</vt:lpstr>
      <vt:lpstr>Default</vt:lpstr>
      <vt:lpstr>Office Theme</vt:lpstr>
      <vt:lpstr>Presentación de PowerPoint</vt:lpstr>
      <vt:lpstr>INTRODUCCION</vt:lpstr>
      <vt:lpstr>CONCEPTO</vt:lpstr>
      <vt:lpstr>TERMINOLOGIA</vt:lpstr>
      <vt:lpstr>TDA ARBOL : DEFINICION INFORMAL</vt:lpstr>
      <vt:lpstr>Presentación de PowerPoint</vt:lpstr>
      <vt:lpstr>ARBOLES BINARIOS</vt:lpstr>
      <vt:lpstr>ARBOLES BINARIOS</vt:lpstr>
      <vt:lpstr>Presentación de PowerPoint</vt:lpstr>
      <vt:lpstr>DEFINICIONES RECURSIVAS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ARBOLES</dc:title>
  <cp:lastModifiedBy>Steven Isaac Santillan Padilla</cp:lastModifiedBy>
  <cp:revision>31</cp:revision>
  <dcterms:modified xsi:type="dcterms:W3CDTF">2024-12-10T14:27:53Z</dcterms:modified>
</cp:coreProperties>
</file>